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3" d="100"/>
          <a:sy n="63" d="100"/>
        </p:scale>
        <p:origin x="780" y="6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hyperlink" Target="https://www.mdpi.com/1424-8220/18/11/3845" TargetMode="External"/><Relationship Id="rId6" Type="http://schemas.openxmlformats.org/officeDocument/2006/relationships/hyperlink" Target="https://www.mdpi.com/1424-8220/20/19/5564" TargetMode="External"/><Relationship Id="rId7" Type="http://schemas.openxmlformats.org/officeDocument/2006/relationships/hyperlink" Target="https://www.mdpi.com/1424-8220/20/2/409" TargetMode="External"/><Relationship Id="rId8" Type="http://schemas.openxmlformats.org/officeDocument/2006/relationships/hyperlink" Target="https://arxiv.org/abs/2209.08538" TargetMode="External"/><Relationship Id="rId9" Type="http://schemas.openxmlformats.org/officeDocument/2006/relationships/hyperlink" Target="https://morth.nic.in/road-accident-in-india" TargetMode="External"/><Relationship Id="rId10" Type="http://schemas.openxmlformats.org/officeDocument/2006/relationships/hyperlink" Target="https://nhai.gov.in" TargetMode="External"/><Relationship Id="rId11" Type="http://schemas.openxmlformats.org/officeDocument/2006/relationships/hyperlink" Target="https://www.microsoft.com/en-us/research/publication/trafficsense-rich-monitoring-of-road-and-traffic-conditions-using-mobile-smartphones/" TargetMode="External"/><Relationship Id="rId12" Type="http://schemas.openxmlformats.org/officeDocument/2006/relationships/hyperlink" Target="https://frontiertech.niti.gov.in/story/ai-driven-road-management-enhancing-indias-infrastructure-with-roadmetrics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02920" y="1481328"/>
            <a:ext cx="5989320" cy="484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84048" indent="-384048">
              <a:lnSpc>
                <a:spcPct val="106000"/>
              </a:lnSpc>
              <a:spcAft>
                <a:spcPts val="1600"/>
              </a:spcAft>
            </a:pPr>
            <a:r>
              <a:rPr sz="2300" b="0" i="0" u="none">
                <a:solidFill>
                  <a:srgbClr val="0B1B33"/>
                </a:solidFill>
                <a:latin typeface="Calibri"/>
              </a:rPr>
              <a:t>•  Problem Statement ID- </a:t>
            </a:r>
            <a:r>
              <a:rPr sz="2300" b="1" i="0" u="none">
                <a:solidFill>
                  <a:srgbClr val="0B1B33"/>
                </a:solidFill>
                <a:latin typeface="Calibri"/>
              </a:rPr>
              <a:t>SIH 2026 (to be filled)</a:t>
            </a:r>
          </a:p>
          <a:p>
            <a:pPr marL="384048" indent="-384048">
              <a:lnSpc>
                <a:spcPct val="106000"/>
              </a:lnSpc>
              <a:spcAft>
                <a:spcPts val="1600"/>
              </a:spcAft>
            </a:pPr>
            <a:r>
              <a:rPr sz="2300" b="0" i="0" u="none">
                <a:solidFill>
                  <a:srgbClr val="0B1B33"/>
                </a:solidFill>
                <a:latin typeface="Calibri"/>
              </a:rPr>
              <a:t>•  Problem Statement Title- </a:t>
            </a:r>
            <a:r>
              <a:rPr sz="2300" b="1" i="0" u="none">
                <a:solidFill>
                  <a:srgbClr val="0B1B33"/>
                </a:solidFill>
                <a:latin typeface="Calibri"/>
              </a:rPr>
              <a:t>Crowdsourced Road Defect Intelligence for India</a:t>
            </a:r>
          </a:p>
          <a:p>
            <a:pPr marL="384048" indent="-384048">
              <a:lnSpc>
                <a:spcPct val="106000"/>
              </a:lnSpc>
              <a:spcAft>
                <a:spcPts val="1600"/>
              </a:spcAft>
            </a:pPr>
            <a:r>
              <a:rPr sz="2300" b="0" i="0" u="none">
                <a:solidFill>
                  <a:srgbClr val="0B1B33"/>
                </a:solidFill>
                <a:latin typeface="Calibri"/>
              </a:rPr>
              <a:t>•  Theme- </a:t>
            </a:r>
            <a:r>
              <a:rPr sz="2300" b="1" i="0" u="none">
                <a:solidFill>
                  <a:srgbClr val="0B1B33"/>
                </a:solidFill>
                <a:latin typeface="Calibri"/>
              </a:rPr>
              <a:t>Smart Automation</a:t>
            </a:r>
          </a:p>
          <a:p>
            <a:pPr marL="384048" indent="-384048">
              <a:lnSpc>
                <a:spcPct val="106000"/>
              </a:lnSpc>
              <a:spcAft>
                <a:spcPts val="1600"/>
              </a:spcAft>
            </a:pPr>
            <a:r>
              <a:rPr sz="2300" b="0" i="0" u="none">
                <a:solidFill>
                  <a:srgbClr val="0B1B33"/>
                </a:solidFill>
                <a:latin typeface="Calibri"/>
              </a:rPr>
              <a:t>•  PS Category- </a:t>
            </a:r>
            <a:r>
              <a:rPr sz="2300" b="1" i="0" u="none">
                <a:solidFill>
                  <a:srgbClr val="0B1B33"/>
                </a:solidFill>
                <a:latin typeface="Calibri"/>
              </a:rPr>
              <a:t>Software</a:t>
            </a:r>
          </a:p>
          <a:p>
            <a:pPr marL="384048" indent="-384048">
              <a:lnSpc>
                <a:spcPct val="106000"/>
              </a:lnSpc>
              <a:spcAft>
                <a:spcPts val="1600"/>
              </a:spcAft>
            </a:pPr>
            <a:r>
              <a:rPr sz="2300" b="0" i="0" u="none">
                <a:solidFill>
                  <a:srgbClr val="0B1B33"/>
                </a:solidFill>
                <a:latin typeface="Calibri"/>
              </a:rPr>
              <a:t>•  Team ID- </a:t>
            </a:r>
            <a:r>
              <a:rPr sz="2300" b="1" i="0" u="none">
                <a:solidFill>
                  <a:srgbClr val="0B1B33"/>
                </a:solidFill>
                <a:latin typeface="Calibri"/>
              </a:rPr>
              <a:t>To be filled</a:t>
            </a:r>
          </a:p>
          <a:p>
            <a:pPr marL="384048" indent="-384048">
              <a:lnSpc>
                <a:spcPct val="106000"/>
              </a:lnSpc>
              <a:spcAft>
                <a:spcPts val="1600"/>
              </a:spcAft>
            </a:pPr>
            <a:r>
              <a:rPr sz="2300" b="0" i="0" u="none">
                <a:solidFill>
                  <a:srgbClr val="0B1B33"/>
                </a:solidFill>
                <a:latin typeface="Calibri"/>
              </a:rPr>
              <a:t>•  Team Name- </a:t>
            </a:r>
            <a:r>
              <a:rPr sz="2300" b="1" i="0" u="none">
                <a:solidFill>
                  <a:srgbClr val="0B1B33"/>
                </a:solidFill>
                <a:latin typeface="Calibri"/>
              </a:rPr>
              <a:t>localhost</a:t>
            </a:r>
          </a:p>
        </p:txBody>
      </p:sp>
      <p:pic>
        <p:nvPicPr>
          <p:cNvPr id="38" name="Picture 37" descr="sih_logo_202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41366" y="6297"/>
            <a:ext cx="2209120" cy="112286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691640" y="45720"/>
            <a:ext cx="7955279" cy="960120"/>
          </a:xfrm>
        </p:spPr>
        <p:txBody>
          <a:bodyPr wrap="square" anchor="ctr"/>
          <a:lstStyle/>
          <a:p>
            <a:pPr eaLnBrk="1" hangingPunct="1" algn="ctr"/>
            <a:r>
              <a:rPr lang="en-US" sz="25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SETU - Sensor-Enabled Tracking of Urban-road-damage</a:t>
            </a:r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25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/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2026 Idea Submission - Team localhost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=""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none" lIns="0" rIns="0"/>
          <a:lstStyle/>
          <a:p>
            <a:pPr algn="ctr"/>
            <a:r>
              <a:rPr sz="1200" b="1" i="0" u="none">
                <a:solidFill>
                  <a:srgbClr val="12294B"/>
                </a:solidFill>
                <a:latin typeface="Consolas"/>
              </a:rPr>
              <a:t>localhost</a:t>
            </a:r>
            <a:r>
              <a:rPr sz="1200" b="1" i="0" u="none">
                <a:solidFill>
                  <a:srgbClr val="125EC4"/>
                </a:solidFill>
                <a:latin typeface="Consolas"/>
              </a:rPr>
              <a:t>_</a:t>
            </a:r>
          </a:p>
        </p:txBody>
      </p:sp>
      <p:sp>
        <p:nvSpPr>
          <p:cNvPr id="15362" name="Rectangle 15361"/>
          <p:cNvSpPr/>
          <p:nvPr/>
        </p:nvSpPr>
        <p:spPr>
          <a:xfrm>
            <a:off x="274320" y="1097280"/>
            <a:ext cx="11640312" cy="5138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63" name="Rounded Rectangle 15362"/>
          <p:cNvSpPr/>
          <p:nvPr/>
        </p:nvSpPr>
        <p:spPr>
          <a:xfrm>
            <a:off x="292608" y="2019401"/>
            <a:ext cx="11603736" cy="658368"/>
          </a:xfrm>
          <a:prstGeom prst="roundRect">
            <a:avLst>
              <a:gd name="adj" fmla="val 6944"/>
            </a:avLst>
          </a:prstGeom>
          <a:solidFill>
            <a:srgbClr val="FDECEA"/>
          </a:solidFill>
          <a:ln w="17780">
            <a:solidFill>
              <a:srgbClr val="D930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5364" name="Rounded Rectangle 15363"/>
          <p:cNvSpPr/>
          <p:nvPr/>
        </p:nvSpPr>
        <p:spPr>
          <a:xfrm>
            <a:off x="310896" y="3264001"/>
            <a:ext cx="3599688" cy="676656"/>
          </a:xfrm>
          <a:prstGeom prst="roundRect">
            <a:avLst>
              <a:gd name="adj" fmla="val 6756"/>
            </a:avLst>
          </a:prstGeom>
          <a:solidFill>
            <a:srgbClr val="FFFFFF"/>
          </a:solidFill>
          <a:ln w="13970">
            <a:solidFill>
              <a:srgbClr val="D4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5365" name="Rounded Rectangle 15364"/>
          <p:cNvSpPr/>
          <p:nvPr/>
        </p:nvSpPr>
        <p:spPr>
          <a:xfrm>
            <a:off x="4294632" y="3264001"/>
            <a:ext cx="3599688" cy="676656"/>
          </a:xfrm>
          <a:prstGeom prst="roundRect">
            <a:avLst>
              <a:gd name="adj" fmla="val 6756"/>
            </a:avLst>
          </a:prstGeom>
          <a:solidFill>
            <a:srgbClr val="FFFFFF"/>
          </a:solidFill>
          <a:ln w="13970">
            <a:solidFill>
              <a:srgbClr val="D4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5366" name="Rounded Rectangle 15365"/>
          <p:cNvSpPr/>
          <p:nvPr/>
        </p:nvSpPr>
        <p:spPr>
          <a:xfrm>
            <a:off x="8278368" y="3264001"/>
            <a:ext cx="3599688" cy="676656"/>
          </a:xfrm>
          <a:prstGeom prst="roundRect">
            <a:avLst>
              <a:gd name="adj" fmla="val 6756"/>
            </a:avLst>
          </a:prstGeom>
          <a:solidFill>
            <a:srgbClr val="FFFFFF"/>
          </a:solidFill>
          <a:ln w="13970">
            <a:solidFill>
              <a:srgbClr val="D4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5367" name="Rounded Rectangle 15366"/>
          <p:cNvSpPr/>
          <p:nvPr/>
        </p:nvSpPr>
        <p:spPr>
          <a:xfrm>
            <a:off x="310896" y="4526889"/>
            <a:ext cx="3758184" cy="744118"/>
          </a:xfrm>
          <a:prstGeom prst="roundRect">
            <a:avLst>
              <a:gd name="adj" fmla="val 6144"/>
            </a:avLst>
          </a:prstGeom>
          <a:solidFill>
            <a:srgbClr val="F5F8FC"/>
          </a:solidFill>
          <a:ln w="12700">
            <a:solidFill>
              <a:srgbClr val="D4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5368" name="Rounded Rectangle 15367"/>
          <p:cNvSpPr/>
          <p:nvPr/>
        </p:nvSpPr>
        <p:spPr>
          <a:xfrm>
            <a:off x="4215384" y="4526889"/>
            <a:ext cx="3758184" cy="744118"/>
          </a:xfrm>
          <a:prstGeom prst="roundRect">
            <a:avLst>
              <a:gd name="adj" fmla="val 6144"/>
            </a:avLst>
          </a:prstGeom>
          <a:solidFill>
            <a:srgbClr val="F5F8FC"/>
          </a:solidFill>
          <a:ln w="12700">
            <a:solidFill>
              <a:srgbClr val="D4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5369" name="Rounded Rectangle 15368"/>
          <p:cNvSpPr/>
          <p:nvPr/>
        </p:nvSpPr>
        <p:spPr>
          <a:xfrm>
            <a:off x="8119872" y="4526889"/>
            <a:ext cx="3758184" cy="744118"/>
          </a:xfrm>
          <a:prstGeom prst="roundRect">
            <a:avLst>
              <a:gd name="adj" fmla="val 6144"/>
            </a:avLst>
          </a:prstGeom>
          <a:solidFill>
            <a:srgbClr val="F5F8FC"/>
          </a:solidFill>
          <a:ln w="12700">
            <a:solidFill>
              <a:srgbClr val="D4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5370" name="Rounded Rectangle 15369"/>
          <p:cNvSpPr/>
          <p:nvPr/>
        </p:nvSpPr>
        <p:spPr>
          <a:xfrm>
            <a:off x="310896" y="5362448"/>
            <a:ext cx="3758184" cy="744118"/>
          </a:xfrm>
          <a:prstGeom prst="roundRect">
            <a:avLst>
              <a:gd name="adj" fmla="val 6144"/>
            </a:avLst>
          </a:prstGeom>
          <a:solidFill>
            <a:srgbClr val="F5F8FC"/>
          </a:solidFill>
          <a:ln w="12700">
            <a:solidFill>
              <a:srgbClr val="D4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5371" name="Rounded Rectangle 15370"/>
          <p:cNvSpPr/>
          <p:nvPr/>
        </p:nvSpPr>
        <p:spPr>
          <a:xfrm>
            <a:off x="4215384" y="5362448"/>
            <a:ext cx="3758184" cy="744118"/>
          </a:xfrm>
          <a:prstGeom prst="roundRect">
            <a:avLst>
              <a:gd name="adj" fmla="val 6144"/>
            </a:avLst>
          </a:prstGeom>
          <a:solidFill>
            <a:srgbClr val="F5F8FC"/>
          </a:solidFill>
          <a:ln w="12700">
            <a:solidFill>
              <a:srgbClr val="D4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5372" name="Rounded Rectangle 15371"/>
          <p:cNvSpPr/>
          <p:nvPr/>
        </p:nvSpPr>
        <p:spPr>
          <a:xfrm>
            <a:off x="8119872" y="5362448"/>
            <a:ext cx="3758184" cy="744118"/>
          </a:xfrm>
          <a:prstGeom prst="roundRect">
            <a:avLst>
              <a:gd name="adj" fmla="val 6144"/>
            </a:avLst>
          </a:prstGeom>
          <a:solidFill>
            <a:srgbClr val="F5F8FC"/>
          </a:solidFill>
          <a:ln w="12700">
            <a:solidFill>
              <a:srgbClr val="D4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5373" name="Rectangle 15372"/>
          <p:cNvSpPr/>
          <p:nvPr/>
        </p:nvSpPr>
        <p:spPr>
          <a:xfrm>
            <a:off x="310896" y="1462278"/>
            <a:ext cx="11451488" cy="16459"/>
          </a:xfrm>
          <a:prstGeom prst="rect">
            <a:avLst/>
          </a:prstGeom>
          <a:solidFill>
            <a:srgbClr val="D4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4" name="Rectangle 15373"/>
          <p:cNvSpPr/>
          <p:nvPr/>
        </p:nvSpPr>
        <p:spPr>
          <a:xfrm>
            <a:off x="3266694" y="2110841"/>
            <a:ext cx="10972" cy="475488"/>
          </a:xfrm>
          <a:prstGeom prst="rect">
            <a:avLst/>
          </a:prstGeom>
          <a:solidFill>
            <a:srgbClr val="D4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5" name="Rectangle 15374"/>
          <p:cNvSpPr/>
          <p:nvPr/>
        </p:nvSpPr>
        <p:spPr>
          <a:xfrm>
            <a:off x="6039612" y="2110841"/>
            <a:ext cx="10972" cy="475488"/>
          </a:xfrm>
          <a:prstGeom prst="rect">
            <a:avLst/>
          </a:prstGeom>
          <a:solidFill>
            <a:srgbClr val="D4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6" name="Rectangle 15375"/>
          <p:cNvSpPr/>
          <p:nvPr/>
        </p:nvSpPr>
        <p:spPr>
          <a:xfrm>
            <a:off x="8812530" y="2110841"/>
            <a:ext cx="10972" cy="475488"/>
          </a:xfrm>
          <a:prstGeom prst="rect">
            <a:avLst/>
          </a:prstGeom>
          <a:solidFill>
            <a:srgbClr val="D4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7" name="Rectangle 15376"/>
          <p:cNvSpPr/>
          <p:nvPr/>
        </p:nvSpPr>
        <p:spPr>
          <a:xfrm>
            <a:off x="310896" y="3154273"/>
            <a:ext cx="11451488" cy="16459"/>
          </a:xfrm>
          <a:prstGeom prst="rect">
            <a:avLst/>
          </a:prstGeom>
          <a:solidFill>
            <a:srgbClr val="D4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8" name="Rectangle 15377"/>
          <p:cNvSpPr/>
          <p:nvPr/>
        </p:nvSpPr>
        <p:spPr>
          <a:xfrm>
            <a:off x="310896" y="4417161"/>
            <a:ext cx="11451488" cy="16459"/>
          </a:xfrm>
          <a:prstGeom prst="rect">
            <a:avLst/>
          </a:prstGeom>
          <a:solidFill>
            <a:srgbClr val="D4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9" name="Rectangle 15378"/>
          <p:cNvSpPr/>
          <p:nvPr/>
        </p:nvSpPr>
        <p:spPr>
          <a:xfrm>
            <a:off x="310896" y="4526889"/>
            <a:ext cx="50292" cy="744118"/>
          </a:xfrm>
          <a:prstGeom prst="rect">
            <a:avLst/>
          </a:prstGeom>
          <a:solidFill>
            <a:srgbClr val="1565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80" name="Rectangle 15379"/>
          <p:cNvSpPr/>
          <p:nvPr/>
        </p:nvSpPr>
        <p:spPr>
          <a:xfrm>
            <a:off x="4215384" y="4526889"/>
            <a:ext cx="50292" cy="744118"/>
          </a:xfrm>
          <a:prstGeom prst="rect">
            <a:avLst/>
          </a:prstGeom>
          <a:solidFill>
            <a:srgbClr val="1565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81" name="Rectangle 15380"/>
          <p:cNvSpPr/>
          <p:nvPr/>
        </p:nvSpPr>
        <p:spPr>
          <a:xfrm>
            <a:off x="8119872" y="4526889"/>
            <a:ext cx="50292" cy="744118"/>
          </a:xfrm>
          <a:prstGeom prst="rect">
            <a:avLst/>
          </a:prstGeom>
          <a:solidFill>
            <a:srgbClr val="178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82" name="Rectangle 15381"/>
          <p:cNvSpPr/>
          <p:nvPr/>
        </p:nvSpPr>
        <p:spPr>
          <a:xfrm>
            <a:off x="310896" y="5362448"/>
            <a:ext cx="50292" cy="744118"/>
          </a:xfrm>
          <a:prstGeom prst="rect">
            <a:avLst/>
          </a:prstGeom>
          <a:solidFill>
            <a:srgbClr val="D930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83" name="Rectangle 15382"/>
          <p:cNvSpPr/>
          <p:nvPr/>
        </p:nvSpPr>
        <p:spPr>
          <a:xfrm>
            <a:off x="4215384" y="5362448"/>
            <a:ext cx="50292" cy="744118"/>
          </a:xfrm>
          <a:prstGeom prst="rect">
            <a:avLst/>
          </a:prstGeom>
          <a:solidFill>
            <a:srgbClr val="178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84" name="Rectangle 15383"/>
          <p:cNvSpPr/>
          <p:nvPr/>
        </p:nvSpPr>
        <p:spPr>
          <a:xfrm>
            <a:off x="8119872" y="5362448"/>
            <a:ext cx="50292" cy="744118"/>
          </a:xfrm>
          <a:prstGeom prst="rect">
            <a:avLst/>
          </a:prstGeom>
          <a:solidFill>
            <a:srgbClr val="D930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85" name="Oval 15384"/>
          <p:cNvSpPr/>
          <p:nvPr/>
        </p:nvSpPr>
        <p:spPr>
          <a:xfrm>
            <a:off x="461771" y="3424021"/>
            <a:ext cx="356616" cy="356616"/>
          </a:xfrm>
          <a:prstGeom prst="ellipse">
            <a:avLst/>
          </a:prstGeom>
          <a:solidFill>
            <a:srgbClr val="1565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Freeform 1"/>
          <p:cNvSpPr/>
          <p:nvPr/>
        </p:nvSpPr>
        <p:spPr>
          <a:xfrm>
            <a:off x="3992880" y="3520033"/>
            <a:ext cx="219456" cy="164592"/>
          </a:xfrm>
          <a:custGeom>
            <a:avLst/>
            <a:gdLst/>
            <a:ahLst/>
            <a:cxnLst/>
            <a:rect l="l" t="t" r="r" b="b"/>
            <a:pathLst>
              <a:path w="219456" h="164592">
                <a:moveTo>
                  <a:pt x="0" y="59436"/>
                </a:moveTo>
                <a:lnTo>
                  <a:pt x="118872" y="59436"/>
                </a:lnTo>
                <a:lnTo>
                  <a:pt x="118872" y="0"/>
                </a:lnTo>
                <a:lnTo>
                  <a:pt x="219456" y="82296"/>
                </a:lnTo>
                <a:lnTo>
                  <a:pt x="118872" y="164592"/>
                </a:lnTo>
                <a:lnTo>
                  <a:pt x="118872" y="105156"/>
                </a:lnTo>
                <a:lnTo>
                  <a:pt x="0" y="105156"/>
                </a:lnTo>
                <a:close/>
              </a:path>
            </a:pathLst>
          </a:custGeom>
          <a:solidFill>
            <a:srgbClr val="6B7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86" name="Oval 15385"/>
          <p:cNvSpPr/>
          <p:nvPr/>
        </p:nvSpPr>
        <p:spPr>
          <a:xfrm>
            <a:off x="4445508" y="3424021"/>
            <a:ext cx="356616" cy="356616"/>
          </a:xfrm>
          <a:prstGeom prst="ellipse">
            <a:avLst/>
          </a:prstGeom>
          <a:solidFill>
            <a:srgbClr val="1565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976616" y="3520033"/>
            <a:ext cx="219456" cy="164592"/>
          </a:xfrm>
          <a:custGeom>
            <a:avLst/>
            <a:gdLst/>
            <a:ahLst/>
            <a:cxnLst/>
            <a:rect l="l" t="t" r="r" b="b"/>
            <a:pathLst>
              <a:path w="219456" h="164592">
                <a:moveTo>
                  <a:pt x="0" y="59436"/>
                </a:moveTo>
                <a:lnTo>
                  <a:pt x="118872" y="59436"/>
                </a:lnTo>
                <a:lnTo>
                  <a:pt x="118872" y="0"/>
                </a:lnTo>
                <a:lnTo>
                  <a:pt x="219456" y="82296"/>
                </a:lnTo>
                <a:lnTo>
                  <a:pt x="118872" y="164592"/>
                </a:lnTo>
                <a:lnTo>
                  <a:pt x="118872" y="105156"/>
                </a:lnTo>
                <a:lnTo>
                  <a:pt x="0" y="105156"/>
                </a:lnTo>
                <a:close/>
              </a:path>
            </a:pathLst>
          </a:custGeom>
          <a:solidFill>
            <a:srgbClr val="6B7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87" name="Oval 15386"/>
          <p:cNvSpPr/>
          <p:nvPr/>
        </p:nvSpPr>
        <p:spPr>
          <a:xfrm>
            <a:off x="8429244" y="3424021"/>
            <a:ext cx="356616" cy="356616"/>
          </a:xfrm>
          <a:prstGeom prst="ellipse">
            <a:avLst/>
          </a:prstGeom>
          <a:solidFill>
            <a:srgbClr val="D930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88" name="TextBox 15387"/>
          <p:cNvSpPr txBox="1"/>
          <p:nvPr/>
        </p:nvSpPr>
        <p:spPr>
          <a:xfrm>
            <a:off x="260603" y="1003935"/>
            <a:ext cx="3581590" cy="50673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2100" b="1" i="0">
                <a:solidFill>
                  <a:srgbClr val="0B1B33"/>
                </a:solidFill>
                <a:latin typeface="Segoe UI"/>
              </a:rPr>
              <a:t>The problem we are solving</a:t>
            </a:r>
          </a:p>
        </p:txBody>
      </p:sp>
      <p:sp>
        <p:nvSpPr>
          <p:cNvPr id="15389" name="TextBox 15388"/>
          <p:cNvSpPr txBox="1"/>
          <p:nvPr/>
        </p:nvSpPr>
        <p:spPr>
          <a:xfrm>
            <a:off x="288036" y="1475740"/>
            <a:ext cx="11361991" cy="328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360" b="0" i="0">
                <a:solidFill>
                  <a:srgbClr val="0B1B33"/>
                </a:solidFill>
                <a:latin typeface="Segoe UI"/>
              </a:rPr>
              <a:t>Indian cities have no automated, real-time way to find and verify road defects. They rely on slow citizen complaints, unverified contractor repairs and</a:t>
            </a:r>
          </a:p>
        </p:txBody>
      </p:sp>
      <p:sp>
        <p:nvSpPr>
          <p:cNvPr id="15390" name="TextBox 15389"/>
          <p:cNvSpPr txBox="1"/>
          <p:nvPr/>
        </p:nvSpPr>
        <p:spPr>
          <a:xfrm>
            <a:off x="288036" y="1689912"/>
            <a:ext cx="4518279" cy="328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360" b="0" i="0">
                <a:solidFill>
                  <a:srgbClr val="0B1B33"/>
                </a:solidFill>
                <a:latin typeface="Segoe UI"/>
              </a:rPr>
              <a:t>costly survey vehicles that reach under 2% of the network.</a:t>
            </a:r>
          </a:p>
        </p:txBody>
      </p:sp>
      <p:sp>
        <p:nvSpPr>
          <p:cNvPr id="15391" name="TextBox 15390"/>
          <p:cNvSpPr txBox="1"/>
          <p:nvPr/>
        </p:nvSpPr>
        <p:spPr>
          <a:xfrm>
            <a:off x="1471041" y="1973808"/>
            <a:ext cx="928116" cy="6032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2500" b="1" i="0">
                <a:solidFill>
                  <a:srgbClr val="D93025"/>
                </a:solidFill>
                <a:latin typeface="Segoe UI"/>
              </a:rPr>
              <a:t>9,438</a:t>
            </a:r>
          </a:p>
        </p:txBody>
      </p:sp>
      <p:sp>
        <p:nvSpPr>
          <p:cNvPr id="15392" name="TextBox 15391"/>
          <p:cNvSpPr txBox="1"/>
          <p:nvPr/>
        </p:nvSpPr>
        <p:spPr>
          <a:xfrm>
            <a:off x="1051274" y="2352776"/>
            <a:ext cx="1767649" cy="27508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1140" b="1" i="0">
                <a:solidFill>
                  <a:srgbClr val="0B1B33"/>
                </a:solidFill>
                <a:latin typeface="Segoe UI"/>
              </a:rPr>
              <a:t>pothole deaths, 2020-24</a:t>
            </a:r>
          </a:p>
        </p:txBody>
      </p:sp>
      <p:sp>
        <p:nvSpPr>
          <p:cNvPr id="15393" name="TextBox 15392"/>
          <p:cNvSpPr txBox="1"/>
          <p:nvPr/>
        </p:nvSpPr>
        <p:spPr>
          <a:xfrm>
            <a:off x="4220527" y="1973808"/>
            <a:ext cx="974979" cy="6032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2500" b="1" i="0">
                <a:solidFill>
                  <a:srgbClr val="D93025"/>
                </a:solidFill>
                <a:latin typeface="Segoe UI"/>
              </a:rPr>
              <a:t>+53%</a:t>
            </a:r>
          </a:p>
        </p:txBody>
      </p:sp>
      <p:sp>
        <p:nvSpPr>
          <p:cNvPr id="15394" name="TextBox 15393"/>
          <p:cNvSpPr txBox="1"/>
          <p:nvPr/>
        </p:nvSpPr>
        <p:spPr>
          <a:xfrm>
            <a:off x="3810476" y="2352776"/>
            <a:ext cx="1795081" cy="27508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1140" b="1" i="0">
                <a:solidFill>
                  <a:srgbClr val="0B1B33"/>
                </a:solidFill>
                <a:latin typeface="Segoe UI"/>
              </a:rPr>
              <a:t>more than five years ago</a:t>
            </a:r>
          </a:p>
        </p:txBody>
      </p:sp>
      <p:sp>
        <p:nvSpPr>
          <p:cNvPr id="15395" name="TextBox 15394"/>
          <p:cNvSpPr txBox="1"/>
          <p:nvPr/>
        </p:nvSpPr>
        <p:spPr>
          <a:xfrm>
            <a:off x="6708267" y="1973808"/>
            <a:ext cx="1545336" cy="6032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2500" b="1" i="0">
                <a:solidFill>
                  <a:srgbClr val="D93025"/>
                </a:solidFill>
                <a:latin typeface="Segoe UI"/>
              </a:rPr>
              <a:t>Rs 17,693</a:t>
            </a:r>
          </a:p>
        </p:txBody>
      </p:sp>
      <p:sp>
        <p:nvSpPr>
          <p:cNvPr id="15396" name="TextBox 15395"/>
          <p:cNvSpPr txBox="1"/>
          <p:nvPr/>
        </p:nvSpPr>
        <p:spPr>
          <a:xfrm>
            <a:off x="6726555" y="2352776"/>
            <a:ext cx="1508760" cy="27508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1140" b="1" i="0">
                <a:solidFill>
                  <a:srgbClr val="0B1B33"/>
                </a:solidFill>
                <a:latin typeface="Segoe UI"/>
              </a:rPr>
              <a:t>to audit one pothole</a:t>
            </a:r>
          </a:p>
        </p:txBody>
      </p:sp>
      <p:sp>
        <p:nvSpPr>
          <p:cNvPr id="15397" name="TextBox 15396"/>
          <p:cNvSpPr txBox="1"/>
          <p:nvPr/>
        </p:nvSpPr>
        <p:spPr>
          <a:xfrm>
            <a:off x="9951529" y="1973808"/>
            <a:ext cx="604647" cy="6032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2500" b="1" i="0">
                <a:solidFill>
                  <a:srgbClr val="D93025"/>
                </a:solidFill>
                <a:latin typeface="Segoe UI"/>
              </a:rPr>
              <a:t>1-2</a:t>
            </a:r>
          </a:p>
        </p:txBody>
      </p:sp>
      <p:sp>
        <p:nvSpPr>
          <p:cNvPr id="15398" name="TextBox 15397"/>
          <p:cNvSpPr txBox="1"/>
          <p:nvPr/>
        </p:nvSpPr>
        <p:spPr>
          <a:xfrm>
            <a:off x="9352597" y="2352776"/>
            <a:ext cx="1802511" cy="27508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1140" b="1" i="0">
                <a:solidFill>
                  <a:srgbClr val="0B1B33"/>
                </a:solidFill>
                <a:latin typeface="Segoe UI"/>
              </a:rPr>
              <a:t>checks a road gets a year</a:t>
            </a:r>
          </a:p>
        </p:txBody>
      </p:sp>
      <p:sp>
        <p:nvSpPr>
          <p:cNvPr id="15399" name="TextBox 15398"/>
          <p:cNvSpPr txBox="1"/>
          <p:nvPr/>
        </p:nvSpPr>
        <p:spPr>
          <a:xfrm>
            <a:off x="260603" y="2716885"/>
            <a:ext cx="1599056" cy="482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2000" b="1" i="0">
                <a:solidFill>
                  <a:srgbClr val="0B1B33"/>
                </a:solidFill>
                <a:latin typeface="Segoe UI"/>
              </a:rPr>
              <a:t>Our solution</a:t>
            </a:r>
          </a:p>
        </p:txBody>
      </p:sp>
      <p:sp>
        <p:nvSpPr>
          <p:cNvPr id="15400" name="TextBox 15399"/>
          <p:cNvSpPr txBox="1"/>
          <p:nvPr/>
        </p:nvSpPr>
        <p:spPr>
          <a:xfrm>
            <a:off x="2060829" y="2804642"/>
            <a:ext cx="7371206" cy="30403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60" b="1" i="0">
                <a:solidFill>
                  <a:srgbClr val="3C4C63"/>
                </a:solidFill>
                <a:latin typeface="Segoe UI"/>
              </a:rPr>
              <a:t>gig-delivery phones (Zomato, Swiggy, Rapido) become a free, real-time road inspection network</a:t>
            </a:r>
          </a:p>
        </p:txBody>
      </p:sp>
      <p:sp>
        <p:nvSpPr>
          <p:cNvPr id="15401" name="TextBox 15400"/>
          <p:cNvSpPr txBox="1"/>
          <p:nvPr/>
        </p:nvSpPr>
        <p:spPr>
          <a:xfrm>
            <a:off x="535781" y="3444024"/>
            <a:ext cx="208597" cy="32575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135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5402" name="TextBox 15401"/>
          <p:cNvSpPr txBox="1"/>
          <p:nvPr/>
        </p:nvSpPr>
        <p:spPr>
          <a:xfrm>
            <a:off x="864108" y="3328009"/>
            <a:ext cx="1987677" cy="3474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440" b="1" i="0">
                <a:solidFill>
                  <a:srgbClr val="0B1B33"/>
                </a:solidFill>
                <a:latin typeface="Segoe UI"/>
              </a:rPr>
              <a:t>Phones feel the bump</a:t>
            </a:r>
          </a:p>
        </p:txBody>
      </p:sp>
      <p:sp>
        <p:nvSpPr>
          <p:cNvPr id="15403" name="TextBox 15402"/>
          <p:cNvSpPr txBox="1"/>
          <p:nvPr/>
        </p:nvSpPr>
        <p:spPr>
          <a:xfrm>
            <a:off x="864108" y="3581755"/>
            <a:ext cx="2678620" cy="26060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080" b="0" i="0">
                <a:solidFill>
                  <a:srgbClr val="6B7A90"/>
                </a:solidFill>
                <a:latin typeface="Segoe UI"/>
              </a:rPr>
              <a:t>100 Hz sensors, nothing for the rider to do</a:t>
            </a:r>
          </a:p>
        </p:txBody>
      </p:sp>
      <p:sp>
        <p:nvSpPr>
          <p:cNvPr id="15404" name="TextBox 15403"/>
          <p:cNvSpPr txBox="1"/>
          <p:nvPr/>
        </p:nvSpPr>
        <p:spPr>
          <a:xfrm>
            <a:off x="4519803" y="3444024"/>
            <a:ext cx="208025" cy="32575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135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5405" name="TextBox 15404"/>
          <p:cNvSpPr txBox="1"/>
          <p:nvPr/>
        </p:nvSpPr>
        <p:spPr>
          <a:xfrm>
            <a:off x="4847844" y="3328009"/>
            <a:ext cx="2185987" cy="3474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440" b="1" i="0">
                <a:solidFill>
                  <a:srgbClr val="0B1B33"/>
                </a:solidFill>
                <a:latin typeface="Segoe UI"/>
              </a:rPr>
              <a:t>Four phones must agree</a:t>
            </a:r>
          </a:p>
        </p:txBody>
      </p:sp>
      <p:sp>
        <p:nvSpPr>
          <p:cNvPr id="15406" name="TextBox 15405"/>
          <p:cNvSpPr txBox="1"/>
          <p:nvPr/>
        </p:nvSpPr>
        <p:spPr>
          <a:xfrm>
            <a:off x="4847844" y="3581755"/>
            <a:ext cx="2558034" cy="26060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080" b="0" i="0">
                <a:solidFill>
                  <a:srgbClr val="6B7A90"/>
                </a:solidFill>
                <a:latin typeface="Segoe UI"/>
              </a:rPr>
              <a:t>same 20 m stretch, four different devices</a:t>
            </a:r>
          </a:p>
        </p:txBody>
      </p:sp>
      <p:sp>
        <p:nvSpPr>
          <p:cNvPr id="15407" name="TextBox 15406"/>
          <p:cNvSpPr txBox="1"/>
          <p:nvPr/>
        </p:nvSpPr>
        <p:spPr>
          <a:xfrm>
            <a:off x="8503253" y="3444024"/>
            <a:ext cx="208597" cy="32575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135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5408" name="TextBox 15407"/>
          <p:cNvSpPr txBox="1"/>
          <p:nvPr/>
        </p:nvSpPr>
        <p:spPr>
          <a:xfrm>
            <a:off x="8831580" y="3328009"/>
            <a:ext cx="2330577" cy="3474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440" b="1" i="0">
                <a:solidFill>
                  <a:srgbClr val="0B1B33"/>
                </a:solidFill>
                <a:latin typeface="Segoe UI"/>
              </a:rPr>
              <a:t>Camera only when unsure</a:t>
            </a:r>
          </a:p>
        </p:txBody>
      </p:sp>
      <p:sp>
        <p:nvSpPr>
          <p:cNvPr id="15409" name="TextBox 15408"/>
          <p:cNvSpPr txBox="1"/>
          <p:nvPr/>
        </p:nvSpPr>
        <p:spPr>
          <a:xfrm>
            <a:off x="8831580" y="3581755"/>
            <a:ext cx="2469451" cy="26060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080" b="0" i="0">
                <a:solidFill>
                  <a:srgbClr val="6B7A90"/>
                </a:solidFill>
                <a:latin typeface="Segoe UI"/>
              </a:rPr>
              <a:t>one short blurred clip settles the doubt</a:t>
            </a:r>
          </a:p>
        </p:txBody>
      </p:sp>
      <p:sp>
        <p:nvSpPr>
          <p:cNvPr id="15410" name="TextBox 15409"/>
          <p:cNvSpPr txBox="1"/>
          <p:nvPr/>
        </p:nvSpPr>
        <p:spPr>
          <a:xfrm>
            <a:off x="260603" y="3979773"/>
            <a:ext cx="6436233" cy="482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2000" b="1" i="0">
                <a:solidFill>
                  <a:srgbClr val="0B1B33"/>
                </a:solidFill>
                <a:latin typeface="Segoe UI"/>
              </a:rPr>
              <a:t>What makes it different - and what nobody else does</a:t>
            </a:r>
          </a:p>
        </p:txBody>
      </p:sp>
      <p:sp>
        <p:nvSpPr>
          <p:cNvPr id="15411" name="TextBox 15410"/>
          <p:cNvSpPr txBox="1"/>
          <p:nvPr/>
        </p:nvSpPr>
        <p:spPr>
          <a:xfrm>
            <a:off x="470916" y="4537684"/>
            <a:ext cx="3166681" cy="31369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300" b="1" i="0">
                <a:solidFill>
                  <a:srgbClr val="0B1B33"/>
                </a:solidFill>
                <a:latin typeface="Segoe UI"/>
              </a:rPr>
              <a:t>Zero new hardware: Rs 3, not Rs 17,693</a:t>
            </a:r>
          </a:p>
        </p:txBody>
      </p:sp>
      <p:sp>
        <p:nvSpPr>
          <p:cNvPr id="15412" name="TextBox 15411"/>
          <p:cNvSpPr txBox="1"/>
          <p:nvPr/>
        </p:nvSpPr>
        <p:spPr>
          <a:xfrm>
            <a:off x="470916" y="4783556"/>
            <a:ext cx="3258121" cy="27508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140" b="0" i="0">
                <a:solidFill>
                  <a:srgbClr val="3C4C63"/>
                </a:solidFill>
                <a:latin typeface="Segoe UI"/>
              </a:rPr>
              <a:t>Rivals buy survey vans or bolt-on IoT kits. We ride</a:t>
            </a:r>
          </a:p>
        </p:txBody>
      </p:sp>
      <p:sp>
        <p:nvSpPr>
          <p:cNvPr id="15413" name="TextBox 15412"/>
          <p:cNvSpPr txBox="1"/>
          <p:nvPr/>
        </p:nvSpPr>
        <p:spPr>
          <a:xfrm>
            <a:off x="470916" y="4963083"/>
            <a:ext cx="1892807" cy="27508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140" b="0" i="0">
                <a:solidFill>
                  <a:srgbClr val="3C4C63"/>
                </a:solidFill>
                <a:latin typeface="Segoe UI"/>
              </a:rPr>
              <a:t>phones already on the road.</a:t>
            </a:r>
          </a:p>
        </p:txBody>
      </p:sp>
      <p:sp>
        <p:nvSpPr>
          <p:cNvPr id="15414" name="TextBox 15413"/>
          <p:cNvSpPr txBox="1"/>
          <p:nvPr/>
        </p:nvSpPr>
        <p:spPr>
          <a:xfrm>
            <a:off x="4375404" y="4537684"/>
            <a:ext cx="2847784" cy="31369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300" b="1" i="0">
                <a:solidFill>
                  <a:srgbClr val="0B1B33"/>
                </a:solidFill>
                <a:latin typeface="Segoe UI"/>
              </a:rPr>
              <a:t>A cost-gated ladder, not one model</a:t>
            </a:r>
          </a:p>
        </p:txBody>
      </p:sp>
      <p:sp>
        <p:nvSpPr>
          <p:cNvPr id="15415" name="TextBox 15414"/>
          <p:cNvSpPr txBox="1"/>
          <p:nvPr/>
        </p:nvSpPr>
        <p:spPr>
          <a:xfrm>
            <a:off x="4375404" y="4783556"/>
            <a:ext cx="3174682" cy="27508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140" b="0" i="0">
                <a:solidFill>
                  <a:srgbClr val="3C4C63"/>
                </a:solidFill>
                <a:latin typeface="Segoe UI"/>
              </a:rPr>
              <a:t>Free sensors screen every metre, agreement kills</a:t>
            </a:r>
          </a:p>
        </p:txBody>
      </p:sp>
      <p:sp>
        <p:nvSpPr>
          <p:cNvPr id="15416" name="TextBox 15415"/>
          <p:cNvSpPr txBox="1"/>
          <p:nvPr/>
        </p:nvSpPr>
        <p:spPr>
          <a:xfrm>
            <a:off x="4375404" y="4963083"/>
            <a:ext cx="2638044" cy="27508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140" b="0" i="0">
                <a:solidFill>
                  <a:srgbClr val="3C4C63"/>
                </a:solidFill>
                <a:latin typeface="Segoe UI"/>
              </a:rPr>
              <a:t>false alarms, video confirms the last 5%.</a:t>
            </a:r>
          </a:p>
        </p:txBody>
      </p:sp>
      <p:sp>
        <p:nvSpPr>
          <p:cNvPr id="15417" name="TextBox 15416"/>
          <p:cNvSpPr txBox="1"/>
          <p:nvPr/>
        </p:nvSpPr>
        <p:spPr>
          <a:xfrm>
            <a:off x="8279892" y="4537684"/>
            <a:ext cx="2824353" cy="31369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300" b="1" i="0">
                <a:solidFill>
                  <a:srgbClr val="0B1B33"/>
                </a:solidFill>
                <a:latin typeface="Segoe UI"/>
              </a:rPr>
              <a:t>1 wrong flag in 9 becomes 1 in 250</a:t>
            </a:r>
          </a:p>
        </p:txBody>
      </p:sp>
      <p:sp>
        <p:nvSpPr>
          <p:cNvPr id="15418" name="TextBox 15417"/>
          <p:cNvSpPr txBox="1"/>
          <p:nvPr/>
        </p:nvSpPr>
        <p:spPr>
          <a:xfrm>
            <a:off x="8279892" y="4783556"/>
            <a:ext cx="3039808" cy="27508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140" b="0" i="0">
                <a:solidFill>
                  <a:srgbClr val="3C4C63"/>
                </a:solidFill>
                <a:latin typeface="Segoe UI"/>
              </a:rPr>
              <a:t>Four phones agreeing on one 20 m segment -</a:t>
            </a:r>
          </a:p>
        </p:txBody>
      </p:sp>
      <p:sp>
        <p:nvSpPr>
          <p:cNvPr id="15419" name="TextBox 15418"/>
          <p:cNvSpPr txBox="1"/>
          <p:nvPr/>
        </p:nvSpPr>
        <p:spPr>
          <a:xfrm>
            <a:off x="8279892" y="4963083"/>
            <a:ext cx="3137535" cy="27508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140" b="0" i="0">
                <a:solidFill>
                  <a:srgbClr val="3C4C63"/>
                </a:solidFill>
                <a:latin typeface="Segoe UI"/>
              </a:rPr>
              <a:t>maths, not costlier hardware, buys the accuracy.</a:t>
            </a:r>
          </a:p>
        </p:txBody>
      </p:sp>
      <p:sp>
        <p:nvSpPr>
          <p:cNvPr id="15420" name="TextBox 15419"/>
          <p:cNvSpPr txBox="1"/>
          <p:nvPr/>
        </p:nvSpPr>
        <p:spPr>
          <a:xfrm>
            <a:off x="470916" y="5373243"/>
            <a:ext cx="2195703" cy="31369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300" b="1" i="0">
                <a:solidFill>
                  <a:srgbClr val="0B1B33"/>
                </a:solidFill>
                <a:latin typeface="Segoe UI"/>
              </a:rPr>
              <a:t>We train on the look-alikes</a:t>
            </a:r>
          </a:p>
        </p:txBody>
      </p:sp>
      <p:sp>
        <p:nvSpPr>
          <p:cNvPr id="15421" name="TextBox 15420"/>
          <p:cNvSpPr txBox="1"/>
          <p:nvPr/>
        </p:nvSpPr>
        <p:spPr>
          <a:xfrm>
            <a:off x="470916" y="5619115"/>
            <a:ext cx="2806065" cy="27508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140" b="0" i="0">
                <a:solidFill>
                  <a:srgbClr val="3C4C63"/>
                </a:solidFill>
                <a:latin typeface="Segoe UI"/>
              </a:rPr>
              <a:t>A quarter of our dataset is speed breakers,</a:t>
            </a:r>
          </a:p>
        </p:txBody>
      </p:sp>
      <p:sp>
        <p:nvSpPr>
          <p:cNvPr id="15422" name="TextBox 15421"/>
          <p:cNvSpPr txBox="1"/>
          <p:nvPr/>
        </p:nvSpPr>
        <p:spPr>
          <a:xfrm>
            <a:off x="470916" y="5798642"/>
            <a:ext cx="3035236" cy="27508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140" b="0" i="0">
                <a:solidFill>
                  <a:srgbClr val="3C4C63"/>
                </a:solidFill>
                <a:latin typeface="Segoe UI"/>
              </a:rPr>
              <a:t>manholes and tar patches - where models fail.</a:t>
            </a:r>
          </a:p>
        </p:txBody>
      </p:sp>
      <p:sp>
        <p:nvSpPr>
          <p:cNvPr id="15423" name="TextBox 15422"/>
          <p:cNvSpPr txBox="1"/>
          <p:nvPr/>
        </p:nvSpPr>
        <p:spPr>
          <a:xfrm>
            <a:off x="4375404" y="5373243"/>
            <a:ext cx="1720215" cy="31369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300" b="1" i="0">
                <a:solidFill>
                  <a:srgbClr val="0B1B33"/>
                </a:solidFill>
                <a:latin typeface="Segoe UI"/>
              </a:rPr>
              <a:t>A repair proves itself</a:t>
            </a:r>
          </a:p>
        </p:txBody>
      </p:sp>
      <p:sp>
        <p:nvSpPr>
          <p:cNvPr id="15424" name="TextBox 15423"/>
          <p:cNvSpPr txBox="1"/>
          <p:nvPr/>
        </p:nvSpPr>
        <p:spPr>
          <a:xfrm>
            <a:off x="4375404" y="5619115"/>
            <a:ext cx="3127819" cy="27508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140" b="0" i="0">
                <a:solidFill>
                  <a:srgbClr val="3C4C63"/>
                </a:solidFill>
                <a:latin typeface="Segoe UI"/>
              </a:rPr>
              <a:t>Fixed roads go quiet, and before/after evidence</a:t>
            </a:r>
          </a:p>
        </p:txBody>
      </p:sp>
      <p:sp>
        <p:nvSpPr>
          <p:cNvPr id="15425" name="TextBox 15424"/>
          <p:cNvSpPr txBox="1"/>
          <p:nvPr/>
        </p:nvSpPr>
        <p:spPr>
          <a:xfrm>
            <a:off x="4375404" y="5798642"/>
            <a:ext cx="2468880" cy="27508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140" b="0" i="0">
                <a:solidFill>
                  <a:srgbClr val="3C4C63"/>
                </a:solidFill>
                <a:latin typeface="Segoe UI"/>
              </a:rPr>
              <a:t>makes contractor payment auditable.</a:t>
            </a:r>
          </a:p>
        </p:txBody>
      </p:sp>
      <p:sp>
        <p:nvSpPr>
          <p:cNvPr id="15426" name="TextBox 15425"/>
          <p:cNvSpPr txBox="1"/>
          <p:nvPr/>
        </p:nvSpPr>
        <p:spPr>
          <a:xfrm>
            <a:off x="8279892" y="5373243"/>
            <a:ext cx="2490025" cy="31369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300" b="1" i="0">
                <a:solidFill>
                  <a:srgbClr val="0B1B33"/>
                </a:solidFill>
                <a:latin typeface="Segoe UI"/>
              </a:rPr>
              <a:t>Tuned for Indian two-wheelers</a:t>
            </a:r>
          </a:p>
        </p:txBody>
      </p:sp>
      <p:sp>
        <p:nvSpPr>
          <p:cNvPr id="15427" name="TextBox 15426"/>
          <p:cNvSpPr txBox="1"/>
          <p:nvPr/>
        </p:nvSpPr>
        <p:spPr>
          <a:xfrm>
            <a:off x="8279892" y="5619115"/>
            <a:ext cx="3046666" cy="27508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140" b="0" i="0">
                <a:solidFill>
                  <a:srgbClr val="3C4C63"/>
                </a:solidFill>
                <a:latin typeface="Segoe UI"/>
              </a:rPr>
              <a:t>Per-phone and per-vehicle calibration; severity</a:t>
            </a:r>
          </a:p>
        </p:txBody>
      </p:sp>
      <p:sp>
        <p:nvSpPr>
          <p:cNvPr id="15428" name="TextBox 15427"/>
          <p:cNvSpPr txBox="1"/>
          <p:nvPr/>
        </p:nvSpPr>
        <p:spPr>
          <a:xfrm>
            <a:off x="8279892" y="5798642"/>
            <a:ext cx="2055685" cy="27508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140" b="0" i="0">
                <a:solidFill>
                  <a:srgbClr val="3C4C63"/>
                </a:solidFill>
                <a:latin typeface="Segoe UI"/>
              </a:rPr>
              <a:t>weighted by who actually dies.</a:t>
            </a:r>
          </a:p>
        </p:txBody>
      </p:sp>
      <p:pic>
        <p:nvPicPr>
          <p:cNvPr id="15429" name="Picture 15428" descr="sih_logo_202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41366" y="57097"/>
            <a:ext cx="2209120" cy="112286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691640" y="45720"/>
            <a:ext cx="7955279" cy="960120"/>
          </a:xfrm>
        </p:spPr>
        <p:txBody>
          <a:bodyPr wrap="square" anchor="ctr"/>
          <a:lstStyle/>
          <a:p>
            <a:pPr eaLnBrk="1" hangingPunct="1" algn="ctr"/>
            <a:r>
              <a:rPr lang="en-US" sz="34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2026 Idea Submission - Team localhost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=""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none" lIns="0" rIns="0"/>
          <a:lstStyle/>
          <a:p>
            <a:pPr algn="ctr"/>
            <a:r>
              <a:rPr sz="1200" b="1" i="0" u="none">
                <a:solidFill>
                  <a:srgbClr val="12294B"/>
                </a:solidFill>
                <a:latin typeface="Consolas"/>
              </a:rPr>
              <a:t>localhost</a:t>
            </a:r>
            <a:r>
              <a:rPr sz="1200" b="1" i="0" u="none">
                <a:solidFill>
                  <a:srgbClr val="125EC4"/>
                </a:solidFill>
                <a:latin typeface="Consolas"/>
              </a:rPr>
              <a:t>_</a:t>
            </a:r>
          </a:p>
        </p:txBody>
      </p:sp>
      <p:sp>
        <p:nvSpPr>
          <p:cNvPr id="17410" name="Rectangle 17409"/>
          <p:cNvSpPr/>
          <p:nvPr/>
        </p:nvSpPr>
        <p:spPr>
          <a:xfrm>
            <a:off x="274320" y="1097280"/>
            <a:ext cx="11640312" cy="5138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1" name="Rounded Rectangle 17410"/>
          <p:cNvSpPr/>
          <p:nvPr/>
        </p:nvSpPr>
        <p:spPr>
          <a:xfrm>
            <a:off x="292608" y="1572768"/>
            <a:ext cx="3310128" cy="512064"/>
          </a:xfrm>
          <a:prstGeom prst="roundRect">
            <a:avLst>
              <a:gd name="adj" fmla="val 8928"/>
            </a:avLst>
          </a:prstGeom>
          <a:solidFill>
            <a:srgbClr val="FFFFFF"/>
          </a:solidFill>
          <a:ln w="19050">
            <a:solidFill>
              <a:srgbClr val="1565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412" name="Rounded Rectangle 17411"/>
          <p:cNvSpPr/>
          <p:nvPr/>
        </p:nvSpPr>
        <p:spPr>
          <a:xfrm>
            <a:off x="292608" y="2231136"/>
            <a:ext cx="3310128" cy="512064"/>
          </a:xfrm>
          <a:prstGeom prst="roundRect">
            <a:avLst>
              <a:gd name="adj" fmla="val 8928"/>
            </a:avLst>
          </a:prstGeom>
          <a:solidFill>
            <a:srgbClr val="FFFFFF"/>
          </a:solidFill>
          <a:ln w="19050">
            <a:solidFill>
              <a:srgbClr val="1565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413" name="Rounded Rectangle 17412"/>
          <p:cNvSpPr/>
          <p:nvPr/>
        </p:nvSpPr>
        <p:spPr>
          <a:xfrm>
            <a:off x="292608" y="2889504"/>
            <a:ext cx="3310128" cy="512064"/>
          </a:xfrm>
          <a:prstGeom prst="roundRect">
            <a:avLst>
              <a:gd name="adj" fmla="val 8928"/>
            </a:avLst>
          </a:prstGeom>
          <a:solidFill>
            <a:srgbClr val="FFFFFF"/>
          </a:solidFill>
          <a:ln w="19050">
            <a:solidFill>
              <a:srgbClr val="1565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414" name="Rounded Rectangle 17413"/>
          <p:cNvSpPr/>
          <p:nvPr/>
        </p:nvSpPr>
        <p:spPr>
          <a:xfrm>
            <a:off x="292608" y="3547872"/>
            <a:ext cx="3310128" cy="512064"/>
          </a:xfrm>
          <a:prstGeom prst="roundRect">
            <a:avLst>
              <a:gd name="adj" fmla="val 8928"/>
            </a:avLst>
          </a:prstGeom>
          <a:solidFill>
            <a:srgbClr val="FFFFFF"/>
          </a:solidFill>
          <a:ln w="19050">
            <a:solidFill>
              <a:srgbClr val="D930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415" name="Rounded Rectangle 17414"/>
          <p:cNvSpPr/>
          <p:nvPr/>
        </p:nvSpPr>
        <p:spPr>
          <a:xfrm>
            <a:off x="292608" y="4206240"/>
            <a:ext cx="3310128" cy="512064"/>
          </a:xfrm>
          <a:prstGeom prst="roundRect">
            <a:avLst>
              <a:gd name="adj" fmla="val 8928"/>
            </a:avLst>
          </a:prstGeom>
          <a:solidFill>
            <a:srgbClr val="FFFFFF"/>
          </a:solidFill>
          <a:ln w="19050">
            <a:solidFill>
              <a:srgbClr val="D930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416" name="Rounded Rectangle 17415"/>
          <p:cNvSpPr/>
          <p:nvPr/>
        </p:nvSpPr>
        <p:spPr>
          <a:xfrm>
            <a:off x="292608" y="4864608"/>
            <a:ext cx="3310128" cy="512064"/>
          </a:xfrm>
          <a:prstGeom prst="roundRect">
            <a:avLst>
              <a:gd name="adj" fmla="val 8928"/>
            </a:avLst>
          </a:prstGeom>
          <a:solidFill>
            <a:srgbClr val="FFFFFF"/>
          </a:solidFill>
          <a:ln w="19050">
            <a:solidFill>
              <a:srgbClr val="178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417" name="Rounded Rectangle 17416"/>
          <p:cNvSpPr/>
          <p:nvPr/>
        </p:nvSpPr>
        <p:spPr>
          <a:xfrm>
            <a:off x="292608" y="5522976"/>
            <a:ext cx="3310128" cy="512064"/>
          </a:xfrm>
          <a:prstGeom prst="roundRect">
            <a:avLst>
              <a:gd name="adj" fmla="val 8928"/>
            </a:avLst>
          </a:prstGeom>
          <a:solidFill>
            <a:srgbClr val="FFFFFF"/>
          </a:solidFill>
          <a:ln w="19050">
            <a:solidFill>
              <a:srgbClr val="178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418" name="Rectangle 17417"/>
          <p:cNvSpPr/>
          <p:nvPr/>
        </p:nvSpPr>
        <p:spPr>
          <a:xfrm>
            <a:off x="310896" y="1445768"/>
            <a:ext cx="3111520" cy="16459"/>
          </a:xfrm>
          <a:prstGeom prst="rect">
            <a:avLst/>
          </a:prstGeom>
          <a:solidFill>
            <a:srgbClr val="D4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9" name="Rectangle 17418"/>
          <p:cNvSpPr/>
          <p:nvPr/>
        </p:nvSpPr>
        <p:spPr>
          <a:xfrm>
            <a:off x="3858768" y="1445768"/>
            <a:ext cx="7796448" cy="16459"/>
          </a:xfrm>
          <a:prstGeom prst="rect">
            <a:avLst/>
          </a:prstGeom>
          <a:solidFill>
            <a:srgbClr val="D4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0" name="Rectangle 17419"/>
          <p:cNvSpPr/>
          <p:nvPr/>
        </p:nvSpPr>
        <p:spPr>
          <a:xfrm>
            <a:off x="3858768" y="1581912"/>
            <a:ext cx="45720" cy="640994"/>
          </a:xfrm>
          <a:prstGeom prst="rect">
            <a:avLst/>
          </a:prstGeom>
          <a:solidFill>
            <a:srgbClr val="1565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1" name="Rectangle 17420"/>
          <p:cNvSpPr/>
          <p:nvPr/>
        </p:nvSpPr>
        <p:spPr>
          <a:xfrm>
            <a:off x="3858768" y="2360066"/>
            <a:ext cx="45720" cy="439369"/>
          </a:xfrm>
          <a:prstGeom prst="rect">
            <a:avLst/>
          </a:prstGeom>
          <a:solidFill>
            <a:srgbClr val="1565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2" name="Rectangle 17421"/>
          <p:cNvSpPr/>
          <p:nvPr/>
        </p:nvSpPr>
        <p:spPr>
          <a:xfrm>
            <a:off x="3858768" y="2936595"/>
            <a:ext cx="45720" cy="640994"/>
          </a:xfrm>
          <a:prstGeom prst="rect">
            <a:avLst/>
          </a:prstGeom>
          <a:solidFill>
            <a:srgbClr val="1565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3" name="Rectangle 17422"/>
          <p:cNvSpPr/>
          <p:nvPr/>
        </p:nvSpPr>
        <p:spPr>
          <a:xfrm>
            <a:off x="3858768" y="3714750"/>
            <a:ext cx="45720" cy="439369"/>
          </a:xfrm>
          <a:prstGeom prst="rect">
            <a:avLst/>
          </a:prstGeom>
          <a:solidFill>
            <a:srgbClr val="D930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4" name="Rectangle 17423"/>
          <p:cNvSpPr/>
          <p:nvPr/>
        </p:nvSpPr>
        <p:spPr>
          <a:xfrm>
            <a:off x="3858768" y="4291279"/>
            <a:ext cx="45720" cy="439369"/>
          </a:xfrm>
          <a:prstGeom prst="rect">
            <a:avLst/>
          </a:prstGeom>
          <a:solidFill>
            <a:srgbClr val="178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5" name="Rectangle 17424"/>
          <p:cNvSpPr/>
          <p:nvPr/>
        </p:nvSpPr>
        <p:spPr>
          <a:xfrm>
            <a:off x="3858768" y="4867808"/>
            <a:ext cx="45720" cy="439369"/>
          </a:xfrm>
          <a:prstGeom prst="rect">
            <a:avLst/>
          </a:prstGeom>
          <a:solidFill>
            <a:srgbClr val="6B7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6" name="Oval 17425"/>
          <p:cNvSpPr/>
          <p:nvPr/>
        </p:nvSpPr>
        <p:spPr>
          <a:xfrm>
            <a:off x="416052" y="1659636"/>
            <a:ext cx="338328" cy="338328"/>
          </a:xfrm>
          <a:prstGeom prst="ellipse">
            <a:avLst/>
          </a:prstGeom>
          <a:solidFill>
            <a:srgbClr val="1565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Freeform 1"/>
          <p:cNvSpPr/>
          <p:nvPr/>
        </p:nvSpPr>
        <p:spPr>
          <a:xfrm>
            <a:off x="1865376" y="2098548"/>
            <a:ext cx="164592" cy="123443"/>
          </a:xfrm>
          <a:custGeom>
            <a:avLst/>
            <a:gdLst/>
            <a:ahLst/>
            <a:cxnLst/>
            <a:rect l="l" t="t" r="r" b="b"/>
            <a:pathLst>
              <a:path w="164592" h="123443">
                <a:moveTo>
                  <a:pt x="59436" y="0"/>
                </a:moveTo>
                <a:lnTo>
                  <a:pt x="105155" y="0"/>
                </a:lnTo>
                <a:lnTo>
                  <a:pt x="105155" y="41148"/>
                </a:lnTo>
                <a:lnTo>
                  <a:pt x="164592" y="41148"/>
                </a:lnTo>
                <a:lnTo>
                  <a:pt x="82296" y="123443"/>
                </a:lnTo>
                <a:lnTo>
                  <a:pt x="0" y="41148"/>
                </a:lnTo>
                <a:lnTo>
                  <a:pt x="59436" y="41148"/>
                </a:lnTo>
                <a:close/>
              </a:path>
            </a:pathLst>
          </a:custGeom>
          <a:solidFill>
            <a:srgbClr val="6B7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7" name="Oval 17426"/>
          <p:cNvSpPr/>
          <p:nvPr/>
        </p:nvSpPr>
        <p:spPr>
          <a:xfrm>
            <a:off x="416052" y="2318004"/>
            <a:ext cx="338328" cy="338328"/>
          </a:xfrm>
          <a:prstGeom prst="ellipse">
            <a:avLst/>
          </a:prstGeom>
          <a:solidFill>
            <a:srgbClr val="1565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1865376" y="2756916"/>
            <a:ext cx="164592" cy="123444"/>
          </a:xfrm>
          <a:custGeom>
            <a:avLst/>
            <a:gdLst/>
            <a:ahLst/>
            <a:cxnLst/>
            <a:rect l="l" t="t" r="r" b="b"/>
            <a:pathLst>
              <a:path w="164592" h="123444">
                <a:moveTo>
                  <a:pt x="59436" y="0"/>
                </a:moveTo>
                <a:lnTo>
                  <a:pt x="105155" y="0"/>
                </a:lnTo>
                <a:lnTo>
                  <a:pt x="105155" y="41148"/>
                </a:lnTo>
                <a:lnTo>
                  <a:pt x="164592" y="41148"/>
                </a:lnTo>
                <a:lnTo>
                  <a:pt x="82296" y="123444"/>
                </a:lnTo>
                <a:lnTo>
                  <a:pt x="0" y="41148"/>
                </a:lnTo>
                <a:lnTo>
                  <a:pt x="59436" y="41148"/>
                </a:lnTo>
                <a:close/>
              </a:path>
            </a:pathLst>
          </a:custGeom>
          <a:solidFill>
            <a:srgbClr val="6B7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8" name="Oval 17427"/>
          <p:cNvSpPr/>
          <p:nvPr/>
        </p:nvSpPr>
        <p:spPr>
          <a:xfrm>
            <a:off x="416052" y="2976372"/>
            <a:ext cx="338328" cy="338328"/>
          </a:xfrm>
          <a:prstGeom prst="ellipse">
            <a:avLst/>
          </a:prstGeom>
          <a:solidFill>
            <a:srgbClr val="1565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1865376" y="3415284"/>
            <a:ext cx="164592" cy="123444"/>
          </a:xfrm>
          <a:custGeom>
            <a:avLst/>
            <a:gdLst/>
            <a:ahLst/>
            <a:cxnLst/>
            <a:rect l="l" t="t" r="r" b="b"/>
            <a:pathLst>
              <a:path w="164592" h="123444">
                <a:moveTo>
                  <a:pt x="59436" y="0"/>
                </a:moveTo>
                <a:lnTo>
                  <a:pt x="105155" y="0"/>
                </a:lnTo>
                <a:lnTo>
                  <a:pt x="105155" y="41148"/>
                </a:lnTo>
                <a:lnTo>
                  <a:pt x="164592" y="41148"/>
                </a:lnTo>
                <a:lnTo>
                  <a:pt x="82296" y="123444"/>
                </a:lnTo>
                <a:lnTo>
                  <a:pt x="0" y="41148"/>
                </a:lnTo>
                <a:lnTo>
                  <a:pt x="59436" y="41148"/>
                </a:lnTo>
                <a:close/>
              </a:path>
            </a:pathLst>
          </a:custGeom>
          <a:solidFill>
            <a:srgbClr val="6B7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9" name="Oval 17428"/>
          <p:cNvSpPr/>
          <p:nvPr/>
        </p:nvSpPr>
        <p:spPr>
          <a:xfrm>
            <a:off x="416052" y="3634740"/>
            <a:ext cx="338328" cy="338328"/>
          </a:xfrm>
          <a:prstGeom prst="ellipse">
            <a:avLst/>
          </a:prstGeom>
          <a:solidFill>
            <a:srgbClr val="D930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1865376" y="4073652"/>
            <a:ext cx="164592" cy="123444"/>
          </a:xfrm>
          <a:custGeom>
            <a:avLst/>
            <a:gdLst/>
            <a:ahLst/>
            <a:cxnLst/>
            <a:rect l="l" t="t" r="r" b="b"/>
            <a:pathLst>
              <a:path w="164592" h="123444">
                <a:moveTo>
                  <a:pt x="59436" y="0"/>
                </a:moveTo>
                <a:lnTo>
                  <a:pt x="105155" y="0"/>
                </a:lnTo>
                <a:lnTo>
                  <a:pt x="105155" y="41148"/>
                </a:lnTo>
                <a:lnTo>
                  <a:pt x="164592" y="41148"/>
                </a:lnTo>
                <a:lnTo>
                  <a:pt x="82296" y="123444"/>
                </a:lnTo>
                <a:lnTo>
                  <a:pt x="0" y="41148"/>
                </a:lnTo>
                <a:lnTo>
                  <a:pt x="59436" y="41148"/>
                </a:lnTo>
                <a:close/>
              </a:path>
            </a:pathLst>
          </a:custGeom>
          <a:solidFill>
            <a:srgbClr val="6B7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0" name="Oval 17429"/>
          <p:cNvSpPr/>
          <p:nvPr/>
        </p:nvSpPr>
        <p:spPr>
          <a:xfrm>
            <a:off x="416052" y="4293108"/>
            <a:ext cx="338328" cy="338328"/>
          </a:xfrm>
          <a:prstGeom prst="ellipse">
            <a:avLst/>
          </a:prstGeom>
          <a:solidFill>
            <a:srgbClr val="D930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Freeform 7"/>
          <p:cNvSpPr/>
          <p:nvPr/>
        </p:nvSpPr>
        <p:spPr>
          <a:xfrm>
            <a:off x="1865376" y="4732020"/>
            <a:ext cx="164592" cy="123444"/>
          </a:xfrm>
          <a:custGeom>
            <a:avLst/>
            <a:gdLst/>
            <a:ahLst/>
            <a:cxnLst/>
            <a:rect l="l" t="t" r="r" b="b"/>
            <a:pathLst>
              <a:path w="164592" h="123444">
                <a:moveTo>
                  <a:pt x="59436" y="0"/>
                </a:moveTo>
                <a:lnTo>
                  <a:pt x="105155" y="0"/>
                </a:lnTo>
                <a:lnTo>
                  <a:pt x="105155" y="41148"/>
                </a:lnTo>
                <a:lnTo>
                  <a:pt x="164592" y="41148"/>
                </a:lnTo>
                <a:lnTo>
                  <a:pt x="82296" y="123444"/>
                </a:lnTo>
                <a:lnTo>
                  <a:pt x="0" y="41148"/>
                </a:lnTo>
                <a:lnTo>
                  <a:pt x="59436" y="41148"/>
                </a:lnTo>
                <a:close/>
              </a:path>
            </a:pathLst>
          </a:custGeom>
          <a:solidFill>
            <a:srgbClr val="6B7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1" name="Oval 17430"/>
          <p:cNvSpPr/>
          <p:nvPr/>
        </p:nvSpPr>
        <p:spPr>
          <a:xfrm>
            <a:off x="416052" y="4951476"/>
            <a:ext cx="338328" cy="338328"/>
          </a:xfrm>
          <a:prstGeom prst="ellipse">
            <a:avLst/>
          </a:prstGeom>
          <a:solidFill>
            <a:srgbClr val="178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1865376" y="5390388"/>
            <a:ext cx="164592" cy="123444"/>
          </a:xfrm>
          <a:custGeom>
            <a:avLst/>
            <a:gdLst/>
            <a:ahLst/>
            <a:cxnLst/>
            <a:rect l="l" t="t" r="r" b="b"/>
            <a:pathLst>
              <a:path w="164592" h="123444">
                <a:moveTo>
                  <a:pt x="59436" y="0"/>
                </a:moveTo>
                <a:lnTo>
                  <a:pt x="105155" y="0"/>
                </a:lnTo>
                <a:lnTo>
                  <a:pt x="105155" y="41148"/>
                </a:lnTo>
                <a:lnTo>
                  <a:pt x="164592" y="41148"/>
                </a:lnTo>
                <a:lnTo>
                  <a:pt x="82296" y="123444"/>
                </a:lnTo>
                <a:lnTo>
                  <a:pt x="0" y="41148"/>
                </a:lnTo>
                <a:lnTo>
                  <a:pt x="59436" y="41148"/>
                </a:lnTo>
                <a:close/>
              </a:path>
            </a:pathLst>
          </a:custGeom>
          <a:solidFill>
            <a:srgbClr val="6B7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2" name="Oval 17431"/>
          <p:cNvSpPr/>
          <p:nvPr/>
        </p:nvSpPr>
        <p:spPr>
          <a:xfrm>
            <a:off x="416052" y="5609844"/>
            <a:ext cx="338328" cy="338328"/>
          </a:xfrm>
          <a:prstGeom prst="ellipse">
            <a:avLst/>
          </a:prstGeom>
          <a:solidFill>
            <a:srgbClr val="178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3" name="TextBox 17432"/>
          <p:cNvSpPr txBox="1"/>
          <p:nvPr/>
        </p:nvSpPr>
        <p:spPr>
          <a:xfrm>
            <a:off x="260603" y="1008379"/>
            <a:ext cx="2561463" cy="482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2000" b="1" i="0">
                <a:solidFill>
                  <a:srgbClr val="0B1B33"/>
                </a:solidFill>
                <a:latin typeface="Segoe UI"/>
              </a:rPr>
              <a:t>How the data moves</a:t>
            </a:r>
          </a:p>
        </p:txBody>
      </p:sp>
      <p:sp>
        <p:nvSpPr>
          <p:cNvPr id="17434" name="TextBox 17433"/>
          <p:cNvSpPr txBox="1"/>
          <p:nvPr/>
        </p:nvSpPr>
        <p:spPr>
          <a:xfrm>
            <a:off x="482917" y="1676527"/>
            <a:ext cx="204597" cy="31369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7435" name="TextBox 17434"/>
          <p:cNvSpPr txBox="1"/>
          <p:nvPr/>
        </p:nvSpPr>
        <p:spPr>
          <a:xfrm>
            <a:off x="772668" y="1671701"/>
            <a:ext cx="1485900" cy="32334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340" b="1" i="0">
                <a:solidFill>
                  <a:srgbClr val="0B1B33"/>
                </a:solidFill>
                <a:latin typeface="Segoe UI"/>
              </a:rPr>
              <a:t>Phone feels a jolt</a:t>
            </a:r>
          </a:p>
        </p:txBody>
      </p:sp>
      <p:sp>
        <p:nvSpPr>
          <p:cNvPr id="17436" name="TextBox 17435"/>
          <p:cNvSpPr txBox="1"/>
          <p:nvPr/>
        </p:nvSpPr>
        <p:spPr>
          <a:xfrm>
            <a:off x="482631" y="2334895"/>
            <a:ext cx="205168" cy="31369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7437" name="TextBox 17436"/>
          <p:cNvSpPr txBox="1"/>
          <p:nvPr/>
        </p:nvSpPr>
        <p:spPr>
          <a:xfrm>
            <a:off x="772668" y="2330069"/>
            <a:ext cx="1736788" cy="32334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340" b="1" i="0">
                <a:solidFill>
                  <a:srgbClr val="0B1B33"/>
                </a:solidFill>
                <a:latin typeface="Segoe UI"/>
              </a:rPr>
              <a:t>It reaches our server</a:t>
            </a:r>
          </a:p>
        </p:txBody>
      </p:sp>
      <p:sp>
        <p:nvSpPr>
          <p:cNvPr id="17438" name="TextBox 17437"/>
          <p:cNvSpPr txBox="1"/>
          <p:nvPr/>
        </p:nvSpPr>
        <p:spPr>
          <a:xfrm>
            <a:off x="482917" y="2993262"/>
            <a:ext cx="204597" cy="31369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7439" name="TextBox 17438"/>
          <p:cNvSpPr txBox="1"/>
          <p:nvPr/>
        </p:nvSpPr>
        <p:spPr>
          <a:xfrm>
            <a:off x="772668" y="2988436"/>
            <a:ext cx="2153412" cy="32334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340" b="1" i="0">
                <a:solidFill>
                  <a:srgbClr val="0B1B33"/>
                </a:solidFill>
                <a:latin typeface="Segoe UI"/>
              </a:rPr>
              <a:t>Nearby readings grouped</a:t>
            </a:r>
          </a:p>
        </p:txBody>
      </p:sp>
      <p:sp>
        <p:nvSpPr>
          <p:cNvPr id="17440" name="TextBox 17439"/>
          <p:cNvSpPr txBox="1"/>
          <p:nvPr/>
        </p:nvSpPr>
        <p:spPr>
          <a:xfrm>
            <a:off x="482917" y="3651631"/>
            <a:ext cx="204597" cy="31369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17441" name="TextBox 17440"/>
          <p:cNvSpPr txBox="1"/>
          <p:nvPr/>
        </p:nvSpPr>
        <p:spPr>
          <a:xfrm>
            <a:off x="772668" y="3646805"/>
            <a:ext cx="2277999" cy="32334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340" b="1" i="0">
                <a:solidFill>
                  <a:srgbClr val="0B1B33"/>
                </a:solidFill>
                <a:latin typeface="Segoe UI"/>
              </a:rPr>
              <a:t>Gig worker is asked to vote</a:t>
            </a:r>
          </a:p>
        </p:txBody>
      </p:sp>
      <p:sp>
        <p:nvSpPr>
          <p:cNvPr id="17442" name="TextBox 17441"/>
          <p:cNvSpPr txBox="1"/>
          <p:nvPr/>
        </p:nvSpPr>
        <p:spPr>
          <a:xfrm>
            <a:off x="482917" y="4309999"/>
            <a:ext cx="204597" cy="31369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17443" name="TextBox 17442"/>
          <p:cNvSpPr txBox="1"/>
          <p:nvPr/>
        </p:nvSpPr>
        <p:spPr>
          <a:xfrm>
            <a:off x="772668" y="4305173"/>
            <a:ext cx="1983105" cy="32334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340" b="1" i="0">
                <a:solidFill>
                  <a:srgbClr val="0B1B33"/>
                </a:solidFill>
                <a:latin typeface="Segoe UI"/>
              </a:rPr>
              <a:t>A short clip is asked for</a:t>
            </a:r>
          </a:p>
        </p:txBody>
      </p:sp>
      <p:sp>
        <p:nvSpPr>
          <p:cNvPr id="17444" name="TextBox 17443"/>
          <p:cNvSpPr txBox="1"/>
          <p:nvPr/>
        </p:nvSpPr>
        <p:spPr>
          <a:xfrm>
            <a:off x="482631" y="4968367"/>
            <a:ext cx="205168" cy="31369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6</a:t>
            </a:r>
          </a:p>
        </p:txBody>
      </p:sp>
      <p:sp>
        <p:nvSpPr>
          <p:cNvPr id="17445" name="TextBox 17444"/>
          <p:cNvSpPr txBox="1"/>
          <p:nvPr/>
        </p:nvSpPr>
        <p:spPr>
          <a:xfrm>
            <a:off x="772668" y="4963541"/>
            <a:ext cx="1905381" cy="32334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340" b="1" i="0">
                <a:solidFill>
                  <a:srgbClr val="0B1B33"/>
                </a:solidFill>
                <a:latin typeface="Segoe UI"/>
              </a:rPr>
              <a:t>Confirmed or dropped</a:t>
            </a:r>
          </a:p>
        </p:txBody>
      </p:sp>
      <p:sp>
        <p:nvSpPr>
          <p:cNvPr id="17446" name="TextBox 17445"/>
          <p:cNvSpPr txBox="1"/>
          <p:nvPr/>
        </p:nvSpPr>
        <p:spPr>
          <a:xfrm>
            <a:off x="482631" y="5626735"/>
            <a:ext cx="205168" cy="31369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7</a:t>
            </a:r>
          </a:p>
        </p:txBody>
      </p:sp>
      <p:sp>
        <p:nvSpPr>
          <p:cNvPr id="17447" name="TextBox 17446"/>
          <p:cNvSpPr txBox="1"/>
          <p:nvPr/>
        </p:nvSpPr>
        <p:spPr>
          <a:xfrm>
            <a:off x="772668" y="5621909"/>
            <a:ext cx="2250567" cy="32334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340" b="1" i="0">
                <a:solidFill>
                  <a:srgbClr val="0B1B33"/>
                </a:solidFill>
                <a:latin typeface="Segoe UI"/>
              </a:rPr>
              <a:t>Dashboard and work order</a:t>
            </a:r>
          </a:p>
        </p:txBody>
      </p:sp>
      <p:sp>
        <p:nvSpPr>
          <p:cNvPr id="17448" name="TextBox 17447"/>
          <p:cNvSpPr txBox="1"/>
          <p:nvPr/>
        </p:nvSpPr>
        <p:spPr>
          <a:xfrm>
            <a:off x="3808476" y="1008379"/>
            <a:ext cx="3505009" cy="482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2000" b="1" i="0">
                <a:solidFill>
                  <a:srgbClr val="0B1B33"/>
                </a:solidFill>
                <a:latin typeface="Segoe UI"/>
              </a:rPr>
              <a:t>What we are building it with</a:t>
            </a:r>
          </a:p>
        </p:txBody>
      </p:sp>
      <p:sp>
        <p:nvSpPr>
          <p:cNvPr id="17449" name="TextBox 17448"/>
          <p:cNvSpPr txBox="1"/>
          <p:nvPr/>
        </p:nvSpPr>
        <p:spPr>
          <a:xfrm>
            <a:off x="3991356" y="1547114"/>
            <a:ext cx="1251585" cy="33781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400" b="1" i="0">
                <a:solidFill>
                  <a:srgbClr val="1565D8"/>
                </a:solidFill>
                <a:latin typeface="Segoe UI"/>
              </a:rPr>
              <a:t>On the phone</a:t>
            </a:r>
          </a:p>
        </p:txBody>
      </p:sp>
      <p:sp>
        <p:nvSpPr>
          <p:cNvPr id="17450" name="TextBox 17449"/>
          <p:cNvSpPr txBox="1"/>
          <p:nvPr/>
        </p:nvSpPr>
        <p:spPr>
          <a:xfrm>
            <a:off x="3991356" y="1791081"/>
            <a:ext cx="7638097" cy="30403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60" b="0" i="0">
                <a:solidFill>
                  <a:srgbClr val="0B1B33"/>
                </a:solidFill>
                <a:latin typeface="Segoe UI"/>
              </a:rPr>
              <a:t>React Native (Android and iOS), 100 Hz accelerometer and GPS, on-device 1D-CNN bump classifier (Keras),</a:t>
            </a:r>
          </a:p>
        </p:txBody>
      </p:sp>
      <p:sp>
        <p:nvSpPr>
          <p:cNvPr id="17451" name="TextBox 17450"/>
          <p:cNvSpPr txBox="1"/>
          <p:nvPr/>
        </p:nvSpPr>
        <p:spPr>
          <a:xfrm>
            <a:off x="3991356" y="1992706"/>
            <a:ext cx="2139696" cy="30403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60" b="0" i="0">
                <a:solidFill>
                  <a:srgbClr val="0B1B33"/>
                </a:solidFill>
                <a:latin typeface="Segoe UI"/>
              </a:rPr>
              <a:t>SQLite queue for offline trips</a:t>
            </a:r>
          </a:p>
        </p:txBody>
      </p:sp>
      <p:sp>
        <p:nvSpPr>
          <p:cNvPr id="17452" name="TextBox 17451"/>
          <p:cNvSpPr txBox="1"/>
          <p:nvPr/>
        </p:nvSpPr>
        <p:spPr>
          <a:xfrm>
            <a:off x="3991356" y="2325268"/>
            <a:ext cx="985266" cy="33781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400" b="1" i="0">
                <a:solidFill>
                  <a:srgbClr val="1565D8"/>
                </a:solidFill>
                <a:latin typeface="Segoe UI"/>
              </a:rPr>
              <a:t>Our server</a:t>
            </a:r>
          </a:p>
        </p:txBody>
      </p:sp>
      <p:sp>
        <p:nvSpPr>
          <p:cNvPr id="17453" name="TextBox 17452"/>
          <p:cNvSpPr txBox="1"/>
          <p:nvPr/>
        </p:nvSpPr>
        <p:spPr>
          <a:xfrm>
            <a:off x="3991356" y="2569235"/>
            <a:ext cx="6392227" cy="30403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60" b="0" i="0">
                <a:solidFill>
                  <a:srgbClr val="0B1B33"/>
                </a:solidFill>
                <a:latin typeface="Segoe UI"/>
              </a:rPr>
              <a:t>Python (FastAPI), Celery workers on Redis, REST/JSON APIs, JWT auth, Pydantic validation</a:t>
            </a:r>
          </a:p>
        </p:txBody>
      </p:sp>
      <p:sp>
        <p:nvSpPr>
          <p:cNvPr id="17454" name="TextBox 17453"/>
          <p:cNvSpPr txBox="1"/>
          <p:nvPr/>
        </p:nvSpPr>
        <p:spPr>
          <a:xfrm>
            <a:off x="3991356" y="2901797"/>
            <a:ext cx="1648206" cy="33781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400" b="1" i="0">
                <a:solidFill>
                  <a:srgbClr val="1565D8"/>
                </a:solidFill>
                <a:latin typeface="Segoe UI"/>
              </a:rPr>
              <a:t>Map and database</a:t>
            </a:r>
          </a:p>
        </p:txBody>
      </p:sp>
      <p:sp>
        <p:nvSpPr>
          <p:cNvPr id="17455" name="TextBox 17454"/>
          <p:cNvSpPr txBox="1"/>
          <p:nvPr/>
        </p:nvSpPr>
        <p:spPr>
          <a:xfrm>
            <a:off x="3991356" y="3145764"/>
            <a:ext cx="7736395" cy="30403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60" b="0" i="0">
                <a:solidFill>
                  <a:srgbClr val="0B1B33"/>
                </a:solidFill>
                <a:latin typeface="Segoe UI"/>
              </a:rPr>
              <a:t>PostgreSQL 16 with PostGIS, OSRM for map-matching each reading to a real road, DBSCAN to group nearby</a:t>
            </a:r>
          </a:p>
        </p:txBody>
      </p:sp>
      <p:sp>
        <p:nvSpPr>
          <p:cNvPr id="17456" name="TextBox 17455"/>
          <p:cNvSpPr txBox="1"/>
          <p:nvPr/>
        </p:nvSpPr>
        <p:spPr>
          <a:xfrm>
            <a:off x="3991356" y="3347389"/>
            <a:ext cx="1633347" cy="30403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60" b="0" i="0">
                <a:solidFill>
                  <a:srgbClr val="0B1B33"/>
                </a:solidFill>
                <a:latin typeface="Segoe UI"/>
              </a:rPr>
              <a:t>hits, GeoJSON output</a:t>
            </a:r>
          </a:p>
        </p:txBody>
      </p:sp>
      <p:sp>
        <p:nvSpPr>
          <p:cNvPr id="17457" name="TextBox 17456"/>
          <p:cNvSpPr txBox="1"/>
          <p:nvPr/>
        </p:nvSpPr>
        <p:spPr>
          <a:xfrm>
            <a:off x="3991356" y="3679951"/>
            <a:ext cx="1301877" cy="33781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400" b="1" i="0">
                <a:solidFill>
                  <a:srgbClr val="D93025"/>
                </a:solidFill>
                <a:latin typeface="Segoe UI"/>
              </a:rPr>
              <a:t>The AI models</a:t>
            </a:r>
          </a:p>
        </p:txBody>
      </p:sp>
      <p:sp>
        <p:nvSpPr>
          <p:cNvPr id="17458" name="TextBox 17457"/>
          <p:cNvSpPr txBox="1"/>
          <p:nvPr/>
        </p:nvSpPr>
        <p:spPr>
          <a:xfrm>
            <a:off x="3991356" y="3923919"/>
            <a:ext cx="6447091" cy="30403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60" b="0" i="0">
                <a:solidFill>
                  <a:srgbClr val="0B1B33"/>
                </a:solidFill>
                <a:latin typeface="Segoe UI"/>
              </a:rPr>
              <a:t>YOLOv11s (Ultralytics, PyTorch) on the clips, OpenCV frame handling, trained on RDD2022</a:t>
            </a:r>
          </a:p>
        </p:txBody>
      </p:sp>
      <p:sp>
        <p:nvSpPr>
          <p:cNvPr id="17459" name="TextBox 17458"/>
          <p:cNvSpPr txBox="1"/>
          <p:nvPr/>
        </p:nvSpPr>
        <p:spPr>
          <a:xfrm>
            <a:off x="3991356" y="4256481"/>
            <a:ext cx="1350454" cy="33781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400" b="1" i="0">
                <a:solidFill>
                  <a:srgbClr val="178A4C"/>
                </a:solidFill>
                <a:latin typeface="Segoe UI"/>
              </a:rPr>
              <a:t>The dashboard</a:t>
            </a:r>
          </a:p>
        </p:txBody>
      </p:sp>
      <p:sp>
        <p:nvSpPr>
          <p:cNvPr id="17460" name="TextBox 17459"/>
          <p:cNvSpPr txBox="1"/>
          <p:nvPr/>
        </p:nvSpPr>
        <p:spPr>
          <a:xfrm>
            <a:off x="3991356" y="4500448"/>
            <a:ext cx="7218616" cy="30403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60" b="0" i="0">
                <a:solidFill>
                  <a:srgbClr val="0B1B33"/>
                </a:solidFill>
                <a:latin typeface="Segoe UI"/>
              </a:rPr>
              <a:t>HTML, CSS, JavaScript, React, deck.gl and MapLibre GL for the live map, Chart.js for ward-level trends</a:t>
            </a:r>
          </a:p>
        </p:txBody>
      </p:sp>
      <p:sp>
        <p:nvSpPr>
          <p:cNvPr id="17461" name="TextBox 17460"/>
          <p:cNvSpPr txBox="1"/>
          <p:nvPr/>
        </p:nvSpPr>
        <p:spPr>
          <a:xfrm>
            <a:off x="3991356" y="4833010"/>
            <a:ext cx="984694" cy="33781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400" b="1" i="0">
                <a:solidFill>
                  <a:srgbClr val="6B7A90"/>
                </a:solidFill>
                <a:latin typeface="Segoe UI"/>
              </a:rPr>
              <a:t>Running it</a:t>
            </a:r>
          </a:p>
        </p:txBody>
      </p:sp>
      <p:sp>
        <p:nvSpPr>
          <p:cNvPr id="17462" name="TextBox 17461"/>
          <p:cNvSpPr txBox="1"/>
          <p:nvPr/>
        </p:nvSpPr>
        <p:spPr>
          <a:xfrm>
            <a:off x="3991356" y="5076977"/>
            <a:ext cx="3626167" cy="30403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60" b="0" i="0">
                <a:solidFill>
                  <a:srgbClr val="0B1B33"/>
                </a:solidFill>
                <a:latin typeface="Segoe UI"/>
              </a:rPr>
              <a:t>Docker + docker-compose, GitHub Actions, Nginx</a:t>
            </a:r>
          </a:p>
        </p:txBody>
      </p:sp>
      <p:pic>
        <p:nvPicPr>
          <p:cNvPr id="17463" name="Picture 17462" descr="sih_logo_202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41366" y="57097"/>
            <a:ext cx="2209120" cy="112286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691640" y="45720"/>
            <a:ext cx="7955279" cy="960120"/>
          </a:xfrm>
        </p:spPr>
        <p:txBody>
          <a:bodyPr wrap="square" anchor="ctr"/>
          <a:lstStyle/>
          <a:p>
            <a:pPr eaLnBrk="1" hangingPunct="1" algn="ctr"/>
            <a:r>
              <a:rPr lang="en-US" sz="34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2026 Idea Submission - Team localhost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=""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none" lIns="0" rIns="0"/>
          <a:lstStyle/>
          <a:p>
            <a:pPr algn="ctr"/>
            <a:r>
              <a:rPr sz="1200" b="1" i="0" u="none">
                <a:solidFill>
                  <a:srgbClr val="12294B"/>
                </a:solidFill>
                <a:latin typeface="Consolas"/>
              </a:rPr>
              <a:t>localhost</a:t>
            </a:r>
            <a:r>
              <a:rPr sz="1200" b="1" i="0" u="none">
                <a:solidFill>
                  <a:srgbClr val="125EC4"/>
                </a:solidFill>
                <a:latin typeface="Consolas"/>
              </a:rPr>
              <a:t>_</a:t>
            </a:r>
          </a:p>
        </p:txBody>
      </p:sp>
      <p:sp>
        <p:nvSpPr>
          <p:cNvPr id="17410" name="Rectangle 17409"/>
          <p:cNvSpPr/>
          <p:nvPr/>
        </p:nvSpPr>
        <p:spPr>
          <a:xfrm>
            <a:off x="274320" y="1097280"/>
            <a:ext cx="11640312" cy="5138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1" name="Rounded Rectangle 17410"/>
          <p:cNvSpPr/>
          <p:nvPr/>
        </p:nvSpPr>
        <p:spPr>
          <a:xfrm>
            <a:off x="292608" y="1554480"/>
            <a:ext cx="6144768" cy="960120"/>
          </a:xfrm>
          <a:prstGeom prst="roundRect">
            <a:avLst>
              <a:gd name="adj" fmla="val 4761"/>
            </a:avLst>
          </a:prstGeom>
          <a:solidFill>
            <a:srgbClr val="E8F1FE"/>
          </a:solidFill>
          <a:ln w="16510">
            <a:solidFill>
              <a:srgbClr val="1565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412" name="Rounded Rectangle 17411"/>
          <p:cNvSpPr/>
          <p:nvPr/>
        </p:nvSpPr>
        <p:spPr>
          <a:xfrm>
            <a:off x="347472" y="3493008"/>
            <a:ext cx="6035040" cy="603504"/>
          </a:xfrm>
          <a:prstGeom prst="roundRect">
            <a:avLst>
              <a:gd name="adj" fmla="val 6060"/>
            </a:avLst>
          </a:prstGeom>
          <a:solidFill>
            <a:srgbClr val="F5F8FC"/>
          </a:solidFill>
          <a:ln w="12700">
            <a:solidFill>
              <a:srgbClr val="D4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413" name="Rounded Rectangle 17412"/>
          <p:cNvSpPr/>
          <p:nvPr/>
        </p:nvSpPr>
        <p:spPr>
          <a:xfrm>
            <a:off x="292608" y="4645152"/>
            <a:ext cx="6144768" cy="822960"/>
          </a:xfrm>
          <a:prstGeom prst="roundRect">
            <a:avLst>
              <a:gd name="adj" fmla="val 5555"/>
            </a:avLst>
          </a:prstGeom>
          <a:solidFill>
            <a:srgbClr val="E6F6EC"/>
          </a:solidFill>
          <a:ln w="16510">
            <a:solidFill>
              <a:srgbClr val="178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414" name="Rounded Rectangle 17413"/>
          <p:cNvSpPr/>
          <p:nvPr/>
        </p:nvSpPr>
        <p:spPr>
          <a:xfrm>
            <a:off x="6620256" y="1517904"/>
            <a:ext cx="5276088" cy="530352"/>
          </a:xfrm>
          <a:prstGeom prst="roundRect">
            <a:avLst>
              <a:gd name="adj" fmla="val 8620"/>
            </a:avLst>
          </a:prstGeom>
          <a:solidFill>
            <a:srgbClr val="E6F6EC"/>
          </a:solidFill>
          <a:ln w="17780">
            <a:solidFill>
              <a:srgbClr val="178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415" name="Rectangle 17414"/>
          <p:cNvSpPr/>
          <p:nvPr/>
        </p:nvSpPr>
        <p:spPr>
          <a:xfrm>
            <a:off x="6620256" y="2139696"/>
            <a:ext cx="5276088" cy="3840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6" name="Rectangle 17415"/>
          <p:cNvSpPr/>
          <p:nvPr/>
        </p:nvSpPr>
        <p:spPr>
          <a:xfrm>
            <a:off x="6620256" y="2569463"/>
            <a:ext cx="5276088" cy="3840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7" name="Rectangle 17416"/>
          <p:cNvSpPr/>
          <p:nvPr/>
        </p:nvSpPr>
        <p:spPr>
          <a:xfrm>
            <a:off x="6620256" y="2999232"/>
            <a:ext cx="5276088" cy="3840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8" name="Rectangle 17417"/>
          <p:cNvSpPr/>
          <p:nvPr/>
        </p:nvSpPr>
        <p:spPr>
          <a:xfrm>
            <a:off x="6620256" y="3429000"/>
            <a:ext cx="5276088" cy="3840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9" name="Rounded Rectangle 17418"/>
          <p:cNvSpPr/>
          <p:nvPr/>
        </p:nvSpPr>
        <p:spPr>
          <a:xfrm>
            <a:off x="6620256" y="4389120"/>
            <a:ext cx="5276088" cy="402336"/>
          </a:xfrm>
          <a:prstGeom prst="roundRect">
            <a:avLst>
              <a:gd name="adj" fmla="val 9090"/>
            </a:avLst>
          </a:prstGeom>
          <a:solidFill>
            <a:srgbClr val="FFFFFF"/>
          </a:solidFill>
          <a:ln w="12700">
            <a:solidFill>
              <a:srgbClr val="D4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420" name="Rounded Rectangle 17419"/>
          <p:cNvSpPr/>
          <p:nvPr/>
        </p:nvSpPr>
        <p:spPr>
          <a:xfrm>
            <a:off x="6620256" y="4837176"/>
            <a:ext cx="5276088" cy="402336"/>
          </a:xfrm>
          <a:prstGeom prst="roundRect">
            <a:avLst>
              <a:gd name="adj" fmla="val 9090"/>
            </a:avLst>
          </a:prstGeom>
          <a:solidFill>
            <a:srgbClr val="FFFFFF"/>
          </a:solidFill>
          <a:ln w="12700">
            <a:solidFill>
              <a:srgbClr val="D4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421" name="Rounded Rectangle 17420"/>
          <p:cNvSpPr/>
          <p:nvPr/>
        </p:nvSpPr>
        <p:spPr>
          <a:xfrm>
            <a:off x="6620256" y="5285232"/>
            <a:ext cx="5276088" cy="402336"/>
          </a:xfrm>
          <a:prstGeom prst="roundRect">
            <a:avLst>
              <a:gd name="adj" fmla="val 9090"/>
            </a:avLst>
          </a:prstGeom>
          <a:solidFill>
            <a:srgbClr val="FFFFFF"/>
          </a:solidFill>
          <a:ln w="12700">
            <a:solidFill>
              <a:srgbClr val="D4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422" name="Rounded Rectangle 17421"/>
          <p:cNvSpPr/>
          <p:nvPr/>
        </p:nvSpPr>
        <p:spPr>
          <a:xfrm>
            <a:off x="6620256" y="5733288"/>
            <a:ext cx="5276088" cy="402336"/>
          </a:xfrm>
          <a:prstGeom prst="roundRect">
            <a:avLst>
              <a:gd name="adj" fmla="val 9090"/>
            </a:avLst>
          </a:prstGeom>
          <a:solidFill>
            <a:srgbClr val="FFFFFF"/>
          </a:solidFill>
          <a:ln w="12700">
            <a:solidFill>
              <a:srgbClr val="D4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423" name="Rectangle 17422"/>
          <p:cNvSpPr/>
          <p:nvPr/>
        </p:nvSpPr>
        <p:spPr>
          <a:xfrm>
            <a:off x="310896" y="1445768"/>
            <a:ext cx="5837529" cy="16459"/>
          </a:xfrm>
          <a:prstGeom prst="rect">
            <a:avLst/>
          </a:prstGeom>
          <a:solidFill>
            <a:srgbClr val="D4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4" name="Rectangle 17423"/>
          <p:cNvSpPr/>
          <p:nvPr/>
        </p:nvSpPr>
        <p:spPr>
          <a:xfrm>
            <a:off x="6620256" y="1445768"/>
            <a:ext cx="4854000" cy="16459"/>
          </a:xfrm>
          <a:prstGeom prst="rect">
            <a:avLst/>
          </a:prstGeom>
          <a:solidFill>
            <a:srgbClr val="D4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5" name="Rectangle 17424"/>
          <p:cNvSpPr/>
          <p:nvPr/>
        </p:nvSpPr>
        <p:spPr>
          <a:xfrm>
            <a:off x="6620256" y="4298695"/>
            <a:ext cx="4642957" cy="16459"/>
          </a:xfrm>
          <a:prstGeom prst="rect">
            <a:avLst/>
          </a:prstGeom>
          <a:solidFill>
            <a:srgbClr val="D4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6" name="Rectangle 17425"/>
          <p:cNvSpPr/>
          <p:nvPr/>
        </p:nvSpPr>
        <p:spPr>
          <a:xfrm>
            <a:off x="6620256" y="4389120"/>
            <a:ext cx="45720" cy="402336"/>
          </a:xfrm>
          <a:prstGeom prst="rect">
            <a:avLst/>
          </a:prstGeom>
          <a:solidFill>
            <a:srgbClr val="D930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7" name="Rectangle 17426"/>
          <p:cNvSpPr/>
          <p:nvPr/>
        </p:nvSpPr>
        <p:spPr>
          <a:xfrm>
            <a:off x="6620256" y="4837176"/>
            <a:ext cx="45720" cy="402336"/>
          </a:xfrm>
          <a:prstGeom prst="rect">
            <a:avLst/>
          </a:prstGeom>
          <a:solidFill>
            <a:srgbClr val="D930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8" name="Rectangle 17427"/>
          <p:cNvSpPr/>
          <p:nvPr/>
        </p:nvSpPr>
        <p:spPr>
          <a:xfrm>
            <a:off x="6620256" y="5285232"/>
            <a:ext cx="45720" cy="402336"/>
          </a:xfrm>
          <a:prstGeom prst="rect">
            <a:avLst/>
          </a:prstGeom>
          <a:solidFill>
            <a:srgbClr val="D930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9" name="Rectangle 17428"/>
          <p:cNvSpPr/>
          <p:nvPr/>
        </p:nvSpPr>
        <p:spPr>
          <a:xfrm>
            <a:off x="6620256" y="5733288"/>
            <a:ext cx="45720" cy="402336"/>
          </a:xfrm>
          <a:prstGeom prst="rect">
            <a:avLst/>
          </a:prstGeom>
          <a:solidFill>
            <a:srgbClr val="D930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0" name="Oval 17429"/>
          <p:cNvSpPr/>
          <p:nvPr/>
        </p:nvSpPr>
        <p:spPr>
          <a:xfrm>
            <a:off x="6734556" y="2281428"/>
            <a:ext cx="100584" cy="100584"/>
          </a:xfrm>
          <a:prstGeom prst="ellipse">
            <a:avLst/>
          </a:prstGeom>
          <a:solidFill>
            <a:srgbClr val="178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1" name="Oval 17430"/>
          <p:cNvSpPr/>
          <p:nvPr/>
        </p:nvSpPr>
        <p:spPr>
          <a:xfrm>
            <a:off x="6734556" y="2711196"/>
            <a:ext cx="100584" cy="100584"/>
          </a:xfrm>
          <a:prstGeom prst="ellipse">
            <a:avLst/>
          </a:prstGeom>
          <a:solidFill>
            <a:srgbClr val="178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2" name="Oval 17431"/>
          <p:cNvSpPr/>
          <p:nvPr/>
        </p:nvSpPr>
        <p:spPr>
          <a:xfrm>
            <a:off x="6734556" y="3140963"/>
            <a:ext cx="100584" cy="100584"/>
          </a:xfrm>
          <a:prstGeom prst="ellipse">
            <a:avLst/>
          </a:prstGeom>
          <a:solidFill>
            <a:srgbClr val="178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3" name="Oval 17432"/>
          <p:cNvSpPr/>
          <p:nvPr/>
        </p:nvSpPr>
        <p:spPr>
          <a:xfrm>
            <a:off x="6734556" y="3570731"/>
            <a:ext cx="100584" cy="100584"/>
          </a:xfrm>
          <a:prstGeom prst="ellipse">
            <a:avLst/>
          </a:prstGeom>
          <a:solidFill>
            <a:srgbClr val="178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4" name="TextBox 17433"/>
          <p:cNvSpPr txBox="1"/>
          <p:nvPr/>
        </p:nvSpPr>
        <p:spPr>
          <a:xfrm>
            <a:off x="260603" y="1008379"/>
            <a:ext cx="2583751" cy="482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2000" b="1" i="0">
                <a:solidFill>
                  <a:srgbClr val="0B1B33"/>
                </a:solidFill>
                <a:latin typeface="Segoe UI"/>
              </a:rPr>
              <a:t>Why the math works</a:t>
            </a:r>
          </a:p>
        </p:txBody>
      </p:sp>
      <p:sp>
        <p:nvSpPr>
          <p:cNvPr id="17435" name="TextBox 17434"/>
          <p:cNvSpPr txBox="1"/>
          <p:nvPr/>
        </p:nvSpPr>
        <p:spPr>
          <a:xfrm>
            <a:off x="443484" y="1585468"/>
            <a:ext cx="3779329" cy="328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360" b="1" i="0">
                <a:solidFill>
                  <a:srgbClr val="0B1B33"/>
                </a:solidFill>
                <a:latin typeface="Segoe UI"/>
              </a:rPr>
              <a:t>Wu, Wang, Hu et al. - Sensors 20:5564 (2020)</a:t>
            </a:r>
          </a:p>
        </p:txBody>
      </p:sp>
      <p:sp>
        <p:nvSpPr>
          <p:cNvPr id="17436" name="TextBox 17435"/>
          <p:cNvSpPr txBox="1"/>
          <p:nvPr/>
        </p:nvSpPr>
        <p:spPr>
          <a:xfrm>
            <a:off x="443484" y="1880743"/>
            <a:ext cx="5833300" cy="31369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0B1B33"/>
                </a:solidFill>
                <a:latin typeface="Segoe UI"/>
              </a:rPr>
              <a:t>88.5% of one phone's flags are real. Their published counts also give 1.5% false</a:t>
            </a:r>
          </a:p>
        </p:txBody>
      </p:sp>
      <p:sp>
        <p:nvSpPr>
          <p:cNvPr id="17437" name="TextBox 17436"/>
          <p:cNvSpPr txBox="1"/>
          <p:nvPr/>
        </p:nvSpPr>
        <p:spPr>
          <a:xfrm>
            <a:off x="443484" y="2088769"/>
            <a:ext cx="1567624" cy="31369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0B1B33"/>
                </a:solidFill>
                <a:latin typeface="Segoe UI"/>
              </a:rPr>
              <a:t>flags per clean pass.</a:t>
            </a:r>
          </a:p>
        </p:txBody>
      </p:sp>
      <p:sp>
        <p:nvSpPr>
          <p:cNvPr id="17438" name="TextBox 17437"/>
          <p:cNvSpPr txBox="1"/>
          <p:nvPr/>
        </p:nvSpPr>
        <p:spPr>
          <a:xfrm>
            <a:off x="297180" y="2680970"/>
            <a:ext cx="2041969" cy="33781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400" b="1" i="0">
                <a:solidFill>
                  <a:srgbClr val="0B1B33"/>
                </a:solidFill>
                <a:latin typeface="Segoe UI"/>
              </a:rPr>
              <a:t>One phone on its own: </a:t>
            </a:r>
          </a:p>
        </p:txBody>
      </p:sp>
      <p:sp>
        <p:nvSpPr>
          <p:cNvPr id="17439" name="TextBox 17438"/>
          <p:cNvSpPr txBox="1"/>
          <p:nvPr/>
        </p:nvSpPr>
        <p:spPr>
          <a:xfrm>
            <a:off x="2229421" y="2680970"/>
            <a:ext cx="1637918" cy="33781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400" b="0" i="0">
                <a:solidFill>
                  <a:srgbClr val="0B1B33"/>
                </a:solidFill>
                <a:latin typeface="Segoe UI"/>
              </a:rPr>
              <a:t>1 flag in 9 is wrong.</a:t>
            </a:r>
          </a:p>
        </p:txBody>
      </p:sp>
      <p:sp>
        <p:nvSpPr>
          <p:cNvPr id="17440" name="TextBox 17439"/>
          <p:cNvSpPr txBox="1"/>
          <p:nvPr/>
        </p:nvSpPr>
        <p:spPr>
          <a:xfrm>
            <a:off x="297180" y="3046730"/>
            <a:ext cx="1939671" cy="33781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400" b="1" i="0">
                <a:solidFill>
                  <a:srgbClr val="0B1B33"/>
                </a:solidFill>
                <a:latin typeface="Segoe UI"/>
              </a:rPr>
              <a:t>We wait for 4 phones </a:t>
            </a:r>
          </a:p>
        </p:txBody>
      </p:sp>
      <p:sp>
        <p:nvSpPr>
          <p:cNvPr id="17441" name="TextBox 17440"/>
          <p:cNvSpPr txBox="1"/>
          <p:nvPr/>
        </p:nvSpPr>
        <p:spPr>
          <a:xfrm>
            <a:off x="2127123" y="3046730"/>
            <a:ext cx="1860804" cy="33781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400" b="0" i="0">
                <a:solidFill>
                  <a:srgbClr val="0B1B33"/>
                </a:solidFill>
                <a:latin typeface="Segoe UI"/>
              </a:rPr>
              <a:t>to flag the same 20 m.</a:t>
            </a:r>
          </a:p>
        </p:txBody>
      </p:sp>
      <p:sp>
        <p:nvSpPr>
          <p:cNvPr id="17442" name="TextBox 17441"/>
          <p:cNvSpPr txBox="1"/>
          <p:nvPr/>
        </p:nvSpPr>
        <p:spPr>
          <a:xfrm>
            <a:off x="1272159" y="3626040"/>
            <a:ext cx="4185665" cy="37401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1550" b="1" i="0">
                <a:solidFill>
                  <a:srgbClr val="D93025"/>
                </a:solidFill>
                <a:latin typeface="Segoe UI"/>
              </a:rPr>
              <a:t>1 in 9      -&gt;      1 in 250 once 4 phones agree</a:t>
            </a:r>
          </a:p>
        </p:txBody>
      </p:sp>
      <p:sp>
        <p:nvSpPr>
          <p:cNvPr id="17443" name="TextBox 17442"/>
          <p:cNvSpPr txBox="1"/>
          <p:nvPr/>
        </p:nvSpPr>
        <p:spPr>
          <a:xfrm>
            <a:off x="297180" y="4183252"/>
            <a:ext cx="3033522" cy="32334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340" b="1" i="0">
                <a:solidFill>
                  <a:srgbClr val="0B1B33"/>
                </a:solidFill>
                <a:latin typeface="Segoe UI"/>
              </a:rPr>
              <a:t>We credit each extra phone with 3x, </a:t>
            </a:r>
          </a:p>
        </p:txBody>
      </p:sp>
      <p:sp>
        <p:nvSpPr>
          <p:cNvPr id="17444" name="TextBox 17443"/>
          <p:cNvSpPr txBox="1"/>
          <p:nvPr/>
        </p:nvSpPr>
        <p:spPr>
          <a:xfrm>
            <a:off x="3220973" y="4183252"/>
            <a:ext cx="2348865" cy="32334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340" b="0" i="0">
                <a:solidFill>
                  <a:srgbClr val="0B1B33"/>
                </a:solidFill>
                <a:latin typeface="Segoe UI"/>
              </a:rPr>
              <a:t>not the 50x the paper implies.</a:t>
            </a:r>
          </a:p>
        </p:txBody>
      </p:sp>
      <p:sp>
        <p:nvSpPr>
          <p:cNvPr id="17445" name="TextBox 17444"/>
          <p:cNvSpPr txBox="1"/>
          <p:nvPr/>
        </p:nvSpPr>
        <p:spPr>
          <a:xfrm>
            <a:off x="443484" y="4721860"/>
            <a:ext cx="5418963" cy="328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360" b="1" i="0">
                <a:solidFill>
                  <a:srgbClr val="0F5C34"/>
                </a:solidFill>
                <a:latin typeface="Segoe UI"/>
              </a:rPr>
              <a:t>So about 1 confirmed spot in 250 is wrong, and the camera check</a:t>
            </a:r>
          </a:p>
        </p:txBody>
      </p:sp>
      <p:sp>
        <p:nvSpPr>
          <p:cNvPr id="17446" name="TextBox 17445"/>
          <p:cNvSpPr txBox="1"/>
          <p:nvPr/>
        </p:nvSpPr>
        <p:spPr>
          <a:xfrm>
            <a:off x="443484" y="4942941"/>
            <a:ext cx="1175575" cy="328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360" b="1" i="0">
                <a:solidFill>
                  <a:srgbClr val="0F5C34"/>
                </a:solidFill>
                <a:latin typeface="Segoe UI"/>
              </a:rPr>
              <a:t>settles those.</a:t>
            </a:r>
          </a:p>
        </p:txBody>
      </p:sp>
      <p:sp>
        <p:nvSpPr>
          <p:cNvPr id="17447" name="TextBox 17446"/>
          <p:cNvSpPr txBox="1"/>
          <p:nvPr/>
        </p:nvSpPr>
        <p:spPr>
          <a:xfrm>
            <a:off x="6569964" y="1008379"/>
            <a:ext cx="2536317" cy="482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2000" b="1" i="0">
                <a:solidFill>
                  <a:srgbClr val="0B1B33"/>
                </a:solidFill>
                <a:latin typeface="Segoe UI"/>
              </a:rPr>
              <a:t>Is it actually doable?</a:t>
            </a:r>
          </a:p>
        </p:txBody>
      </p:sp>
      <p:sp>
        <p:nvSpPr>
          <p:cNvPr id="17448" name="TextBox 17447"/>
          <p:cNvSpPr txBox="1"/>
          <p:nvPr/>
        </p:nvSpPr>
        <p:spPr>
          <a:xfrm>
            <a:off x="6825996" y="1499743"/>
            <a:ext cx="649795" cy="6032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2500" b="1" i="0">
                <a:solidFill>
                  <a:srgbClr val="178A4C"/>
                </a:solidFill>
                <a:latin typeface="Segoe UI"/>
              </a:rPr>
              <a:t>YES</a:t>
            </a:r>
          </a:p>
        </p:txBody>
      </p:sp>
      <p:sp>
        <p:nvSpPr>
          <p:cNvPr id="17449" name="TextBox 17448"/>
          <p:cNvSpPr txBox="1"/>
          <p:nvPr/>
        </p:nvSpPr>
        <p:spPr>
          <a:xfrm>
            <a:off x="7703820" y="1644523"/>
            <a:ext cx="3055810" cy="31369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300" b="1" i="0">
                <a:solidFill>
                  <a:srgbClr val="0B1B33"/>
                </a:solidFill>
                <a:latin typeface="Segoe UI"/>
              </a:rPr>
              <a:t>- every piece already exists and is free</a:t>
            </a:r>
          </a:p>
        </p:txBody>
      </p:sp>
      <p:sp>
        <p:nvSpPr>
          <p:cNvPr id="17450" name="TextBox 17449"/>
          <p:cNvSpPr txBox="1"/>
          <p:nvPr/>
        </p:nvSpPr>
        <p:spPr>
          <a:xfrm>
            <a:off x="6880860" y="2179447"/>
            <a:ext cx="2678620" cy="31369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0B1B33"/>
                </a:solidFill>
                <a:latin typeface="Segoe UI"/>
              </a:rPr>
              <a:t>Every piece is free and open source</a:t>
            </a:r>
          </a:p>
        </p:txBody>
      </p:sp>
      <p:sp>
        <p:nvSpPr>
          <p:cNvPr id="17451" name="TextBox 17450"/>
          <p:cNvSpPr txBox="1"/>
          <p:nvPr/>
        </p:nvSpPr>
        <p:spPr>
          <a:xfrm>
            <a:off x="6880860" y="2609214"/>
            <a:ext cx="3375850" cy="31369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0B1B33"/>
                </a:solidFill>
                <a:latin typeface="Segoe UI"/>
              </a:rPr>
              <a:t>Runs on an ordinary Rs 8,000 Android phone</a:t>
            </a:r>
          </a:p>
        </p:txBody>
      </p:sp>
      <p:sp>
        <p:nvSpPr>
          <p:cNvPr id="17452" name="TextBox 17451"/>
          <p:cNvSpPr txBox="1"/>
          <p:nvPr/>
        </p:nvSpPr>
        <p:spPr>
          <a:xfrm>
            <a:off x="6880860" y="3038982"/>
            <a:ext cx="3795331" cy="31369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0B1B33"/>
                </a:solidFill>
                <a:latin typeface="Segoe UI"/>
              </a:rPr>
              <a:t>One bus route or municipal fleet is enough to start</a:t>
            </a:r>
          </a:p>
        </p:txBody>
      </p:sp>
      <p:sp>
        <p:nvSpPr>
          <p:cNvPr id="17453" name="TextBox 17452"/>
          <p:cNvSpPr txBox="1"/>
          <p:nvPr/>
        </p:nvSpPr>
        <p:spPr>
          <a:xfrm>
            <a:off x="6880860" y="3468750"/>
            <a:ext cx="3407283" cy="31369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0B1B33"/>
                </a:solidFill>
                <a:latin typeface="Segoe UI"/>
              </a:rPr>
              <a:t>Six of us: one app, one server, one dashboard</a:t>
            </a:r>
          </a:p>
        </p:txBody>
      </p:sp>
      <p:sp>
        <p:nvSpPr>
          <p:cNvPr id="17454" name="TextBox 17453"/>
          <p:cNvSpPr txBox="1"/>
          <p:nvPr/>
        </p:nvSpPr>
        <p:spPr>
          <a:xfrm>
            <a:off x="6569964" y="3861307"/>
            <a:ext cx="2702623" cy="482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2000" b="1" i="0">
                <a:solidFill>
                  <a:srgbClr val="0B1B33"/>
                </a:solidFill>
                <a:latin typeface="Segoe UI"/>
              </a:rPr>
              <a:t>What could go wrong</a:t>
            </a:r>
          </a:p>
        </p:txBody>
      </p:sp>
      <p:sp>
        <p:nvSpPr>
          <p:cNvPr id="17455" name="TextBox 17454"/>
          <p:cNvSpPr txBox="1"/>
          <p:nvPr/>
        </p:nvSpPr>
        <p:spPr>
          <a:xfrm>
            <a:off x="6771132" y="4437761"/>
            <a:ext cx="2402014" cy="32334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340" b="1" i="0">
                <a:solidFill>
                  <a:srgbClr val="0B1B33"/>
                </a:solidFill>
                <a:latin typeface="Segoe UI"/>
              </a:rPr>
              <a:t>Phones kill background apps</a:t>
            </a:r>
          </a:p>
        </p:txBody>
      </p:sp>
      <p:sp>
        <p:nvSpPr>
          <p:cNvPr id="17456" name="TextBox 17455"/>
          <p:cNvSpPr txBox="1"/>
          <p:nvPr/>
        </p:nvSpPr>
        <p:spPr>
          <a:xfrm>
            <a:off x="6771132" y="4885817"/>
            <a:ext cx="1862518" cy="32334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340" b="1" i="0">
                <a:solidFill>
                  <a:srgbClr val="0B1B33"/>
                </a:solidFill>
                <a:latin typeface="Segoe UI"/>
              </a:rPr>
              <a:t>GPS drifts by 20-30 m</a:t>
            </a:r>
          </a:p>
        </p:txBody>
      </p:sp>
      <p:sp>
        <p:nvSpPr>
          <p:cNvPr id="17457" name="TextBox 17456"/>
          <p:cNvSpPr txBox="1"/>
          <p:nvPr/>
        </p:nvSpPr>
        <p:spPr>
          <a:xfrm>
            <a:off x="6771132" y="5333873"/>
            <a:ext cx="2796349" cy="32334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340" b="1" i="0">
                <a:solidFill>
                  <a:srgbClr val="0B1B33"/>
                </a:solidFill>
                <a:latin typeface="Segoe UI"/>
              </a:rPr>
              <a:t>Speed breakers look like potholes</a:t>
            </a:r>
          </a:p>
        </p:txBody>
      </p:sp>
      <p:sp>
        <p:nvSpPr>
          <p:cNvPr id="17458" name="TextBox 17457"/>
          <p:cNvSpPr txBox="1"/>
          <p:nvPr/>
        </p:nvSpPr>
        <p:spPr>
          <a:xfrm>
            <a:off x="6771132" y="5781929"/>
            <a:ext cx="1817941" cy="32334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340" b="1" i="0">
                <a:solidFill>
                  <a:srgbClr val="0B1B33"/>
                </a:solidFill>
                <a:latin typeface="Segoe UI"/>
              </a:rPr>
              <a:t>Video can catch faces</a:t>
            </a:r>
          </a:p>
        </p:txBody>
      </p:sp>
      <p:pic>
        <p:nvPicPr>
          <p:cNvPr id="17459" name="Picture 17458" descr="sih_logo_202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41366" y="57097"/>
            <a:ext cx="2209120" cy="1122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691640" y="45720"/>
            <a:ext cx="7955279" cy="960120"/>
          </a:xfrm>
        </p:spPr>
        <p:txBody>
          <a:bodyPr wrap="square" anchor="ctr"/>
          <a:lstStyle/>
          <a:p>
            <a:pPr eaLnBrk="1" hangingPunct="1" algn="ctr"/>
            <a:r>
              <a:rPr lang="en-US" sz="34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2026 Idea Submission - Team localhost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=""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none" lIns="0" rIns="0"/>
          <a:lstStyle/>
          <a:p>
            <a:pPr algn="ctr"/>
            <a:r>
              <a:rPr sz="1200" b="1" i="0" u="none">
                <a:solidFill>
                  <a:srgbClr val="12294B"/>
                </a:solidFill>
                <a:latin typeface="Consolas"/>
              </a:rPr>
              <a:t>localhost</a:t>
            </a:r>
            <a:r>
              <a:rPr sz="1200" b="1" i="0" u="none">
                <a:solidFill>
                  <a:srgbClr val="125EC4"/>
                </a:solidFill>
                <a:latin typeface="Consolas"/>
              </a:rPr>
              <a:t>_</a:t>
            </a:r>
          </a:p>
        </p:txBody>
      </p:sp>
      <p:sp>
        <p:nvSpPr>
          <p:cNvPr id="17410" name="Rectangle 17409"/>
          <p:cNvSpPr/>
          <p:nvPr/>
        </p:nvSpPr>
        <p:spPr>
          <a:xfrm>
            <a:off x="274320" y="1097280"/>
            <a:ext cx="11640312" cy="5138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1" name="Rounded Rectangle 17410"/>
          <p:cNvSpPr/>
          <p:nvPr/>
        </p:nvSpPr>
        <p:spPr>
          <a:xfrm>
            <a:off x="292608" y="1554480"/>
            <a:ext cx="1853184" cy="1188720"/>
          </a:xfrm>
          <a:prstGeom prst="roundRect">
            <a:avLst>
              <a:gd name="adj" fmla="val 5384"/>
            </a:avLst>
          </a:prstGeom>
          <a:solidFill>
            <a:srgbClr val="FDECEA"/>
          </a:solidFill>
          <a:ln w="15240">
            <a:solidFill>
              <a:srgbClr val="D930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412" name="Rounded Rectangle 17411"/>
          <p:cNvSpPr/>
          <p:nvPr/>
        </p:nvSpPr>
        <p:spPr>
          <a:xfrm>
            <a:off x="2310384" y="1554480"/>
            <a:ext cx="1853184" cy="1188720"/>
          </a:xfrm>
          <a:prstGeom prst="roundRect">
            <a:avLst>
              <a:gd name="adj" fmla="val 5384"/>
            </a:avLst>
          </a:prstGeom>
          <a:solidFill>
            <a:srgbClr val="E8F1FE"/>
          </a:solidFill>
          <a:ln w="15240">
            <a:solidFill>
              <a:srgbClr val="1565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413" name="Rounded Rectangle 17412"/>
          <p:cNvSpPr/>
          <p:nvPr/>
        </p:nvSpPr>
        <p:spPr>
          <a:xfrm>
            <a:off x="4328160" y="1554480"/>
            <a:ext cx="1853184" cy="1188720"/>
          </a:xfrm>
          <a:prstGeom prst="roundRect">
            <a:avLst>
              <a:gd name="adj" fmla="val 5384"/>
            </a:avLst>
          </a:prstGeom>
          <a:solidFill>
            <a:srgbClr val="E6F6EC"/>
          </a:solidFill>
          <a:ln w="15240">
            <a:solidFill>
              <a:srgbClr val="178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414" name="Rectangle 17413"/>
          <p:cNvSpPr/>
          <p:nvPr/>
        </p:nvSpPr>
        <p:spPr>
          <a:xfrm>
            <a:off x="292608" y="3566160"/>
            <a:ext cx="5888736" cy="5669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5" name="Rectangle 17414"/>
          <p:cNvSpPr/>
          <p:nvPr/>
        </p:nvSpPr>
        <p:spPr>
          <a:xfrm>
            <a:off x="292608" y="4700016"/>
            <a:ext cx="5888736" cy="5669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6" name="Rounded Rectangle 17415"/>
          <p:cNvSpPr/>
          <p:nvPr/>
        </p:nvSpPr>
        <p:spPr>
          <a:xfrm>
            <a:off x="6437376" y="1883664"/>
            <a:ext cx="3575304" cy="27432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417" name="Rounded Rectangle 17416"/>
          <p:cNvSpPr/>
          <p:nvPr/>
        </p:nvSpPr>
        <p:spPr>
          <a:xfrm>
            <a:off x="6437376" y="2578608"/>
            <a:ext cx="3575304" cy="27432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418" name="Rounded Rectangle 17417"/>
          <p:cNvSpPr/>
          <p:nvPr/>
        </p:nvSpPr>
        <p:spPr>
          <a:xfrm>
            <a:off x="6437376" y="3273552"/>
            <a:ext cx="3575304" cy="27432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419" name="Rounded Rectangle 17418"/>
          <p:cNvSpPr/>
          <p:nvPr/>
        </p:nvSpPr>
        <p:spPr>
          <a:xfrm>
            <a:off x="6400800" y="3767327"/>
            <a:ext cx="5495544" cy="841248"/>
          </a:xfrm>
          <a:prstGeom prst="roundRect">
            <a:avLst>
              <a:gd name="adj" fmla="val 5434"/>
            </a:avLst>
          </a:prstGeom>
          <a:solidFill>
            <a:srgbClr val="E6F6EC"/>
          </a:solidFill>
          <a:ln w="17780">
            <a:solidFill>
              <a:srgbClr val="178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420" name="Rectangle 17419"/>
          <p:cNvSpPr/>
          <p:nvPr/>
        </p:nvSpPr>
        <p:spPr>
          <a:xfrm>
            <a:off x="310896" y="1445768"/>
            <a:ext cx="5653186" cy="16459"/>
          </a:xfrm>
          <a:prstGeom prst="rect">
            <a:avLst/>
          </a:prstGeom>
          <a:solidFill>
            <a:srgbClr val="D4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1" name="Rounded Rectangle 17420"/>
          <p:cNvSpPr/>
          <p:nvPr/>
        </p:nvSpPr>
        <p:spPr>
          <a:xfrm>
            <a:off x="292608" y="2999232"/>
            <a:ext cx="5888736" cy="566928"/>
          </a:xfrm>
          <a:prstGeom prst="roundRect">
            <a:avLst>
              <a:gd name="adj" fmla="val 9677"/>
            </a:avLst>
          </a:prstGeom>
          <a:solidFill>
            <a:srgbClr val="12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422" name="Rectangle 17421"/>
          <p:cNvSpPr/>
          <p:nvPr/>
        </p:nvSpPr>
        <p:spPr>
          <a:xfrm>
            <a:off x="292608" y="4125772"/>
            <a:ext cx="5888736" cy="7315"/>
          </a:xfrm>
          <a:prstGeom prst="rect">
            <a:avLst/>
          </a:prstGeom>
          <a:solidFill>
            <a:srgbClr val="D4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3" name="Rectangle 17422"/>
          <p:cNvSpPr/>
          <p:nvPr/>
        </p:nvSpPr>
        <p:spPr>
          <a:xfrm>
            <a:off x="292608" y="4692700"/>
            <a:ext cx="5888736" cy="7315"/>
          </a:xfrm>
          <a:prstGeom prst="rect">
            <a:avLst/>
          </a:prstGeom>
          <a:solidFill>
            <a:srgbClr val="D4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4" name="Rectangle 17423"/>
          <p:cNvSpPr/>
          <p:nvPr/>
        </p:nvSpPr>
        <p:spPr>
          <a:xfrm>
            <a:off x="292608" y="5259628"/>
            <a:ext cx="5888736" cy="7315"/>
          </a:xfrm>
          <a:prstGeom prst="rect">
            <a:avLst/>
          </a:prstGeom>
          <a:solidFill>
            <a:srgbClr val="D4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5" name="Rectangle 17424"/>
          <p:cNvSpPr/>
          <p:nvPr/>
        </p:nvSpPr>
        <p:spPr>
          <a:xfrm>
            <a:off x="292608" y="5826556"/>
            <a:ext cx="5888736" cy="7315"/>
          </a:xfrm>
          <a:prstGeom prst="rect">
            <a:avLst/>
          </a:prstGeom>
          <a:solidFill>
            <a:srgbClr val="D4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6" name="Rectangle 17425"/>
          <p:cNvSpPr/>
          <p:nvPr/>
        </p:nvSpPr>
        <p:spPr>
          <a:xfrm>
            <a:off x="6400800" y="1445768"/>
            <a:ext cx="5165811" cy="16459"/>
          </a:xfrm>
          <a:prstGeom prst="rect">
            <a:avLst/>
          </a:prstGeom>
          <a:solidFill>
            <a:srgbClr val="D4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7" name="Rounded Rectangle 17426"/>
          <p:cNvSpPr/>
          <p:nvPr/>
        </p:nvSpPr>
        <p:spPr>
          <a:xfrm>
            <a:off x="6437376" y="1883664"/>
            <a:ext cx="3575304" cy="274320"/>
          </a:xfrm>
          <a:prstGeom prst="roundRect">
            <a:avLst>
              <a:gd name="adj" fmla="val 10000"/>
            </a:avLst>
          </a:prstGeom>
          <a:solidFill>
            <a:srgbClr val="D930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428" name="Rounded Rectangle 17427"/>
          <p:cNvSpPr/>
          <p:nvPr/>
        </p:nvSpPr>
        <p:spPr>
          <a:xfrm>
            <a:off x="6437376" y="2578608"/>
            <a:ext cx="1501627" cy="274320"/>
          </a:xfrm>
          <a:prstGeom prst="roundRect">
            <a:avLst>
              <a:gd name="adj" fmla="val 10000"/>
            </a:avLst>
          </a:prstGeom>
          <a:solidFill>
            <a:srgbClr val="6B7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429" name="Rounded Rectangle 17428"/>
          <p:cNvSpPr/>
          <p:nvPr/>
        </p:nvSpPr>
        <p:spPr>
          <a:xfrm>
            <a:off x="6437376" y="3273552"/>
            <a:ext cx="71506" cy="274320"/>
          </a:xfrm>
          <a:prstGeom prst="roundRect">
            <a:avLst>
              <a:gd name="adj" fmla="val 38363"/>
            </a:avLst>
          </a:prstGeom>
          <a:solidFill>
            <a:srgbClr val="178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430" name="Rectangle 17429"/>
          <p:cNvSpPr/>
          <p:nvPr/>
        </p:nvSpPr>
        <p:spPr>
          <a:xfrm>
            <a:off x="6400800" y="5053837"/>
            <a:ext cx="4726167" cy="16459"/>
          </a:xfrm>
          <a:prstGeom prst="rect">
            <a:avLst/>
          </a:prstGeom>
          <a:solidFill>
            <a:srgbClr val="D4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1" name="TextBox 17430"/>
          <p:cNvSpPr txBox="1"/>
          <p:nvPr/>
        </p:nvSpPr>
        <p:spPr>
          <a:xfrm>
            <a:off x="678610" y="3130677"/>
            <a:ext cx="464629" cy="30403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1260" b="1" i="0">
                <a:solidFill>
                  <a:srgbClr val="FFFFFF"/>
                </a:solidFill>
                <a:latin typeface="Segoe UI"/>
              </a:rPr>
              <a:t>Who</a:t>
            </a:r>
          </a:p>
        </p:txBody>
      </p:sp>
      <p:sp>
        <p:nvSpPr>
          <p:cNvPr id="17432" name="TextBox 17431"/>
          <p:cNvSpPr txBox="1"/>
          <p:nvPr/>
        </p:nvSpPr>
        <p:spPr>
          <a:xfrm>
            <a:off x="2427526" y="3130677"/>
            <a:ext cx="558927" cy="30403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1260" b="1" i="0">
                <a:solidFill>
                  <a:srgbClr val="FFFFFF"/>
                </a:solidFill>
                <a:latin typeface="Segoe UI"/>
              </a:rPr>
              <a:t>Today</a:t>
            </a:r>
          </a:p>
        </p:txBody>
      </p:sp>
      <p:sp>
        <p:nvSpPr>
          <p:cNvPr id="17433" name="TextBox 17432"/>
          <p:cNvSpPr txBox="1"/>
          <p:nvPr/>
        </p:nvSpPr>
        <p:spPr>
          <a:xfrm>
            <a:off x="4580983" y="3130677"/>
            <a:ext cx="904113" cy="30403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1260" b="1" i="0">
                <a:solidFill>
                  <a:srgbClr val="FFFFFF"/>
                </a:solidFill>
                <a:latin typeface="Segoe UI"/>
              </a:rPr>
              <a:t>With SETU</a:t>
            </a:r>
          </a:p>
        </p:txBody>
      </p:sp>
      <p:sp>
        <p:nvSpPr>
          <p:cNvPr id="17434" name="TextBox 17433"/>
          <p:cNvSpPr txBox="1"/>
          <p:nvPr/>
        </p:nvSpPr>
        <p:spPr>
          <a:xfrm>
            <a:off x="564024" y="3697605"/>
            <a:ext cx="693801" cy="30403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1260" b="1" i="0">
                <a:solidFill>
                  <a:srgbClr val="3C4C63"/>
                </a:solidFill>
                <a:latin typeface="Segoe UI"/>
              </a:rPr>
              <a:t>Citizens</a:t>
            </a:r>
          </a:p>
        </p:txBody>
      </p:sp>
      <p:sp>
        <p:nvSpPr>
          <p:cNvPr id="17435" name="TextBox 17434"/>
          <p:cNvSpPr txBox="1"/>
          <p:nvPr/>
        </p:nvSpPr>
        <p:spPr>
          <a:xfrm>
            <a:off x="1549130" y="3700621"/>
            <a:ext cx="2315718" cy="29800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1235" b="0" i="0">
                <a:solidFill>
                  <a:srgbClr val="3C4C63"/>
                </a:solidFill>
                <a:latin typeface="Segoe UI"/>
              </a:rPr>
              <a:t>no warning, nobody answerable</a:t>
            </a:r>
          </a:p>
        </p:txBody>
      </p:sp>
      <p:sp>
        <p:nvSpPr>
          <p:cNvPr id="17436" name="TextBox 17435"/>
          <p:cNvSpPr txBox="1"/>
          <p:nvPr/>
        </p:nvSpPr>
        <p:spPr>
          <a:xfrm>
            <a:off x="3885754" y="3700621"/>
            <a:ext cx="2294572" cy="29800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1235" b="1" i="0">
                <a:solidFill>
                  <a:srgbClr val="0E9594"/>
                </a:solidFill>
                <a:latin typeface="Segoe UI"/>
              </a:rPr>
              <a:t>safer roads, repairs on a clock</a:t>
            </a:r>
          </a:p>
        </p:txBody>
      </p:sp>
      <p:sp>
        <p:nvSpPr>
          <p:cNvPr id="17437" name="TextBox 17436"/>
          <p:cNvSpPr txBox="1"/>
          <p:nvPr/>
        </p:nvSpPr>
        <p:spPr>
          <a:xfrm>
            <a:off x="387145" y="4264533"/>
            <a:ext cx="1047559" cy="30403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1260" b="1" i="0">
                <a:solidFill>
                  <a:srgbClr val="3C4C63"/>
                </a:solidFill>
                <a:latin typeface="Segoe UI"/>
              </a:rPr>
              <a:t>Municipality</a:t>
            </a:r>
          </a:p>
        </p:txBody>
      </p:sp>
      <p:sp>
        <p:nvSpPr>
          <p:cNvPr id="17438" name="TextBox 17437"/>
          <p:cNvSpPr txBox="1"/>
          <p:nvPr/>
        </p:nvSpPr>
        <p:spPr>
          <a:xfrm>
            <a:off x="1797733" y="4264533"/>
            <a:ext cx="1818513" cy="30403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1260" b="0" i="0">
                <a:solidFill>
                  <a:srgbClr val="3C4C63"/>
                </a:solidFill>
                <a:latin typeface="Segoe UI"/>
              </a:rPr>
              <a:t>costly audits, guesswork</a:t>
            </a:r>
          </a:p>
        </p:txBody>
      </p:sp>
      <p:sp>
        <p:nvSpPr>
          <p:cNvPr id="17439" name="TextBox 17438"/>
          <p:cNvSpPr txBox="1"/>
          <p:nvPr/>
        </p:nvSpPr>
        <p:spPr>
          <a:xfrm>
            <a:off x="4051203" y="4264533"/>
            <a:ext cx="1963674" cy="30403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1260" b="1" i="0">
                <a:solidFill>
                  <a:srgbClr val="0E9594"/>
                </a:solidFill>
                <a:latin typeface="Segoe UI"/>
              </a:rPr>
              <a:t>a ranked repair list, daily</a:t>
            </a:r>
          </a:p>
        </p:txBody>
      </p:sp>
      <p:sp>
        <p:nvSpPr>
          <p:cNvPr id="17440" name="TextBox 17439"/>
          <p:cNvSpPr txBox="1"/>
          <p:nvPr/>
        </p:nvSpPr>
        <p:spPr>
          <a:xfrm>
            <a:off x="381144" y="4831461"/>
            <a:ext cx="1059561" cy="30403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1260" b="1" i="0">
                <a:solidFill>
                  <a:srgbClr val="3C4C63"/>
                </a:solidFill>
                <a:latin typeface="Segoe UI"/>
              </a:rPr>
              <a:t>NHAI / PWD</a:t>
            </a:r>
          </a:p>
        </p:txBody>
      </p:sp>
      <p:sp>
        <p:nvSpPr>
          <p:cNvPr id="17441" name="TextBox 17440"/>
          <p:cNvSpPr txBox="1"/>
          <p:nvPr/>
        </p:nvSpPr>
        <p:spPr>
          <a:xfrm>
            <a:off x="1856026" y="4831461"/>
            <a:ext cx="1701927" cy="30403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1260" b="0" i="0">
                <a:solidFill>
                  <a:srgbClr val="3C4C63"/>
                </a:solidFill>
                <a:latin typeface="Segoe UI"/>
              </a:rPr>
              <a:t>one survey pass a year</a:t>
            </a:r>
          </a:p>
        </p:txBody>
      </p:sp>
      <p:sp>
        <p:nvSpPr>
          <p:cNvPr id="17442" name="TextBox 17441"/>
          <p:cNvSpPr txBox="1"/>
          <p:nvPr/>
        </p:nvSpPr>
        <p:spPr>
          <a:xfrm>
            <a:off x="3973479" y="4831461"/>
            <a:ext cx="2119122" cy="30403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1260" b="1" i="0">
                <a:solidFill>
                  <a:srgbClr val="0E9594"/>
                </a:solidFill>
                <a:latin typeface="Segoe UI"/>
              </a:rPr>
              <a:t>every lane that gets driven</a:t>
            </a:r>
          </a:p>
        </p:txBody>
      </p:sp>
      <p:sp>
        <p:nvSpPr>
          <p:cNvPr id="17443" name="TextBox 17442"/>
          <p:cNvSpPr txBox="1"/>
          <p:nvPr/>
        </p:nvSpPr>
        <p:spPr>
          <a:xfrm>
            <a:off x="406290" y="5398389"/>
            <a:ext cx="1009269" cy="30403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1260" b="1" i="0">
                <a:solidFill>
                  <a:srgbClr val="3C4C63"/>
                </a:solidFill>
                <a:latin typeface="Segoe UI"/>
              </a:rPr>
              <a:t>Gig workers</a:t>
            </a:r>
          </a:p>
        </p:txBody>
      </p:sp>
      <p:sp>
        <p:nvSpPr>
          <p:cNvPr id="17444" name="TextBox 17443"/>
          <p:cNvSpPr txBox="1"/>
          <p:nvPr/>
        </p:nvSpPr>
        <p:spPr>
          <a:xfrm>
            <a:off x="1723724" y="5398389"/>
            <a:ext cx="1966531" cy="30403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1260" b="0" i="0">
                <a:solidFill>
                  <a:srgbClr val="3C4C63"/>
                </a:solidFill>
                <a:latin typeface="Segoe UI"/>
              </a:rPr>
              <a:t>vehicle damage, back pain</a:t>
            </a:r>
          </a:p>
        </p:txBody>
      </p:sp>
      <p:sp>
        <p:nvSpPr>
          <p:cNvPr id="17445" name="TextBox 17444"/>
          <p:cNvSpPr txBox="1"/>
          <p:nvPr/>
        </p:nvSpPr>
        <p:spPr>
          <a:xfrm>
            <a:off x="3889183" y="5407437"/>
            <a:ext cx="2287714" cy="28594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1185" b="1" i="0">
                <a:solidFill>
                  <a:srgbClr val="0E9594"/>
                </a:solidFill>
                <a:latin typeface="Segoe UI"/>
              </a:rPr>
              <a:t>warnings ahead, no extra work</a:t>
            </a:r>
          </a:p>
        </p:txBody>
      </p:sp>
      <p:sp>
        <p:nvSpPr>
          <p:cNvPr id="17446" name="Oval 17445"/>
          <p:cNvSpPr/>
          <p:nvPr/>
        </p:nvSpPr>
        <p:spPr>
          <a:xfrm>
            <a:off x="6458407" y="5245430"/>
            <a:ext cx="58521" cy="58521"/>
          </a:xfrm>
          <a:prstGeom prst="ellipse">
            <a:avLst/>
          </a:prstGeom>
          <a:solidFill>
            <a:srgbClr val="1565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7" name="Oval 17446"/>
          <p:cNvSpPr/>
          <p:nvPr/>
        </p:nvSpPr>
        <p:spPr>
          <a:xfrm>
            <a:off x="6458407" y="5564098"/>
            <a:ext cx="58521" cy="58521"/>
          </a:xfrm>
          <a:prstGeom prst="ellipse">
            <a:avLst/>
          </a:prstGeom>
          <a:solidFill>
            <a:srgbClr val="1565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8" name="Oval 17447"/>
          <p:cNvSpPr/>
          <p:nvPr/>
        </p:nvSpPr>
        <p:spPr>
          <a:xfrm>
            <a:off x="6458407" y="5882766"/>
            <a:ext cx="58521" cy="58521"/>
          </a:xfrm>
          <a:prstGeom prst="ellipse">
            <a:avLst/>
          </a:prstGeom>
          <a:solidFill>
            <a:srgbClr val="1565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9" name="TextBox 17448"/>
          <p:cNvSpPr txBox="1"/>
          <p:nvPr/>
        </p:nvSpPr>
        <p:spPr>
          <a:xfrm>
            <a:off x="260603" y="1008379"/>
            <a:ext cx="3575875" cy="482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2000" b="1" i="0">
                <a:solidFill>
                  <a:srgbClr val="0B1B33"/>
                </a:solidFill>
                <a:latin typeface="Segoe UI"/>
              </a:rPr>
              <a:t>What changes on the ground</a:t>
            </a:r>
          </a:p>
        </p:txBody>
      </p:sp>
      <p:sp>
        <p:nvSpPr>
          <p:cNvPr id="17450" name="TextBox 17449"/>
          <p:cNvSpPr txBox="1"/>
          <p:nvPr/>
        </p:nvSpPr>
        <p:spPr>
          <a:xfrm>
            <a:off x="919734" y="1668018"/>
            <a:ext cx="598932" cy="723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3000" b="1" i="0">
                <a:solidFill>
                  <a:srgbClr val="D93025"/>
                </a:solidFill>
                <a:latin typeface="Segoe UI"/>
              </a:rPr>
              <a:t>6+</a:t>
            </a:r>
          </a:p>
        </p:txBody>
      </p:sp>
      <p:sp>
        <p:nvSpPr>
          <p:cNvPr id="17451" name="TextBox 17450"/>
          <p:cNvSpPr txBox="1"/>
          <p:nvPr/>
        </p:nvSpPr>
        <p:spPr>
          <a:xfrm>
            <a:off x="617982" y="2144293"/>
            <a:ext cx="1202436" cy="29438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1220" b="1" i="0">
                <a:solidFill>
                  <a:srgbClr val="0B1B33"/>
                </a:solidFill>
                <a:latin typeface="Segoe UI"/>
              </a:rPr>
              <a:t>DEATHS A DAY</a:t>
            </a:r>
          </a:p>
        </p:txBody>
      </p:sp>
      <p:sp>
        <p:nvSpPr>
          <p:cNvPr id="17452" name="TextBox 17451"/>
          <p:cNvSpPr txBox="1"/>
          <p:nvPr/>
        </p:nvSpPr>
        <p:spPr>
          <a:xfrm>
            <a:off x="441960" y="2339467"/>
            <a:ext cx="1554480" cy="25577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1060" b="0" i="0">
                <a:solidFill>
                  <a:srgbClr val="6B7A90"/>
                </a:solidFill>
                <a:latin typeface="Segoe UI"/>
              </a:rPr>
              <a:t>pothole crashes, MoRTH</a:t>
            </a:r>
          </a:p>
        </p:txBody>
      </p:sp>
      <p:sp>
        <p:nvSpPr>
          <p:cNvPr id="17453" name="TextBox 17452"/>
          <p:cNvSpPr txBox="1"/>
          <p:nvPr/>
        </p:nvSpPr>
        <p:spPr>
          <a:xfrm>
            <a:off x="2728341" y="1668018"/>
            <a:ext cx="1017270" cy="723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3000" b="1" i="0">
                <a:solidFill>
                  <a:srgbClr val="1565D8"/>
                </a:solidFill>
                <a:latin typeface="Segoe UI"/>
              </a:rPr>
              <a:t>Daily</a:t>
            </a:r>
          </a:p>
        </p:txBody>
      </p:sp>
      <p:sp>
        <p:nvSpPr>
          <p:cNvPr id="17454" name="TextBox 17453"/>
          <p:cNvSpPr txBox="1"/>
          <p:nvPr/>
        </p:nvSpPr>
        <p:spPr>
          <a:xfrm>
            <a:off x="2693765" y="2144293"/>
            <a:ext cx="1086421" cy="29438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1220" b="1" i="0">
                <a:solidFill>
                  <a:srgbClr val="0B1B33"/>
                </a:solidFill>
                <a:latin typeface="Segoe UI"/>
              </a:rPr>
              <a:t>ROAD CHECK</a:t>
            </a:r>
          </a:p>
        </p:txBody>
      </p:sp>
      <p:sp>
        <p:nvSpPr>
          <p:cNvPr id="17455" name="TextBox 17454"/>
          <p:cNvSpPr txBox="1"/>
          <p:nvPr/>
        </p:nvSpPr>
        <p:spPr>
          <a:xfrm>
            <a:off x="2532888" y="2339467"/>
            <a:ext cx="1408176" cy="25577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1060" b="0" i="0">
                <a:solidFill>
                  <a:srgbClr val="6B7A90"/>
                </a:solidFill>
                <a:latin typeface="Segoe UI"/>
              </a:rPr>
              <a:t>instead of once a year</a:t>
            </a:r>
          </a:p>
        </p:txBody>
      </p:sp>
      <p:sp>
        <p:nvSpPr>
          <p:cNvPr id="17456" name="TextBox 17455"/>
          <p:cNvSpPr txBox="1"/>
          <p:nvPr/>
        </p:nvSpPr>
        <p:spPr>
          <a:xfrm>
            <a:off x="4705826" y="1668018"/>
            <a:ext cx="1097851" cy="723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3000" b="1" i="0">
                <a:solidFill>
                  <a:srgbClr val="178A4C"/>
                </a:solidFill>
                <a:latin typeface="Segoe UI"/>
              </a:rPr>
              <a:t>100%</a:t>
            </a:r>
          </a:p>
        </p:txBody>
      </p:sp>
      <p:sp>
        <p:nvSpPr>
          <p:cNvPr id="17457" name="TextBox 17456"/>
          <p:cNvSpPr txBox="1"/>
          <p:nvPr/>
        </p:nvSpPr>
        <p:spPr>
          <a:xfrm>
            <a:off x="4523803" y="2144293"/>
            <a:ext cx="1461897" cy="29438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1220" b="1" i="0">
                <a:solidFill>
                  <a:srgbClr val="0B1B33"/>
                </a:solidFill>
                <a:latin typeface="Segoe UI"/>
              </a:rPr>
              <a:t>REPAIRS CHECKED</a:t>
            </a:r>
          </a:p>
        </p:txBody>
      </p:sp>
      <p:sp>
        <p:nvSpPr>
          <p:cNvPr id="17458" name="TextBox 17457"/>
          <p:cNvSpPr txBox="1"/>
          <p:nvPr/>
        </p:nvSpPr>
        <p:spPr>
          <a:xfrm>
            <a:off x="4440650" y="2339467"/>
            <a:ext cx="1628203" cy="25577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1060" b="0" i="0">
                <a:solidFill>
                  <a:srgbClr val="6B7A90"/>
                </a:solidFill>
                <a:latin typeface="Segoe UI"/>
              </a:rPr>
              <a:t>evidence before and after</a:t>
            </a:r>
          </a:p>
        </p:txBody>
      </p:sp>
      <p:sp>
        <p:nvSpPr>
          <p:cNvPr id="17459" name="Rounded Rectangle 17458"/>
          <p:cNvSpPr/>
          <p:nvPr/>
        </p:nvSpPr>
        <p:spPr>
          <a:xfrm>
            <a:off x="3884736" y="2999232"/>
            <a:ext cx="2296607" cy="2834640"/>
          </a:xfrm>
          <a:prstGeom prst="roundRect">
            <a:avLst>
              <a:gd name="adj" fmla="val 1990"/>
            </a:avLst>
          </a:prstGeom>
          <a:noFill/>
          <a:ln w="20320">
            <a:solidFill>
              <a:srgbClr val="0E95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460" name="TextBox 17459"/>
          <p:cNvSpPr txBox="1"/>
          <p:nvPr/>
        </p:nvSpPr>
        <p:spPr>
          <a:xfrm>
            <a:off x="6350508" y="1008379"/>
            <a:ext cx="4506277" cy="482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2000" b="1" i="0">
                <a:solidFill>
                  <a:srgbClr val="0B1B33"/>
                </a:solidFill>
                <a:latin typeface="Segoe UI"/>
              </a:rPr>
              <a:t>What it costs to confirm one pothole</a:t>
            </a:r>
          </a:p>
        </p:txBody>
      </p:sp>
      <p:sp>
        <p:nvSpPr>
          <p:cNvPr id="17461" name="TextBox 17460"/>
          <p:cNvSpPr txBox="1"/>
          <p:nvPr/>
        </p:nvSpPr>
        <p:spPr>
          <a:xfrm>
            <a:off x="6387084" y="1571625"/>
            <a:ext cx="2277999" cy="30403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60" b="0" i="0">
                <a:solidFill>
                  <a:srgbClr val="0B1B33"/>
                </a:solidFill>
                <a:latin typeface="Segoe UI"/>
              </a:rPr>
              <a:t>Survey vehicle or manual audit</a:t>
            </a:r>
          </a:p>
        </p:txBody>
      </p:sp>
      <p:sp>
        <p:nvSpPr>
          <p:cNvPr id="17462" name="TextBox 17461"/>
          <p:cNvSpPr txBox="1"/>
          <p:nvPr/>
        </p:nvSpPr>
        <p:spPr>
          <a:xfrm>
            <a:off x="10090404" y="1873123"/>
            <a:ext cx="856107" cy="31369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300" b="1" i="0">
                <a:solidFill>
                  <a:srgbClr val="D93025"/>
                </a:solidFill>
                <a:latin typeface="Segoe UI"/>
              </a:rPr>
              <a:t>Rs 17,693</a:t>
            </a:r>
          </a:p>
        </p:txBody>
      </p:sp>
      <p:sp>
        <p:nvSpPr>
          <p:cNvPr id="17463" name="TextBox 17462"/>
          <p:cNvSpPr txBox="1"/>
          <p:nvPr/>
        </p:nvSpPr>
        <p:spPr>
          <a:xfrm>
            <a:off x="6387084" y="2266569"/>
            <a:ext cx="1651635" cy="30403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60" b="0" i="0">
                <a:solidFill>
                  <a:srgbClr val="0B1B33"/>
                </a:solidFill>
                <a:latin typeface="Segoe UI"/>
              </a:rPr>
              <a:t>Citizen complaint app</a:t>
            </a:r>
          </a:p>
        </p:txBody>
      </p:sp>
      <p:sp>
        <p:nvSpPr>
          <p:cNvPr id="17464" name="TextBox 17463"/>
          <p:cNvSpPr txBox="1"/>
          <p:nvPr/>
        </p:nvSpPr>
        <p:spPr>
          <a:xfrm>
            <a:off x="10090404" y="2568067"/>
            <a:ext cx="1516761" cy="31369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300" b="1" i="0">
                <a:solidFill>
                  <a:srgbClr val="6B7A90"/>
                </a:solidFill>
                <a:latin typeface="Segoe UI"/>
              </a:rPr>
              <a:t>cannot be verified</a:t>
            </a:r>
          </a:p>
        </p:txBody>
      </p:sp>
      <p:sp>
        <p:nvSpPr>
          <p:cNvPr id="17465" name="TextBox 17464"/>
          <p:cNvSpPr txBox="1"/>
          <p:nvPr/>
        </p:nvSpPr>
        <p:spPr>
          <a:xfrm>
            <a:off x="6387084" y="2961512"/>
            <a:ext cx="470344" cy="30403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60" b="0" i="0">
                <a:solidFill>
                  <a:srgbClr val="0B1B33"/>
                </a:solidFill>
                <a:latin typeface="Segoe UI"/>
              </a:rPr>
              <a:t>SETU</a:t>
            </a:r>
          </a:p>
        </p:txBody>
      </p:sp>
      <p:sp>
        <p:nvSpPr>
          <p:cNvPr id="17466" name="TextBox 17465"/>
          <p:cNvSpPr txBox="1"/>
          <p:nvPr/>
        </p:nvSpPr>
        <p:spPr>
          <a:xfrm>
            <a:off x="10090404" y="3263010"/>
            <a:ext cx="430911" cy="31369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300" b="1" i="0">
                <a:solidFill>
                  <a:srgbClr val="178A4C"/>
                </a:solidFill>
                <a:latin typeface="Segoe UI"/>
              </a:rPr>
              <a:t>Rs 3</a:t>
            </a:r>
          </a:p>
        </p:txBody>
      </p:sp>
      <p:sp>
        <p:nvSpPr>
          <p:cNvPr id="17467" name="TextBox 17466"/>
          <p:cNvSpPr txBox="1"/>
          <p:nvPr/>
        </p:nvSpPr>
        <p:spPr>
          <a:xfrm>
            <a:off x="6588252" y="3838448"/>
            <a:ext cx="1379029" cy="77215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3200" b="1" i="0">
                <a:solidFill>
                  <a:srgbClr val="178A4C"/>
                </a:solidFill>
                <a:latin typeface="Segoe UI"/>
              </a:rPr>
              <a:t>5,900x</a:t>
            </a:r>
          </a:p>
        </p:txBody>
      </p:sp>
      <p:sp>
        <p:nvSpPr>
          <p:cNvPr id="17468" name="TextBox 17467"/>
          <p:cNvSpPr txBox="1"/>
          <p:nvPr/>
        </p:nvSpPr>
        <p:spPr>
          <a:xfrm>
            <a:off x="8234172" y="3840226"/>
            <a:ext cx="3361563" cy="29921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40" b="1" i="0">
                <a:solidFill>
                  <a:srgbClr val="0B1B33"/>
                </a:solidFill>
                <a:latin typeface="Segoe UI"/>
              </a:rPr>
              <a:t>cheaper for the same kind of proof, because</a:t>
            </a:r>
          </a:p>
        </p:txBody>
      </p:sp>
      <p:sp>
        <p:nvSpPr>
          <p:cNvPr id="17469" name="TextBox 17468"/>
          <p:cNvSpPr txBox="1"/>
          <p:nvPr/>
        </p:nvSpPr>
        <p:spPr>
          <a:xfrm>
            <a:off x="8234172" y="4038650"/>
            <a:ext cx="3259264" cy="29921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40" b="1" i="0">
                <a:solidFill>
                  <a:srgbClr val="0B1B33"/>
                </a:solidFill>
                <a:latin typeface="Segoe UI"/>
              </a:rPr>
              <a:t>the camera only runs when the sensors are</a:t>
            </a:r>
          </a:p>
        </p:txBody>
      </p:sp>
      <p:sp>
        <p:nvSpPr>
          <p:cNvPr id="17470" name="TextBox 17469"/>
          <p:cNvSpPr txBox="1"/>
          <p:nvPr/>
        </p:nvSpPr>
        <p:spPr>
          <a:xfrm>
            <a:off x="8234172" y="4237075"/>
            <a:ext cx="654939" cy="29921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40" b="1" i="0">
                <a:solidFill>
                  <a:srgbClr val="0B1B33"/>
                </a:solidFill>
                <a:latin typeface="Segoe UI"/>
              </a:rPr>
              <a:t>unsure.</a:t>
            </a:r>
          </a:p>
        </p:txBody>
      </p:sp>
      <p:sp>
        <p:nvSpPr>
          <p:cNvPr id="17471" name="TextBox 17470"/>
          <p:cNvSpPr txBox="1"/>
          <p:nvPr/>
        </p:nvSpPr>
        <p:spPr>
          <a:xfrm>
            <a:off x="6350508" y="4679314"/>
            <a:ext cx="3427857" cy="41020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700" b="1" i="0">
                <a:solidFill>
                  <a:srgbClr val="0B1B33"/>
                </a:solidFill>
                <a:latin typeface="Segoe UI"/>
              </a:rPr>
              <a:t>Side benefits we did not plan for</a:t>
            </a:r>
          </a:p>
        </p:txBody>
      </p:sp>
      <p:sp>
        <p:nvSpPr>
          <p:cNvPr id="17472" name="TextBox 17471"/>
          <p:cNvSpPr txBox="1"/>
          <p:nvPr/>
        </p:nvSpPr>
        <p:spPr>
          <a:xfrm>
            <a:off x="6533388" y="5112384"/>
            <a:ext cx="2966085" cy="34264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420" b="0" i="0">
                <a:solidFill>
                  <a:srgbClr val="0B1B33"/>
                </a:solidFill>
                <a:latin typeface="Segoe UI"/>
              </a:rPr>
              <a:t>Monsoon damage shows up in days</a:t>
            </a:r>
          </a:p>
        </p:txBody>
      </p:sp>
      <p:sp>
        <p:nvSpPr>
          <p:cNvPr id="17473" name="TextBox 17472"/>
          <p:cNvSpPr txBox="1"/>
          <p:nvPr/>
        </p:nvSpPr>
        <p:spPr>
          <a:xfrm>
            <a:off x="6533388" y="5431053"/>
            <a:ext cx="2827210" cy="34264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420" b="0" i="0">
                <a:solidFill>
                  <a:srgbClr val="0B1B33"/>
                </a:solidFill>
                <a:latin typeface="Segoe UI"/>
              </a:rPr>
              <a:t>Less fuel, fewer suspension repairs</a:t>
            </a:r>
          </a:p>
        </p:txBody>
      </p:sp>
      <p:sp>
        <p:nvSpPr>
          <p:cNvPr id="17474" name="TextBox 17473"/>
          <p:cNvSpPr txBox="1"/>
          <p:nvPr/>
        </p:nvSpPr>
        <p:spPr>
          <a:xfrm>
            <a:off x="6533388" y="5749721"/>
            <a:ext cx="2900362" cy="34264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420" b="0" i="0">
                <a:solidFill>
                  <a:srgbClr val="0B1B33"/>
                </a:solidFill>
                <a:latin typeface="Segoe UI"/>
              </a:rPr>
              <a:t>Proof of which contractor delivered</a:t>
            </a:r>
          </a:p>
        </p:txBody>
      </p:sp>
      <p:pic>
        <p:nvPicPr>
          <p:cNvPr id="17475" name="Picture 17474" descr="sih_logo_202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41366" y="57097"/>
            <a:ext cx="2209120" cy="1122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691640" y="45720"/>
            <a:ext cx="7955279" cy="960120"/>
          </a:xfrm>
        </p:spPr>
        <p:txBody>
          <a:bodyPr wrap="square" anchor="ctr"/>
          <a:lstStyle/>
          <a:p>
            <a:pPr eaLnBrk="1" hangingPunct="1" algn="ctr"/>
            <a:r>
              <a:rPr lang="en-US" sz="34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2026 Idea Submission - Team localhost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=""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none" lIns="0" rIns="0"/>
          <a:lstStyle/>
          <a:p>
            <a:pPr algn="ctr"/>
            <a:r>
              <a:rPr sz="1200" b="1" i="0" u="none">
                <a:solidFill>
                  <a:srgbClr val="12294B"/>
                </a:solidFill>
                <a:latin typeface="Consolas"/>
              </a:rPr>
              <a:t>localhost</a:t>
            </a:r>
            <a:r>
              <a:rPr sz="1200" b="1" i="0" u="none">
                <a:solidFill>
                  <a:srgbClr val="125EC4"/>
                </a:solidFill>
                <a:latin typeface="Consolas"/>
              </a:rPr>
              <a:t>_</a:t>
            </a:r>
          </a:p>
        </p:txBody>
      </p:sp>
      <p:pic>
        <p:nvPicPr>
          <p:cNvPr id="17411" name="Picture 17410" descr="sih_logo_202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41366" y="57097"/>
            <a:ext cx="2209120" cy="1122868"/>
          </a:xfrm>
          <a:prstGeom prst="rect">
            <a:avLst/>
          </a:prstGeom>
        </p:spPr>
      </p:pic>
      <p:sp>
        <p:nvSpPr>
          <p:cNvPr id="17412" name="TextBox 17411"/>
          <p:cNvSpPr txBox="1"/>
          <p:nvPr/>
        </p:nvSpPr>
        <p:spPr>
          <a:xfrm>
            <a:off x="384048" y="1042415"/>
            <a:ext cx="5532120" cy="36576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r>
              <a:rPr sz="1700" b="1" i="0" u="none">
                <a:solidFill>
                  <a:srgbClr val="0B1B33"/>
                </a:solidFill>
                <a:latin typeface="Calibri"/>
              </a:rPr>
              <a:t>Peer-reviewed foundation</a:t>
            </a:r>
          </a:p>
        </p:txBody>
      </p:sp>
      <p:sp>
        <p:nvSpPr>
          <p:cNvPr id="17413" name="TextBox 17412"/>
          <p:cNvSpPr txBox="1"/>
          <p:nvPr/>
        </p:nvSpPr>
        <p:spPr>
          <a:xfrm>
            <a:off x="384048" y="1517904"/>
            <a:ext cx="5532120" cy="100584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>
              <a:spcAft>
                <a:spcPts val="300"/>
              </a:spcAft>
            </a:pPr>
            <a:r>
              <a:rPr sz="1400" b="1" i="0" u="none">
                <a:solidFill>
                  <a:srgbClr val="0B1B33"/>
                </a:solidFill>
                <a:latin typeface="Calibri"/>
              </a:rPr>
              <a:t>•  Sattar, Li &amp; Chapman - Sensors 18:3845 (2018)</a:t>
            </a:r>
          </a:p>
          <a:p>
            <a:pPr>
              <a:spcAft>
                <a:spcPts val="300"/>
              </a:spcAft>
            </a:pPr>
            <a:r>
              <a:rPr sz="1250" b="0" i="0" u="none">
                <a:solidFill>
                  <a:srgbClr val="3C4C63"/>
                </a:solidFill>
                <a:latin typeface="Calibri"/>
              </a:rPr>
              <a:t>     A phone's motion sensor can spot road damage; sampling rate is the real limit, so we sample at 100 Hz.</a:t>
            </a:r>
          </a:p>
          <a:p>
            <a:r>
              <a:rPr sz="1200" b="0" i="0" u="sng">
                <a:solidFill>
                  <a:srgbClr val="125EC4"/>
                </a:solidFill>
                <a:latin typeface="Calibri"/>
                <a:hlinkClick r:id="rId5"/>
              </a:rPr>
              <a:t>     mdpi.com/1424-8220/18/11/3845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384048" y="2670048"/>
            <a:ext cx="5532120" cy="100584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>
              <a:spcAft>
                <a:spcPts val="300"/>
              </a:spcAft>
            </a:pPr>
            <a:r>
              <a:rPr sz="1400" b="1" i="0" u="none">
                <a:solidFill>
                  <a:srgbClr val="0B1B33"/>
                </a:solidFill>
                <a:latin typeface="Calibri"/>
              </a:rPr>
              <a:t>•  Wu, Wang, Hu et al. - Sensors 20:5564 (2020)</a:t>
            </a:r>
          </a:p>
          <a:p>
            <a:pPr>
              <a:spcAft>
                <a:spcPts val="300"/>
              </a:spcAft>
            </a:pPr>
            <a:r>
              <a:rPr sz="1250" b="0" i="0" u="none">
                <a:solidFill>
                  <a:srgbClr val="3C4C63"/>
                </a:solidFill>
                <a:latin typeface="Calibri"/>
              </a:rPr>
              <a:t>     88.5% precision and 75% recall per 10 m window - the base numbers our four-phone agreement math is built on.</a:t>
            </a:r>
          </a:p>
          <a:p>
            <a:r>
              <a:rPr sz="1200" b="0" i="0" u="sng">
                <a:solidFill>
                  <a:srgbClr val="125EC4"/>
                </a:solidFill>
                <a:latin typeface="Calibri"/>
                <a:hlinkClick r:id="rId6"/>
              </a:rPr>
              <a:t>     mdpi.com/1424-8220/20/19/5564</a:t>
            </a:r>
          </a:p>
        </p:txBody>
      </p:sp>
      <p:sp>
        <p:nvSpPr>
          <p:cNvPr id="17415" name="TextBox 17414"/>
          <p:cNvSpPr txBox="1"/>
          <p:nvPr/>
        </p:nvSpPr>
        <p:spPr>
          <a:xfrm>
            <a:off x="384048" y="3822191"/>
            <a:ext cx="5532120" cy="100584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>
              <a:spcAft>
                <a:spcPts val="300"/>
              </a:spcAft>
            </a:pPr>
            <a:r>
              <a:rPr sz="1400" b="1" i="0" u="none">
                <a:solidFill>
                  <a:srgbClr val="0B1B33"/>
                </a:solidFill>
                <a:latin typeface="Calibri"/>
              </a:rPr>
              <a:t>•  Sensors 20:409 (2020) - participatory sensing</a:t>
            </a:r>
          </a:p>
          <a:p>
            <a:pPr>
              <a:spcAft>
                <a:spcPts val="300"/>
              </a:spcAft>
            </a:pPr>
            <a:r>
              <a:rPr sz="1250" b="0" i="0" u="none">
                <a:solidFill>
                  <a:srgbClr val="3C4C63"/>
                </a:solidFill>
                <a:latin typeface="Calibri"/>
              </a:rPr>
              <a:t>     Measured GPS error of 27-32 m at speed, which is why we group inside 20 m after map-matching.</a:t>
            </a:r>
          </a:p>
          <a:p>
            <a:r>
              <a:rPr sz="1200" b="0" i="0" u="sng">
                <a:solidFill>
                  <a:srgbClr val="125EC4"/>
                </a:solidFill>
                <a:latin typeface="Calibri"/>
                <a:hlinkClick r:id="rId7"/>
              </a:rPr>
              <a:t>     mdpi.com/1424-8220/20/2/409</a:t>
            </a:r>
          </a:p>
        </p:txBody>
      </p:sp>
      <p:sp>
        <p:nvSpPr>
          <p:cNvPr id="17416" name="TextBox 17415"/>
          <p:cNvSpPr txBox="1"/>
          <p:nvPr/>
        </p:nvSpPr>
        <p:spPr>
          <a:xfrm>
            <a:off x="384048" y="4974336"/>
            <a:ext cx="5532120" cy="100584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>
              <a:spcAft>
                <a:spcPts val="300"/>
              </a:spcAft>
            </a:pPr>
            <a:r>
              <a:rPr sz="1400" b="1" i="0" u="none">
                <a:solidFill>
                  <a:srgbClr val="0B1B33"/>
                </a:solidFill>
                <a:latin typeface="Calibri"/>
              </a:rPr>
              <a:t>•  Arya, Maeda, Ghosh et al. - RDD2022 (arXiv)</a:t>
            </a:r>
          </a:p>
          <a:p>
            <a:pPr>
              <a:spcAft>
                <a:spcPts val="300"/>
              </a:spcAft>
            </a:pPr>
            <a:r>
              <a:rPr sz="1250" b="0" i="0" u="none">
                <a:solidFill>
                  <a:srgbClr val="3C4C63"/>
                </a:solidFill>
                <a:latin typeface="Calibri"/>
              </a:rPr>
              <a:t>     47,420 labelled road images from 6 countries including India - our training base for the vision model.</a:t>
            </a:r>
          </a:p>
          <a:p>
            <a:r>
              <a:rPr sz="1200" b="0" i="0" u="sng">
                <a:solidFill>
                  <a:srgbClr val="125EC4"/>
                </a:solidFill>
                <a:latin typeface="Calibri"/>
                <a:hlinkClick r:id="rId8"/>
              </a:rPr>
              <a:t>     arxiv.org/abs/2209.08538</a:t>
            </a:r>
          </a:p>
        </p:txBody>
      </p:sp>
      <p:sp>
        <p:nvSpPr>
          <p:cNvPr id="17417" name="TextBox 17416"/>
          <p:cNvSpPr txBox="1"/>
          <p:nvPr/>
        </p:nvSpPr>
        <p:spPr>
          <a:xfrm>
            <a:off x="6144768" y="1042415"/>
            <a:ext cx="5532120" cy="36576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r>
              <a:rPr sz="1700" b="1" i="0" u="none">
                <a:solidFill>
                  <a:srgbClr val="0B1B33"/>
                </a:solidFill>
                <a:latin typeface="Calibri"/>
              </a:rPr>
              <a:t>Government data and Indian field proof</a:t>
            </a:r>
          </a:p>
        </p:txBody>
      </p:sp>
      <p:sp>
        <p:nvSpPr>
          <p:cNvPr id="17418" name="TextBox 17417"/>
          <p:cNvSpPr txBox="1"/>
          <p:nvPr/>
        </p:nvSpPr>
        <p:spPr>
          <a:xfrm>
            <a:off x="6144768" y="1517904"/>
            <a:ext cx="5532120" cy="100584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>
              <a:spcAft>
                <a:spcPts val="300"/>
              </a:spcAft>
            </a:pPr>
            <a:r>
              <a:rPr sz="1400" b="1" i="0" u="none">
                <a:solidFill>
                  <a:srgbClr val="0B1B33"/>
                </a:solidFill>
                <a:latin typeface="Calibri"/>
              </a:rPr>
              <a:t>•  MoRTH - Road Accidents in India</a:t>
            </a:r>
          </a:p>
          <a:p>
            <a:pPr>
              <a:spcAft>
                <a:spcPts val="300"/>
              </a:spcAft>
            </a:pPr>
            <a:r>
              <a:rPr sz="1250" b="0" i="0" u="none">
                <a:solidFill>
                  <a:srgbClr val="3C4C63"/>
                </a:solidFill>
                <a:latin typeface="Calibri"/>
              </a:rPr>
              <a:t>     9,438 pothole-related deaths in 2020-24, up 53% in five years.</a:t>
            </a:r>
          </a:p>
          <a:p>
            <a:r>
              <a:rPr sz="1200" b="0" i="0" u="sng">
                <a:solidFill>
                  <a:srgbClr val="125EC4"/>
                </a:solidFill>
                <a:latin typeface="Calibri"/>
                <a:hlinkClick r:id="rId9"/>
              </a:rPr>
              <a:t>     morth.nic.in/road-accident-in-india</a:t>
            </a:r>
          </a:p>
        </p:txBody>
      </p:sp>
      <p:sp>
        <p:nvSpPr>
          <p:cNvPr id="17419" name="TextBox 17418"/>
          <p:cNvSpPr txBox="1"/>
          <p:nvPr/>
        </p:nvSpPr>
        <p:spPr>
          <a:xfrm>
            <a:off x="6144768" y="2670048"/>
            <a:ext cx="5532120" cy="100584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>
              <a:spcAft>
                <a:spcPts val="300"/>
              </a:spcAft>
            </a:pPr>
            <a:r>
              <a:rPr sz="1400" b="1" i="0" u="none">
                <a:solidFill>
                  <a:srgbClr val="0B1B33"/>
                </a:solidFill>
                <a:latin typeface="Calibri"/>
              </a:rPr>
              <a:t>•  NHAI Network Survey Vehicles</a:t>
            </a:r>
          </a:p>
          <a:p>
            <a:pPr>
              <a:spcAft>
                <a:spcPts val="300"/>
              </a:spcAft>
            </a:pPr>
            <a:r>
              <a:rPr sz="1250" b="0" i="0" u="none">
                <a:solidFill>
                  <a:srgbClr val="3C4C63"/>
                </a:solidFill>
                <a:latin typeface="Calibri"/>
              </a:rPr>
              <a:t>     The survey fleet covers ~20,933 km of highway about once a year, at high cost. We cover every lane driven.</a:t>
            </a:r>
          </a:p>
          <a:p>
            <a:r>
              <a:rPr sz="1200" b="0" i="0" u="sng">
                <a:solidFill>
                  <a:srgbClr val="125EC4"/>
                </a:solidFill>
                <a:latin typeface="Calibri"/>
                <a:hlinkClick r:id="rId10"/>
              </a:rPr>
              <a:t>     nhai.gov.in</a:t>
            </a:r>
          </a:p>
        </p:txBody>
      </p:sp>
      <p:sp>
        <p:nvSpPr>
          <p:cNvPr id="17420" name="TextBox 17419"/>
          <p:cNvSpPr txBox="1"/>
          <p:nvPr/>
        </p:nvSpPr>
        <p:spPr>
          <a:xfrm>
            <a:off x="6144768" y="3822191"/>
            <a:ext cx="5532120" cy="100584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>
              <a:spcAft>
                <a:spcPts val="300"/>
              </a:spcAft>
            </a:pPr>
            <a:r>
              <a:rPr sz="1400" b="1" i="0" u="none">
                <a:solidFill>
                  <a:srgbClr val="0B1B33"/>
                </a:solidFill>
                <a:latin typeface="Calibri"/>
              </a:rPr>
              <a:t>•  TrafficSense - Mohan, Padmanabhan &amp; Ramjee (MSR, 2008)</a:t>
            </a:r>
          </a:p>
          <a:p>
            <a:pPr>
              <a:spcAft>
                <a:spcPts val="300"/>
              </a:spcAft>
            </a:pPr>
            <a:r>
              <a:rPr sz="1250" b="0" i="0" u="none">
                <a:solidFill>
                  <a:srgbClr val="3C4C63"/>
                </a:solidFill>
                <a:latin typeface="Calibri"/>
              </a:rPr>
              <a:t>     Phones detected potholes and bumps on Bangalore roads 17 years ago - the idea is field-proven in Indian traffic.</a:t>
            </a:r>
          </a:p>
          <a:p>
            <a:r>
              <a:rPr sz="1200" b="0" i="0" u="sng">
                <a:solidFill>
                  <a:srgbClr val="125EC4"/>
                </a:solidFill>
                <a:latin typeface="Calibri"/>
                <a:hlinkClick r:id="rId11"/>
              </a:rPr>
              <a:t>     microsoft.com/research - TrafficSense (MSR-TR-2008-59)</a:t>
            </a:r>
          </a:p>
        </p:txBody>
      </p:sp>
      <p:sp>
        <p:nvSpPr>
          <p:cNvPr id="17421" name="TextBox 17420"/>
          <p:cNvSpPr txBox="1"/>
          <p:nvPr/>
        </p:nvSpPr>
        <p:spPr>
          <a:xfrm>
            <a:off x="6144768" y="4974336"/>
            <a:ext cx="5532120" cy="100584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>
              <a:spcAft>
                <a:spcPts val="300"/>
              </a:spcAft>
            </a:pPr>
            <a:r>
              <a:rPr sz="1400" b="1" i="0" u="none">
                <a:solidFill>
                  <a:srgbClr val="0B1B33"/>
                </a:solidFill>
                <a:latin typeface="Calibri"/>
              </a:rPr>
              <a:t>•  NITI Aayog Frontier Tech Hub - RoadMetrics</a:t>
            </a:r>
          </a:p>
          <a:p>
            <a:pPr>
              <a:spcAft>
                <a:spcPts val="300"/>
              </a:spcAft>
            </a:pPr>
            <a:r>
              <a:rPr sz="1250" b="0" i="0" u="none">
                <a:solidFill>
                  <a:srgbClr val="3C4C63"/>
                </a:solidFill>
                <a:latin typeface="Calibri"/>
              </a:rPr>
              <a:t>     An Indian phone-camera road-mapping startup: 50,000+ km mapped, adopted by Chennai. The market is real; we make it free.</a:t>
            </a:r>
          </a:p>
          <a:p>
            <a:r>
              <a:rPr sz="1200" b="0" i="0" u="sng">
                <a:solidFill>
                  <a:srgbClr val="125EC4"/>
                </a:solidFill>
                <a:latin typeface="Calibri"/>
                <a:hlinkClick r:id="rId12"/>
              </a:rPr>
              <a:t>     frontiertech.niti.gov.in - RoadMetrics story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7487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2025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147</cp:revision>
  <dcterms:created xsi:type="dcterms:W3CDTF">2013-12-12T18:46:50Z</dcterms:created>
  <dcterms:modified xsi:type="dcterms:W3CDTF">2025-06-26T06:39:00Z</dcterms:modified>
  <cp:category/>
</cp:coreProperties>
</file>