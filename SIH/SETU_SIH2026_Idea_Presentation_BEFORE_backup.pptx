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ww.mdpi.com/1424-8220/18/11/3845" TargetMode="External"/><Relationship Id="rId6" Type="http://schemas.openxmlformats.org/officeDocument/2006/relationships/hyperlink" Target="https://www.mdpi.com/1424-8220/20/19/5564" TargetMode="External"/><Relationship Id="rId7" Type="http://schemas.openxmlformats.org/officeDocument/2006/relationships/hyperlink" Target="https://www.mdpi.com/1424-8220/20/2/409" TargetMode="External"/><Relationship Id="rId8" Type="http://schemas.openxmlformats.org/officeDocument/2006/relationships/hyperlink" Target="https://arxiv.org/abs/2209.08538" TargetMode="External"/><Relationship Id="rId9" Type="http://schemas.openxmlformats.org/officeDocument/2006/relationships/hyperlink" Target="https://morth.nic.in/road-accident-in-india" TargetMode="External"/><Relationship Id="rId10" Type="http://schemas.openxmlformats.org/officeDocument/2006/relationships/hyperlink" Target="https://nhai.gov.in" TargetMode="External"/><Relationship Id="rId11" Type="http://schemas.openxmlformats.org/officeDocument/2006/relationships/hyperlink" Target="http://law.resource.org.s3.amazonaws.com/pub/in/bis/irc/irc.gov.in.082.2015.pdf" TargetMode="External"/><Relationship Id="rId12" Type="http://schemas.openxmlformats.org/officeDocument/2006/relationships/hyperlink" Target="https://www.meity.gov.in/data-protection-framewor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3584" y="932688"/>
            <a:ext cx="8531352" cy="914400"/>
          </a:xfrm>
        </p:spPr>
        <p:txBody>
          <a:bodyPr/>
          <a:lstStyle/>
          <a:p>
            <a:pPr algn="ctr"/>
            <a:r>
              <a:rPr sz="1900" b="1" i="0" u="none">
                <a:solidFill>
                  <a:srgbClr val="0B1B33"/>
                </a:solidFill>
                <a:latin typeface="Calibri"/>
              </a:rPr>
              <a:t>SETU  -  Sensor-Enabled Tracking of Urban-road-damage</a:t>
            </a:r>
          </a:p>
          <a:p>
            <a:pPr algn="ctr">
              <a:spcBef>
                <a:spcPts val="400"/>
              </a:spcBef>
            </a:pPr>
            <a:r>
              <a:rPr sz="1250" b="0" i="0" u="none">
                <a:solidFill>
                  <a:srgbClr val="6B7A90"/>
                </a:solidFill>
                <a:latin typeface="Calibri"/>
              </a:rPr>
              <a:t>Turning the phones already riding on Indian roads into a daily road-condition check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9184" y="2212848"/>
            <a:ext cx="5394960" cy="1554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 u="none">
                <a:solidFill>
                  <a:srgbClr val="0B1B33"/>
                </a:solidFill>
                <a:latin typeface="Calibri"/>
              </a:rPr>
              <a:t>Problem Statement ID:  </a:t>
            </a:r>
            <a:r>
              <a:rPr sz="1200" b="0" i="0" u="none">
                <a:solidFill>
                  <a:srgbClr val="3C4C63"/>
                </a:solidFill>
                <a:latin typeface="Calibri"/>
              </a:rPr>
              <a:t>SIH 2026 - Smart Automation (to be filled)</a:t>
            </a:r>
          </a:p>
          <a:p>
            <a:pPr>
              <a:spcAft>
                <a:spcPts val="600"/>
              </a:spcAft>
            </a:pPr>
            <a:r>
              <a:rPr sz="1200" b="1" i="0" u="none">
                <a:solidFill>
                  <a:srgbClr val="0B1B33"/>
                </a:solidFill>
                <a:latin typeface="Calibri"/>
              </a:rPr>
              <a:t>Problem Statement Title:  </a:t>
            </a:r>
            <a:r>
              <a:rPr sz="1200" b="0" i="0" u="none">
                <a:solidFill>
                  <a:srgbClr val="3C4C63"/>
                </a:solidFill>
                <a:latin typeface="Calibri"/>
              </a:rPr>
              <a:t>Crowdsourced Road Defect Intelligence for India</a:t>
            </a:r>
          </a:p>
          <a:p>
            <a:pPr>
              <a:spcAft>
                <a:spcPts val="600"/>
              </a:spcAft>
            </a:pPr>
            <a:r>
              <a:rPr sz="1200" b="1" i="0" u="none">
                <a:solidFill>
                  <a:srgbClr val="0B1B33"/>
                </a:solidFill>
                <a:latin typeface="Calibri"/>
              </a:rPr>
              <a:t>Theme:  </a:t>
            </a:r>
            <a:r>
              <a:rPr sz="1200" b="0" i="0" u="none">
                <a:solidFill>
                  <a:srgbClr val="3C4C63"/>
                </a:solidFill>
                <a:latin typeface="Calibri"/>
              </a:rPr>
              <a:t>Smart Automation</a:t>
            </a:r>
          </a:p>
          <a:p>
            <a:pPr>
              <a:spcAft>
                <a:spcPts val="600"/>
              </a:spcAft>
            </a:pPr>
            <a:r>
              <a:rPr sz="1200" b="1" i="0" u="none">
                <a:solidFill>
                  <a:srgbClr val="0B1B33"/>
                </a:solidFill>
                <a:latin typeface="Calibri"/>
              </a:rPr>
              <a:t>PS Category:  </a:t>
            </a:r>
            <a:r>
              <a:rPr sz="1200" b="0" i="0" u="none">
                <a:solidFill>
                  <a:srgbClr val="3C4C63"/>
                </a:solidFill>
                <a:latin typeface="Calibri"/>
              </a:rPr>
              <a:t>Software</a:t>
            </a:r>
          </a:p>
          <a:p>
            <a:pPr>
              <a:spcAft>
                <a:spcPts val="600"/>
              </a:spcAft>
            </a:pPr>
            <a:r>
              <a:rPr sz="1200" b="1" i="0" u="none">
                <a:solidFill>
                  <a:srgbClr val="0B1B33"/>
                </a:solidFill>
                <a:latin typeface="Calibri"/>
              </a:rPr>
              <a:t>Team ID:  </a:t>
            </a:r>
            <a:r>
              <a:rPr sz="1200" b="0" i="0" u="none">
                <a:solidFill>
                  <a:srgbClr val="3C4C63"/>
                </a:solidFill>
                <a:latin typeface="Calibri"/>
              </a:rPr>
              <a:t>To be filled</a:t>
            </a:r>
          </a:p>
          <a:p>
            <a:pPr>
              <a:spcAft>
                <a:spcPts val="600"/>
              </a:spcAft>
            </a:pPr>
            <a:r>
              <a:rPr sz="1200" b="1" i="0" u="none">
                <a:solidFill>
                  <a:srgbClr val="0B1B33"/>
                </a:solidFill>
                <a:latin typeface="Calibri"/>
              </a:rPr>
              <a:t>Team Name:  </a:t>
            </a:r>
            <a:r>
              <a:rPr sz="1200" b="0" i="0" u="none">
                <a:solidFill>
                  <a:srgbClr val="3C4C63"/>
                </a:solidFill>
                <a:latin typeface="Calibri"/>
              </a:rPr>
              <a:t>Team SETU</a:t>
            </a:r>
          </a:p>
        </p:txBody>
      </p:sp>
      <p:sp>
        <p:nvSpPr>
          <p:cNvPr id="1027" name="Rectangle 1026"/>
          <p:cNvSpPr/>
          <p:nvPr/>
        </p:nvSpPr>
        <p:spPr>
          <a:xfrm>
            <a:off x="329184" y="3877056"/>
            <a:ext cx="5138928" cy="21579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8" name="Rounded Rectangle 1027"/>
          <p:cNvSpPr/>
          <p:nvPr/>
        </p:nvSpPr>
        <p:spPr>
          <a:xfrm>
            <a:off x="347472" y="3895344"/>
            <a:ext cx="2468880" cy="1005840"/>
          </a:xfrm>
          <a:prstGeom prst="roundRect">
            <a:avLst>
              <a:gd name="adj" fmla="val 6363"/>
            </a:avLst>
          </a:prstGeom>
          <a:solidFill>
            <a:srgbClr val="FDECEA"/>
          </a:solidFill>
          <a:ln w="15240">
            <a:solidFill>
              <a:srgbClr val="D930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29" name="Rounded Rectangle 1028"/>
          <p:cNvSpPr/>
          <p:nvPr/>
        </p:nvSpPr>
        <p:spPr>
          <a:xfrm>
            <a:off x="2962656" y="3895344"/>
            <a:ext cx="2468880" cy="1005840"/>
          </a:xfrm>
          <a:prstGeom prst="roundRect">
            <a:avLst>
              <a:gd name="adj" fmla="val 6363"/>
            </a:avLst>
          </a:prstGeom>
          <a:solidFill>
            <a:srgbClr val="E8F1FE"/>
          </a:solidFill>
          <a:ln w="15240"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30" name="Rounded Rectangle 1029"/>
          <p:cNvSpPr/>
          <p:nvPr/>
        </p:nvSpPr>
        <p:spPr>
          <a:xfrm>
            <a:off x="347472" y="5010912"/>
            <a:ext cx="2468880" cy="1005840"/>
          </a:xfrm>
          <a:prstGeom prst="roundRect">
            <a:avLst>
              <a:gd name="adj" fmla="val 6363"/>
            </a:avLst>
          </a:prstGeom>
          <a:solidFill>
            <a:srgbClr val="E6F6EC"/>
          </a:solidFill>
          <a:ln w="15240">
            <a:solidFill>
              <a:srgbClr val="17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31" name="Rounded Rectangle 1030"/>
          <p:cNvSpPr/>
          <p:nvPr/>
        </p:nvSpPr>
        <p:spPr>
          <a:xfrm>
            <a:off x="2962656" y="5010912"/>
            <a:ext cx="2468880" cy="1005840"/>
          </a:xfrm>
          <a:prstGeom prst="roundRect">
            <a:avLst>
              <a:gd name="adj" fmla="val 6363"/>
            </a:avLst>
          </a:prstGeom>
          <a:solidFill>
            <a:srgbClr val="FFF0E4"/>
          </a:solidFill>
          <a:ln w="15240">
            <a:solidFill>
              <a:srgbClr val="FF7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32" name="Rounded Rectangle 1031"/>
          <p:cNvSpPr/>
          <p:nvPr/>
        </p:nvSpPr>
        <p:spPr>
          <a:xfrm>
            <a:off x="347472" y="3895344"/>
            <a:ext cx="59436" cy="1005840"/>
          </a:xfrm>
          <a:prstGeom prst="roundRect">
            <a:avLst>
              <a:gd name="adj" fmla="val 46153"/>
            </a:avLst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33" name="Rounded Rectangle 1032"/>
          <p:cNvSpPr/>
          <p:nvPr/>
        </p:nvSpPr>
        <p:spPr>
          <a:xfrm>
            <a:off x="2962656" y="3895344"/>
            <a:ext cx="59436" cy="1005840"/>
          </a:xfrm>
          <a:prstGeom prst="roundRect">
            <a:avLst>
              <a:gd name="adj" fmla="val 46153"/>
            </a:avLst>
          </a:prstGeom>
          <a:solidFill>
            <a:srgbClr val="156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34" name="Rounded Rectangle 1033"/>
          <p:cNvSpPr/>
          <p:nvPr/>
        </p:nvSpPr>
        <p:spPr>
          <a:xfrm>
            <a:off x="347472" y="5010912"/>
            <a:ext cx="59436" cy="1005840"/>
          </a:xfrm>
          <a:prstGeom prst="roundRect">
            <a:avLst>
              <a:gd name="adj" fmla="val 46153"/>
            </a:avLst>
          </a:prstGeom>
          <a:solidFill>
            <a:srgbClr val="17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35" name="Rounded Rectangle 1034"/>
          <p:cNvSpPr/>
          <p:nvPr/>
        </p:nvSpPr>
        <p:spPr>
          <a:xfrm>
            <a:off x="2962656" y="5010912"/>
            <a:ext cx="59436" cy="1005840"/>
          </a:xfrm>
          <a:prstGeom prst="roundRect">
            <a:avLst>
              <a:gd name="adj" fmla="val 46153"/>
            </a:avLst>
          </a:prstGeom>
          <a:solidFill>
            <a:srgbClr val="FF7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36" name="TextBox 1035"/>
          <p:cNvSpPr txBox="1"/>
          <p:nvPr/>
        </p:nvSpPr>
        <p:spPr>
          <a:xfrm>
            <a:off x="480060" y="3952113"/>
            <a:ext cx="648081" cy="3981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650" b="1" i="0">
                <a:solidFill>
                  <a:srgbClr val="D93025"/>
                </a:solidFill>
                <a:latin typeface="Segoe UI"/>
              </a:rPr>
              <a:t>9,438</a:t>
            </a:r>
          </a:p>
        </p:txBody>
      </p:sp>
      <p:sp>
        <p:nvSpPr>
          <p:cNvPr id="1037" name="TextBox 1036"/>
          <p:cNvSpPr txBox="1"/>
          <p:nvPr/>
        </p:nvSpPr>
        <p:spPr>
          <a:xfrm>
            <a:off x="480060" y="4355338"/>
            <a:ext cx="940689" cy="1833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60" b="1" i="0">
                <a:solidFill>
                  <a:srgbClr val="0B1B33"/>
                </a:solidFill>
                <a:latin typeface="Segoe UI"/>
              </a:rPr>
              <a:t>POTHOLE DEATHS</a:t>
            </a:r>
          </a:p>
        </p:txBody>
      </p:sp>
      <p:sp>
        <p:nvSpPr>
          <p:cNvPr id="1038" name="TextBox 1037"/>
          <p:cNvSpPr txBox="1"/>
          <p:nvPr/>
        </p:nvSpPr>
        <p:spPr>
          <a:xfrm>
            <a:off x="480060" y="4596193"/>
            <a:ext cx="1516189" cy="16649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90" b="0" i="0">
                <a:solidFill>
                  <a:srgbClr val="6B7A90"/>
                </a:solidFill>
                <a:latin typeface="Segoe UI"/>
              </a:rPr>
              <a:t>2020-24 (MoRTH), up 53% in 5 years</a:t>
            </a:r>
          </a:p>
        </p:txBody>
      </p:sp>
      <p:sp>
        <p:nvSpPr>
          <p:cNvPr id="1039" name="TextBox 1038"/>
          <p:cNvSpPr txBox="1"/>
          <p:nvPr/>
        </p:nvSpPr>
        <p:spPr>
          <a:xfrm>
            <a:off x="3095244" y="3952113"/>
            <a:ext cx="678370" cy="3981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650" b="1" i="0">
                <a:solidFill>
                  <a:srgbClr val="1565D8"/>
                </a:solidFill>
                <a:latin typeface="Segoe UI"/>
              </a:rPr>
              <a:t>1.2 Cr</a:t>
            </a:r>
          </a:p>
        </p:txBody>
      </p:sp>
      <p:sp>
        <p:nvSpPr>
          <p:cNvPr id="1040" name="TextBox 1039"/>
          <p:cNvSpPr txBox="1"/>
          <p:nvPr/>
        </p:nvSpPr>
        <p:spPr>
          <a:xfrm>
            <a:off x="3095244" y="4355338"/>
            <a:ext cx="1143000" cy="1833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60" b="1" i="0">
                <a:solidFill>
                  <a:srgbClr val="0B1B33"/>
                </a:solidFill>
                <a:latin typeface="Segoe UI"/>
              </a:rPr>
              <a:t>GIG-WORKER PHONES</a:t>
            </a:r>
          </a:p>
        </p:txBody>
      </p:sp>
      <p:sp>
        <p:nvSpPr>
          <p:cNvPr id="1041" name="TextBox 1040"/>
          <p:cNvSpPr txBox="1"/>
          <p:nvPr/>
        </p:nvSpPr>
        <p:spPr>
          <a:xfrm>
            <a:off x="3095244" y="4596193"/>
            <a:ext cx="1303019" cy="16649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90" b="0" i="0">
                <a:solidFill>
                  <a:srgbClr val="6B7A90"/>
                </a:solidFill>
                <a:latin typeface="Segoe UI"/>
              </a:rPr>
              <a:t>already on the road, 12 h a day</a:t>
            </a:r>
          </a:p>
        </p:txBody>
      </p:sp>
      <p:sp>
        <p:nvSpPr>
          <p:cNvPr id="1042" name="TextBox 1041"/>
          <p:cNvSpPr txBox="1"/>
          <p:nvPr/>
        </p:nvSpPr>
        <p:spPr>
          <a:xfrm>
            <a:off x="480060" y="5067681"/>
            <a:ext cx="517207" cy="3981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650" b="1" i="0">
                <a:solidFill>
                  <a:srgbClr val="178A4C"/>
                </a:solidFill>
                <a:latin typeface="Segoe UI"/>
              </a:rPr>
              <a:t>Rs 3</a:t>
            </a:r>
          </a:p>
        </p:txBody>
      </p:sp>
      <p:sp>
        <p:nvSpPr>
          <p:cNvPr id="1043" name="TextBox 1042"/>
          <p:cNvSpPr txBox="1"/>
          <p:nvPr/>
        </p:nvSpPr>
        <p:spPr>
          <a:xfrm>
            <a:off x="480060" y="5470906"/>
            <a:ext cx="1339595" cy="1833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60" b="1" i="0">
                <a:solidFill>
                  <a:srgbClr val="0B1B33"/>
                </a:solidFill>
                <a:latin typeface="Segoe UI"/>
              </a:rPr>
              <a:t>PER CONFIRMED POTHOLE</a:t>
            </a:r>
          </a:p>
        </p:txBody>
      </p:sp>
      <p:sp>
        <p:nvSpPr>
          <p:cNvPr id="1044" name="TextBox 1043"/>
          <p:cNvSpPr txBox="1"/>
          <p:nvPr/>
        </p:nvSpPr>
        <p:spPr>
          <a:xfrm>
            <a:off x="480060" y="5711761"/>
            <a:ext cx="1293304" cy="16649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90" b="0" i="0">
                <a:solidFill>
                  <a:srgbClr val="6B7A90"/>
                </a:solidFill>
                <a:latin typeface="Segoe UI"/>
              </a:rPr>
              <a:t>a manual audit costs Rs 17,693</a:t>
            </a:r>
          </a:p>
        </p:txBody>
      </p:sp>
      <p:sp>
        <p:nvSpPr>
          <p:cNvPr id="1045" name="TextBox 1044"/>
          <p:cNvSpPr txBox="1"/>
          <p:nvPr/>
        </p:nvSpPr>
        <p:spPr>
          <a:xfrm>
            <a:off x="3095244" y="5067681"/>
            <a:ext cx="588073" cy="3981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650" b="1" i="0">
                <a:solidFill>
                  <a:srgbClr val="FF7A18"/>
                </a:solidFill>
                <a:latin typeface="Segoe UI"/>
              </a:rPr>
              <a:t>0.1%</a:t>
            </a:r>
          </a:p>
        </p:txBody>
      </p:sp>
      <p:sp>
        <p:nvSpPr>
          <p:cNvPr id="1046" name="TextBox 1045"/>
          <p:cNvSpPr txBox="1"/>
          <p:nvPr/>
        </p:nvSpPr>
        <p:spPr>
          <a:xfrm>
            <a:off x="3095244" y="5470906"/>
            <a:ext cx="1480185" cy="1833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60" b="1" i="0">
                <a:solidFill>
                  <a:srgbClr val="0B1B33"/>
                </a:solidFill>
                <a:latin typeface="Segoe UI"/>
              </a:rPr>
              <a:t>OF DATA NEEDS THE CAMERA</a:t>
            </a:r>
          </a:p>
        </p:txBody>
      </p:sp>
      <p:sp>
        <p:nvSpPr>
          <p:cNvPr id="1047" name="TextBox 1046"/>
          <p:cNvSpPr txBox="1"/>
          <p:nvPr/>
        </p:nvSpPr>
        <p:spPr>
          <a:xfrm>
            <a:off x="3095244" y="5711761"/>
            <a:ext cx="1144714" cy="16649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90" b="0" i="0">
                <a:solidFill>
                  <a:srgbClr val="6B7A90"/>
                </a:solidFill>
                <a:latin typeface="Segoe UI"/>
              </a:rPr>
              <a:t>sensors do the rest for free</a:t>
            </a:r>
          </a:p>
        </p:txBody>
      </p:sp>
      <p:pic>
        <p:nvPicPr>
          <p:cNvPr id="1048" name="Picture 1047" descr="sih_logo_20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1366" y="6297"/>
            <a:ext cx="2209120" cy="11228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91640" y="45720"/>
            <a:ext cx="7955279" cy="960120"/>
          </a:xfrm>
        </p:spPr>
        <p:txBody>
          <a:bodyPr wrap="square" anchor="ctr"/>
          <a:lstStyle/>
          <a:p>
            <a:pPr eaLnBrk="1" hangingPunct="1" algn="ctr"/>
            <a:r>
              <a:rPr lang="en-US" sz="27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PROPOSED SOLUTION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7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2026 Idea Submission - Team SETU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 i="0" u="none">
                <a:solidFill>
                  <a:srgbClr val="0B1B33"/>
                </a:solidFill>
                <a:latin typeface="Calibri"/>
              </a:rPr>
              <a:t>Team SETU</a:t>
            </a:r>
          </a:p>
        </p:txBody>
      </p:sp>
      <p:sp>
        <p:nvSpPr>
          <p:cNvPr id="15362" name="Rectangle 15361"/>
          <p:cNvSpPr/>
          <p:nvPr/>
        </p:nvSpPr>
        <p:spPr>
          <a:xfrm>
            <a:off x="274320" y="1097280"/>
            <a:ext cx="11640312" cy="5138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3" name="Rounded Rectangle 15362"/>
          <p:cNvSpPr/>
          <p:nvPr/>
        </p:nvSpPr>
        <p:spPr>
          <a:xfrm>
            <a:off x="292608" y="1463040"/>
            <a:ext cx="11603736" cy="969264"/>
          </a:xfrm>
          <a:prstGeom prst="roundRect">
            <a:avLst>
              <a:gd name="adj" fmla="val 6603"/>
            </a:avLst>
          </a:prstGeom>
          <a:solidFill>
            <a:srgbClr val="F5F8FC"/>
          </a:solidFill>
          <a:ln w="13970">
            <a:solidFill>
              <a:srgbClr val="D4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364" name="Rounded Rectangle 15363"/>
          <p:cNvSpPr/>
          <p:nvPr/>
        </p:nvSpPr>
        <p:spPr>
          <a:xfrm>
            <a:off x="292608" y="2980944"/>
            <a:ext cx="6675120" cy="932688"/>
          </a:xfrm>
          <a:prstGeom prst="roundRect">
            <a:avLst>
              <a:gd name="adj" fmla="val 6862"/>
            </a:avLst>
          </a:prstGeom>
          <a:solidFill>
            <a:srgbClr val="FFFFFF"/>
          </a:solidFill>
          <a:ln w="13970">
            <a:solidFill>
              <a:srgbClr val="D4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365" name="Rounded Rectangle 15364"/>
          <p:cNvSpPr/>
          <p:nvPr/>
        </p:nvSpPr>
        <p:spPr>
          <a:xfrm>
            <a:off x="292608" y="4105656"/>
            <a:ext cx="6675120" cy="932688"/>
          </a:xfrm>
          <a:prstGeom prst="roundRect">
            <a:avLst>
              <a:gd name="adj" fmla="val 6862"/>
            </a:avLst>
          </a:prstGeom>
          <a:solidFill>
            <a:srgbClr val="FFFFFF"/>
          </a:solidFill>
          <a:ln w="13970">
            <a:solidFill>
              <a:srgbClr val="D4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366" name="Rounded Rectangle 15365"/>
          <p:cNvSpPr/>
          <p:nvPr/>
        </p:nvSpPr>
        <p:spPr>
          <a:xfrm>
            <a:off x="292608" y="5230368"/>
            <a:ext cx="6675120" cy="932688"/>
          </a:xfrm>
          <a:prstGeom prst="roundRect">
            <a:avLst>
              <a:gd name="adj" fmla="val 6862"/>
            </a:avLst>
          </a:prstGeom>
          <a:solidFill>
            <a:srgbClr val="FFFFFF"/>
          </a:solidFill>
          <a:ln w="13970">
            <a:solidFill>
              <a:srgbClr val="D4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367" name="Rounded Rectangle 15366"/>
          <p:cNvSpPr/>
          <p:nvPr/>
        </p:nvSpPr>
        <p:spPr>
          <a:xfrm>
            <a:off x="7223759" y="2980944"/>
            <a:ext cx="4672584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3970">
            <a:solidFill>
              <a:srgbClr val="D4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368" name="Rounded Rectangle 15367"/>
          <p:cNvSpPr/>
          <p:nvPr/>
        </p:nvSpPr>
        <p:spPr>
          <a:xfrm>
            <a:off x="7223759" y="3803904"/>
            <a:ext cx="4672584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3970">
            <a:solidFill>
              <a:srgbClr val="D4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369" name="Rounded Rectangle 15368"/>
          <p:cNvSpPr/>
          <p:nvPr/>
        </p:nvSpPr>
        <p:spPr>
          <a:xfrm>
            <a:off x="7223759" y="4626864"/>
            <a:ext cx="4672584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3970">
            <a:solidFill>
              <a:srgbClr val="D4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370" name="Rounded Rectangle 15369"/>
          <p:cNvSpPr/>
          <p:nvPr/>
        </p:nvSpPr>
        <p:spPr>
          <a:xfrm>
            <a:off x="7223759" y="5449824"/>
            <a:ext cx="4672584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3970">
            <a:solidFill>
              <a:srgbClr val="D4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371" name="Rounded Rectangle 15370"/>
          <p:cNvSpPr/>
          <p:nvPr/>
        </p:nvSpPr>
        <p:spPr>
          <a:xfrm>
            <a:off x="292608" y="1097280"/>
            <a:ext cx="11603736" cy="301752"/>
          </a:xfrm>
          <a:prstGeom prst="roundRect">
            <a:avLst>
              <a:gd name="adj" fmla="val 21212"/>
            </a:avLst>
          </a:prstGeom>
          <a:solidFill>
            <a:srgbClr val="12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372" name="Rounded Rectangle 15371"/>
          <p:cNvSpPr/>
          <p:nvPr/>
        </p:nvSpPr>
        <p:spPr>
          <a:xfrm>
            <a:off x="8375904" y="1645919"/>
            <a:ext cx="117500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373" name="Rounded Rectangle 15372"/>
          <p:cNvSpPr/>
          <p:nvPr/>
        </p:nvSpPr>
        <p:spPr>
          <a:xfrm>
            <a:off x="9624060" y="1645919"/>
            <a:ext cx="995553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374" name="Rounded Rectangle 15373"/>
          <p:cNvSpPr/>
          <p:nvPr/>
        </p:nvSpPr>
        <p:spPr>
          <a:xfrm>
            <a:off x="8375904" y="1956815"/>
            <a:ext cx="1522476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375" name="Rounded Rectangle 15374"/>
          <p:cNvSpPr/>
          <p:nvPr/>
        </p:nvSpPr>
        <p:spPr>
          <a:xfrm>
            <a:off x="9971532" y="1956815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376" name="Rounded Rectangle 15375"/>
          <p:cNvSpPr/>
          <p:nvPr/>
        </p:nvSpPr>
        <p:spPr>
          <a:xfrm>
            <a:off x="292608" y="2596896"/>
            <a:ext cx="6675120" cy="301752"/>
          </a:xfrm>
          <a:prstGeom prst="roundRect">
            <a:avLst>
              <a:gd name="adj" fmla="val 21212"/>
            </a:avLst>
          </a:prstGeom>
          <a:solidFill>
            <a:srgbClr val="12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377" name="Rounded Rectangle 15376"/>
          <p:cNvSpPr/>
          <p:nvPr/>
        </p:nvSpPr>
        <p:spPr>
          <a:xfrm>
            <a:off x="292608" y="2980944"/>
            <a:ext cx="50292" cy="932688"/>
          </a:xfrm>
          <a:prstGeom prst="roundRect">
            <a:avLst>
              <a:gd name="adj" fmla="val 45454"/>
            </a:avLst>
          </a:prstGeom>
          <a:solidFill>
            <a:srgbClr val="156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378" name="Rectangle 15377"/>
          <p:cNvSpPr/>
          <p:nvPr/>
        </p:nvSpPr>
        <p:spPr>
          <a:xfrm>
            <a:off x="5175503" y="3127248"/>
            <a:ext cx="10972" cy="640080"/>
          </a:xfrm>
          <a:prstGeom prst="rect">
            <a:avLst/>
          </a:prstGeom>
          <a:solidFill>
            <a:srgbClr val="D4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9" name="Rounded Rectangle 15378"/>
          <p:cNvSpPr/>
          <p:nvPr/>
        </p:nvSpPr>
        <p:spPr>
          <a:xfrm>
            <a:off x="292608" y="4105656"/>
            <a:ext cx="50292" cy="932688"/>
          </a:xfrm>
          <a:prstGeom prst="roundRect">
            <a:avLst>
              <a:gd name="adj" fmla="val 45454"/>
            </a:avLst>
          </a:prstGeom>
          <a:solidFill>
            <a:srgbClr val="0E9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380" name="Rectangle 15379"/>
          <p:cNvSpPr/>
          <p:nvPr/>
        </p:nvSpPr>
        <p:spPr>
          <a:xfrm>
            <a:off x="5175503" y="4251960"/>
            <a:ext cx="10972" cy="640080"/>
          </a:xfrm>
          <a:prstGeom prst="rect">
            <a:avLst/>
          </a:prstGeom>
          <a:solidFill>
            <a:srgbClr val="D4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1" name="Rounded Rectangle 15380"/>
          <p:cNvSpPr/>
          <p:nvPr/>
        </p:nvSpPr>
        <p:spPr>
          <a:xfrm>
            <a:off x="292608" y="5230368"/>
            <a:ext cx="50292" cy="932688"/>
          </a:xfrm>
          <a:prstGeom prst="roundRect">
            <a:avLst>
              <a:gd name="adj" fmla="val 45454"/>
            </a:avLst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382" name="Rectangle 15381"/>
          <p:cNvSpPr/>
          <p:nvPr/>
        </p:nvSpPr>
        <p:spPr>
          <a:xfrm>
            <a:off x="5175503" y="5376672"/>
            <a:ext cx="10972" cy="640080"/>
          </a:xfrm>
          <a:prstGeom prst="rect">
            <a:avLst/>
          </a:prstGeom>
          <a:solidFill>
            <a:srgbClr val="D4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3" name="Rounded Rectangle 15382"/>
          <p:cNvSpPr/>
          <p:nvPr/>
        </p:nvSpPr>
        <p:spPr>
          <a:xfrm>
            <a:off x="7223759" y="2596896"/>
            <a:ext cx="4672584" cy="301752"/>
          </a:xfrm>
          <a:prstGeom prst="roundRect">
            <a:avLst>
              <a:gd name="adj" fmla="val 21212"/>
            </a:avLst>
          </a:prstGeom>
          <a:solidFill>
            <a:srgbClr val="12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384" name="Rounded Rectangle 15383"/>
          <p:cNvSpPr/>
          <p:nvPr/>
        </p:nvSpPr>
        <p:spPr>
          <a:xfrm>
            <a:off x="7223759" y="2980944"/>
            <a:ext cx="50292" cy="713232"/>
          </a:xfrm>
          <a:prstGeom prst="roundRect">
            <a:avLst>
              <a:gd name="adj" fmla="val 45454"/>
            </a:avLst>
          </a:prstGeom>
          <a:solidFill>
            <a:srgbClr val="156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385" name="Rounded Rectangle 15384"/>
          <p:cNvSpPr/>
          <p:nvPr/>
        </p:nvSpPr>
        <p:spPr>
          <a:xfrm>
            <a:off x="7223759" y="3803904"/>
            <a:ext cx="50292" cy="713232"/>
          </a:xfrm>
          <a:prstGeom prst="roundRect">
            <a:avLst>
              <a:gd name="adj" fmla="val 45454"/>
            </a:avLst>
          </a:prstGeom>
          <a:solidFill>
            <a:srgbClr val="17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386" name="Rounded Rectangle 15385"/>
          <p:cNvSpPr/>
          <p:nvPr/>
        </p:nvSpPr>
        <p:spPr>
          <a:xfrm>
            <a:off x="7223759" y="4626864"/>
            <a:ext cx="50292" cy="713232"/>
          </a:xfrm>
          <a:prstGeom prst="roundRect">
            <a:avLst>
              <a:gd name="adj" fmla="val 45454"/>
            </a:avLst>
          </a:prstGeom>
          <a:solidFill>
            <a:srgbClr val="6C3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387" name="Rounded Rectangle 15386"/>
          <p:cNvSpPr/>
          <p:nvPr/>
        </p:nvSpPr>
        <p:spPr>
          <a:xfrm>
            <a:off x="7223759" y="5449824"/>
            <a:ext cx="50292" cy="713232"/>
          </a:xfrm>
          <a:prstGeom prst="roundRect">
            <a:avLst>
              <a:gd name="adj" fmla="val 45454"/>
            </a:avLst>
          </a:prstGeom>
          <a:solidFill>
            <a:srgbClr val="0E9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388" name="Oval 15387"/>
          <p:cNvSpPr/>
          <p:nvPr/>
        </p:nvSpPr>
        <p:spPr>
          <a:xfrm>
            <a:off x="480060" y="3104388"/>
            <a:ext cx="283464" cy="283464"/>
          </a:xfrm>
          <a:prstGeom prst="ellipse">
            <a:avLst/>
          </a:prstGeom>
          <a:solidFill>
            <a:srgbClr val="156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564184" y="3927348"/>
            <a:ext cx="115215" cy="169164"/>
          </a:xfrm>
          <a:custGeom>
            <a:avLst/>
            <a:gdLst/>
            <a:ahLst/>
            <a:cxnLst/>
            <a:rect l="l" t="t" r="r" b="b"/>
            <a:pathLst>
              <a:path w="115215" h="169164">
                <a:moveTo>
                  <a:pt x="41606" y="0"/>
                </a:moveTo>
                <a:lnTo>
                  <a:pt x="73610" y="0"/>
                </a:lnTo>
                <a:lnTo>
                  <a:pt x="73610" y="86868"/>
                </a:lnTo>
                <a:lnTo>
                  <a:pt x="115215" y="86868"/>
                </a:lnTo>
                <a:lnTo>
                  <a:pt x="57608" y="169164"/>
                </a:lnTo>
                <a:lnTo>
                  <a:pt x="0" y="86868"/>
                </a:lnTo>
                <a:lnTo>
                  <a:pt x="41606" y="86868"/>
                </a:lnTo>
                <a:close/>
              </a:path>
            </a:pathLst>
          </a:cu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9" name="Oval 15388"/>
          <p:cNvSpPr/>
          <p:nvPr/>
        </p:nvSpPr>
        <p:spPr>
          <a:xfrm>
            <a:off x="480060" y="4229100"/>
            <a:ext cx="283464" cy="283464"/>
          </a:xfrm>
          <a:prstGeom prst="ellipse">
            <a:avLst/>
          </a:prstGeom>
          <a:solidFill>
            <a:srgbClr val="0E9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64184" y="5052060"/>
            <a:ext cx="115215" cy="169164"/>
          </a:xfrm>
          <a:custGeom>
            <a:avLst/>
            <a:gdLst/>
            <a:ahLst/>
            <a:cxnLst/>
            <a:rect l="l" t="t" r="r" b="b"/>
            <a:pathLst>
              <a:path w="115215" h="169164">
                <a:moveTo>
                  <a:pt x="41606" y="0"/>
                </a:moveTo>
                <a:lnTo>
                  <a:pt x="73610" y="0"/>
                </a:lnTo>
                <a:lnTo>
                  <a:pt x="73610" y="86868"/>
                </a:lnTo>
                <a:lnTo>
                  <a:pt x="115215" y="86868"/>
                </a:lnTo>
                <a:lnTo>
                  <a:pt x="57608" y="169164"/>
                </a:lnTo>
                <a:lnTo>
                  <a:pt x="0" y="86868"/>
                </a:lnTo>
                <a:lnTo>
                  <a:pt x="41606" y="86868"/>
                </a:lnTo>
                <a:close/>
              </a:path>
            </a:pathLst>
          </a:cu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0" name="Oval 15389"/>
          <p:cNvSpPr/>
          <p:nvPr/>
        </p:nvSpPr>
        <p:spPr>
          <a:xfrm>
            <a:off x="480060" y="5353812"/>
            <a:ext cx="283464" cy="283464"/>
          </a:xfrm>
          <a:prstGeom prst="ellipse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1" name="TextBox 15390"/>
          <p:cNvSpPr txBox="1"/>
          <p:nvPr/>
        </p:nvSpPr>
        <p:spPr>
          <a:xfrm>
            <a:off x="5017770" y="1121473"/>
            <a:ext cx="2153412" cy="25336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THE PROBLEM WE ARE SOLVING</a:t>
            </a:r>
          </a:p>
        </p:txBody>
      </p:sp>
      <p:sp>
        <p:nvSpPr>
          <p:cNvPr id="15392" name="TextBox 15391"/>
          <p:cNvSpPr txBox="1"/>
          <p:nvPr/>
        </p:nvSpPr>
        <p:spPr>
          <a:xfrm>
            <a:off x="1769649" y="2621089"/>
            <a:ext cx="3721036" cy="25336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HOW IT WORKS: CHEAP FIRST, CAMERA ONLY IF NEEDED</a:t>
            </a:r>
          </a:p>
        </p:txBody>
      </p:sp>
      <p:sp>
        <p:nvSpPr>
          <p:cNvPr id="15393" name="TextBox 15392"/>
          <p:cNvSpPr txBox="1"/>
          <p:nvPr/>
        </p:nvSpPr>
        <p:spPr>
          <a:xfrm>
            <a:off x="8616791" y="2621089"/>
            <a:ext cx="1886521" cy="25336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WHAT MAKES IT DIFFERENT</a:t>
            </a:r>
          </a:p>
        </p:txBody>
      </p:sp>
      <p:sp>
        <p:nvSpPr>
          <p:cNvPr id="15394" name="TextBox 15393"/>
          <p:cNvSpPr txBox="1"/>
          <p:nvPr/>
        </p:nvSpPr>
        <p:spPr>
          <a:xfrm>
            <a:off x="443484" y="1541906"/>
            <a:ext cx="7301484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00" b="0" i="0">
                <a:solidFill>
                  <a:srgbClr val="3C4C63"/>
                </a:solidFill>
                <a:latin typeface="Segoe UI"/>
              </a:rPr>
              <a:t>Between 2020 and 2024, potholes were linked to 9,438 deaths on Indian roads, and the count has gone up 53% in five years. Cities still find bad</a:t>
            </a:r>
          </a:p>
        </p:txBody>
      </p:sp>
      <p:sp>
        <p:nvSpPr>
          <p:cNvPr id="15395" name="TextBox 15394"/>
          <p:cNvSpPr txBox="1"/>
          <p:nvPr/>
        </p:nvSpPr>
        <p:spPr>
          <a:xfrm>
            <a:off x="443484" y="1697355"/>
            <a:ext cx="7519225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00" b="0" i="0">
                <a:solidFill>
                  <a:srgbClr val="3C4C63"/>
                </a:solidFill>
                <a:latin typeface="Segoe UI"/>
              </a:rPr>
              <a:t>patches the slow way: a survey van that passes once or twice a year, or a citizen complaint that waits weeks for someone to visit. So nobody actually</a:t>
            </a:r>
          </a:p>
        </p:txBody>
      </p:sp>
      <p:sp>
        <p:nvSpPr>
          <p:cNvPr id="15396" name="TextBox 15395"/>
          <p:cNvSpPr txBox="1"/>
          <p:nvPr/>
        </p:nvSpPr>
        <p:spPr>
          <a:xfrm>
            <a:off x="443484" y="1852803"/>
            <a:ext cx="5086921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00" b="0" i="0">
                <a:solidFill>
                  <a:srgbClr val="3C4C63"/>
                </a:solidFill>
                <a:latin typeface="Segoe UI"/>
              </a:rPr>
              <a:t>has a live, trustworthy map of where the potholes are - and you cannot repair what you cannot see.</a:t>
            </a:r>
          </a:p>
        </p:txBody>
      </p:sp>
      <p:sp>
        <p:nvSpPr>
          <p:cNvPr id="15397" name="TextBox 15396"/>
          <p:cNvSpPr txBox="1"/>
          <p:nvPr/>
        </p:nvSpPr>
        <p:spPr>
          <a:xfrm>
            <a:off x="8412480" y="1674342"/>
            <a:ext cx="1101852" cy="18821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0" i="0">
                <a:solidFill>
                  <a:srgbClr val="0B1B33"/>
                </a:solidFill>
                <a:latin typeface="Segoe UI"/>
              </a:rPr>
              <a:t>9,438 deaths in 5 years</a:t>
            </a:r>
          </a:p>
        </p:txBody>
      </p:sp>
      <p:sp>
        <p:nvSpPr>
          <p:cNvPr id="15398" name="TextBox 15397"/>
          <p:cNvSpPr txBox="1"/>
          <p:nvPr/>
        </p:nvSpPr>
        <p:spPr>
          <a:xfrm>
            <a:off x="9660636" y="1674342"/>
            <a:ext cx="922401" cy="18821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0" i="0">
                <a:solidFill>
                  <a:srgbClr val="0B1B33"/>
                </a:solidFill>
                <a:latin typeface="Segoe UI"/>
              </a:rPr>
              <a:t>up 53% since 2019</a:t>
            </a:r>
          </a:p>
        </p:txBody>
      </p:sp>
      <p:sp>
        <p:nvSpPr>
          <p:cNvPr id="15399" name="TextBox 15398"/>
          <p:cNvSpPr txBox="1"/>
          <p:nvPr/>
        </p:nvSpPr>
        <p:spPr>
          <a:xfrm>
            <a:off x="8412480" y="1985238"/>
            <a:ext cx="1449324" cy="18821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0" i="0">
                <a:solidFill>
                  <a:srgbClr val="0B1B33"/>
                </a:solidFill>
                <a:latin typeface="Segoe UI"/>
              </a:rPr>
              <a:t>Rs 17,693 to audit one pothole</a:t>
            </a:r>
          </a:p>
        </p:txBody>
      </p:sp>
      <p:sp>
        <p:nvSpPr>
          <p:cNvPr id="15400" name="TextBox 15399"/>
          <p:cNvSpPr txBox="1"/>
          <p:nvPr/>
        </p:nvSpPr>
        <p:spPr>
          <a:xfrm>
            <a:off x="10008108" y="1985238"/>
            <a:ext cx="859536" cy="18821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80" b="0" i="0">
                <a:solidFill>
                  <a:srgbClr val="0B1B33"/>
                </a:solidFill>
                <a:latin typeface="Segoe UI"/>
              </a:rPr>
              <a:t>1-2 checks a year</a:t>
            </a:r>
          </a:p>
        </p:txBody>
      </p:sp>
      <p:sp>
        <p:nvSpPr>
          <p:cNvPr id="15401" name="TextBox 15400"/>
          <p:cNvSpPr txBox="1"/>
          <p:nvPr/>
        </p:nvSpPr>
        <p:spPr>
          <a:xfrm>
            <a:off x="531780" y="3134868"/>
            <a:ext cx="180022" cy="23164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6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5402" name="TextBox 15401"/>
          <p:cNvSpPr txBox="1"/>
          <p:nvPr/>
        </p:nvSpPr>
        <p:spPr>
          <a:xfrm>
            <a:off x="809244" y="3127628"/>
            <a:ext cx="1697926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19" b="1" i="0">
                <a:solidFill>
                  <a:srgbClr val="0B1B33"/>
                </a:solidFill>
                <a:latin typeface="Segoe UI"/>
              </a:rPr>
              <a:t>The phone feels the bump</a:t>
            </a:r>
          </a:p>
        </p:txBody>
      </p:sp>
      <p:sp>
        <p:nvSpPr>
          <p:cNvPr id="15403" name="TextBox 15402"/>
          <p:cNvSpPr txBox="1"/>
          <p:nvPr/>
        </p:nvSpPr>
        <p:spPr>
          <a:xfrm>
            <a:off x="809244" y="3345942"/>
            <a:ext cx="4232529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40" b="0" i="0">
                <a:solidFill>
                  <a:srgbClr val="3C4C63"/>
                </a:solidFill>
                <a:latin typeface="Segoe UI"/>
              </a:rPr>
              <a:t>A driver's phone is already mounted on the handlebar or dashboard. We read its motion</a:t>
            </a:r>
          </a:p>
        </p:txBody>
      </p:sp>
      <p:sp>
        <p:nvSpPr>
          <p:cNvPr id="15404" name="TextBox 15403"/>
          <p:cNvSpPr txBox="1"/>
          <p:nvPr/>
        </p:nvSpPr>
        <p:spPr>
          <a:xfrm>
            <a:off x="809244" y="3484625"/>
            <a:ext cx="4155948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40" b="0" i="0">
                <a:solidFill>
                  <a:srgbClr val="3C4C63"/>
                </a:solidFill>
                <a:latin typeface="Segoe UI"/>
              </a:rPr>
              <a:t>sensors and a small model on the phone decides if that jolt was a real road defect. The</a:t>
            </a:r>
          </a:p>
        </p:txBody>
      </p:sp>
      <p:sp>
        <p:nvSpPr>
          <p:cNvPr id="15405" name="TextBox 15404"/>
          <p:cNvSpPr txBox="1"/>
          <p:nvPr/>
        </p:nvSpPr>
        <p:spPr>
          <a:xfrm>
            <a:off x="809244" y="3623310"/>
            <a:ext cx="1052131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40" b="0" i="0">
                <a:solidFill>
                  <a:srgbClr val="3C4C63"/>
                </a:solidFill>
                <a:latin typeface="Segoe UI"/>
              </a:rPr>
              <a:t>driver does nothing.</a:t>
            </a:r>
          </a:p>
        </p:txBody>
      </p:sp>
      <p:sp>
        <p:nvSpPr>
          <p:cNvPr id="15406" name="TextBox 15405"/>
          <p:cNvSpPr txBox="1"/>
          <p:nvPr/>
        </p:nvSpPr>
        <p:spPr>
          <a:xfrm>
            <a:off x="5435250" y="3208147"/>
            <a:ext cx="431482" cy="31369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300" b="1" i="0">
                <a:solidFill>
                  <a:srgbClr val="1565D8"/>
                </a:solidFill>
                <a:latin typeface="Segoe UI"/>
              </a:rPr>
              <a:t>Rs 0</a:t>
            </a:r>
          </a:p>
        </p:txBody>
      </p:sp>
      <p:sp>
        <p:nvSpPr>
          <p:cNvPr id="15407" name="TextBox 15406"/>
          <p:cNvSpPr txBox="1"/>
          <p:nvPr/>
        </p:nvSpPr>
        <p:spPr>
          <a:xfrm>
            <a:off x="5369242" y="3425317"/>
            <a:ext cx="563499" cy="16890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00" b="0" i="0">
                <a:solidFill>
                  <a:srgbClr val="6B7A90"/>
                </a:solidFill>
                <a:latin typeface="Segoe UI"/>
              </a:rPr>
              <a:t>per reading</a:t>
            </a:r>
          </a:p>
        </p:txBody>
      </p:sp>
      <p:sp>
        <p:nvSpPr>
          <p:cNvPr id="15408" name="TextBox 15407"/>
          <p:cNvSpPr txBox="1"/>
          <p:nvPr/>
        </p:nvSpPr>
        <p:spPr>
          <a:xfrm>
            <a:off x="6241065" y="3208147"/>
            <a:ext cx="538924" cy="31369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300" b="1" i="0">
                <a:solidFill>
                  <a:srgbClr val="1565D8"/>
                </a:solidFill>
                <a:latin typeface="Segoe UI"/>
              </a:rPr>
              <a:t>100%</a:t>
            </a:r>
          </a:p>
        </p:txBody>
      </p:sp>
      <p:sp>
        <p:nvSpPr>
          <p:cNvPr id="15409" name="TextBox 15408"/>
          <p:cNvSpPr txBox="1"/>
          <p:nvPr/>
        </p:nvSpPr>
        <p:spPr>
          <a:xfrm>
            <a:off x="6161341" y="3425317"/>
            <a:ext cx="698373" cy="16890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00" b="0" i="0">
                <a:solidFill>
                  <a:srgbClr val="6B7A90"/>
                </a:solidFill>
                <a:latin typeface="Segoe UI"/>
              </a:rPr>
              <a:t>of roads driven</a:t>
            </a:r>
          </a:p>
        </p:txBody>
      </p:sp>
      <p:sp>
        <p:nvSpPr>
          <p:cNvPr id="15410" name="TextBox 15409"/>
          <p:cNvSpPr txBox="1"/>
          <p:nvPr/>
        </p:nvSpPr>
        <p:spPr>
          <a:xfrm>
            <a:off x="809244" y="3942968"/>
            <a:ext cx="1785937" cy="18821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1">
                <a:solidFill>
                  <a:srgbClr val="6B7A90"/>
                </a:solidFill>
                <a:latin typeface="Segoe UI"/>
              </a:rPr>
              <a:t>only if 3+ vehicles report the same spot</a:t>
            </a:r>
          </a:p>
        </p:txBody>
      </p:sp>
      <p:sp>
        <p:nvSpPr>
          <p:cNvPr id="15411" name="TextBox 15410"/>
          <p:cNvSpPr txBox="1"/>
          <p:nvPr/>
        </p:nvSpPr>
        <p:spPr>
          <a:xfrm>
            <a:off x="531780" y="4259580"/>
            <a:ext cx="180022" cy="23164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6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412" name="TextBox 15411"/>
          <p:cNvSpPr txBox="1"/>
          <p:nvPr/>
        </p:nvSpPr>
        <p:spPr>
          <a:xfrm>
            <a:off x="809244" y="4252341"/>
            <a:ext cx="1923668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19" b="1" i="0">
                <a:solidFill>
                  <a:srgbClr val="0B1B33"/>
                </a:solidFill>
                <a:latin typeface="Segoe UI"/>
              </a:rPr>
              <a:t>Several vehicles have to agree</a:t>
            </a:r>
          </a:p>
        </p:txBody>
      </p:sp>
      <p:sp>
        <p:nvSpPr>
          <p:cNvPr id="15413" name="TextBox 15412"/>
          <p:cNvSpPr txBox="1"/>
          <p:nvPr/>
        </p:nvSpPr>
        <p:spPr>
          <a:xfrm>
            <a:off x="809244" y="4470654"/>
            <a:ext cx="4127944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40" b="0" i="0">
                <a:solidFill>
                  <a:srgbClr val="3C4C63"/>
                </a:solidFill>
                <a:latin typeface="Segoe UI"/>
              </a:rPr>
              <a:t>Our server groups readings that land on the same stretch of road. A spot is only taken</a:t>
            </a:r>
          </a:p>
        </p:txBody>
      </p:sp>
      <p:sp>
        <p:nvSpPr>
          <p:cNvPr id="15414" name="TextBox 15413"/>
          <p:cNvSpPr txBox="1"/>
          <p:nvPr/>
        </p:nvSpPr>
        <p:spPr>
          <a:xfrm>
            <a:off x="809244" y="4609338"/>
            <a:ext cx="3074670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40" b="0" i="0">
                <a:solidFill>
                  <a:srgbClr val="3C4C63"/>
                </a:solidFill>
                <a:latin typeface="Segoe UI"/>
              </a:rPr>
              <a:t>seriously once three or more separate vehicles have reported it.</a:t>
            </a:r>
          </a:p>
        </p:txBody>
      </p:sp>
      <p:sp>
        <p:nvSpPr>
          <p:cNvPr id="15415" name="TextBox 15414"/>
          <p:cNvSpPr txBox="1"/>
          <p:nvPr/>
        </p:nvSpPr>
        <p:spPr>
          <a:xfrm>
            <a:off x="5435250" y="4332859"/>
            <a:ext cx="431482" cy="31369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300" b="1" i="0">
                <a:solidFill>
                  <a:srgbClr val="0E9594"/>
                </a:solidFill>
                <a:latin typeface="Segoe UI"/>
              </a:rPr>
              <a:t>Rs 0</a:t>
            </a:r>
          </a:p>
        </p:txBody>
      </p:sp>
      <p:sp>
        <p:nvSpPr>
          <p:cNvPr id="15416" name="TextBox 15415"/>
          <p:cNvSpPr txBox="1"/>
          <p:nvPr/>
        </p:nvSpPr>
        <p:spPr>
          <a:xfrm>
            <a:off x="5369242" y="4550029"/>
            <a:ext cx="563499" cy="16890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00" b="0" i="0">
                <a:solidFill>
                  <a:srgbClr val="6B7A90"/>
                </a:solidFill>
                <a:latin typeface="Segoe UI"/>
              </a:rPr>
              <a:t>per reading</a:t>
            </a:r>
          </a:p>
        </p:txBody>
      </p:sp>
      <p:sp>
        <p:nvSpPr>
          <p:cNvPr id="15417" name="TextBox 15416"/>
          <p:cNvSpPr txBox="1"/>
          <p:nvPr/>
        </p:nvSpPr>
        <p:spPr>
          <a:xfrm>
            <a:off x="6180486" y="4332859"/>
            <a:ext cx="660082" cy="31369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300" b="1" i="0">
                <a:solidFill>
                  <a:srgbClr val="0E9594"/>
                </a:solidFill>
                <a:latin typeface="Segoe UI"/>
              </a:rPr>
              <a:t>top 5%</a:t>
            </a:r>
          </a:p>
        </p:txBody>
      </p:sp>
      <p:sp>
        <p:nvSpPr>
          <p:cNvPr id="15418" name="TextBox 15417"/>
          <p:cNvSpPr txBox="1"/>
          <p:nvPr/>
        </p:nvSpPr>
        <p:spPr>
          <a:xfrm>
            <a:off x="6252209" y="4550029"/>
            <a:ext cx="516635" cy="16890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00" b="0" i="0">
                <a:solidFill>
                  <a:srgbClr val="6B7A90"/>
                </a:solidFill>
                <a:latin typeface="Segoe UI"/>
              </a:rPr>
              <a:t>spots kept</a:t>
            </a:r>
          </a:p>
        </p:txBody>
      </p:sp>
      <p:sp>
        <p:nvSpPr>
          <p:cNvPr id="15419" name="TextBox 15418"/>
          <p:cNvSpPr txBox="1"/>
          <p:nvPr/>
        </p:nvSpPr>
        <p:spPr>
          <a:xfrm>
            <a:off x="809244" y="5067681"/>
            <a:ext cx="1485900" cy="18821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1">
                <a:solidFill>
                  <a:srgbClr val="6B7A90"/>
                </a:solidFill>
                <a:latin typeface="Segoe UI"/>
              </a:rPr>
              <a:t>only if the sensor data is unclear</a:t>
            </a:r>
          </a:p>
        </p:txBody>
      </p:sp>
      <p:sp>
        <p:nvSpPr>
          <p:cNvPr id="15420" name="TextBox 15419"/>
          <p:cNvSpPr txBox="1"/>
          <p:nvPr/>
        </p:nvSpPr>
        <p:spPr>
          <a:xfrm>
            <a:off x="532066" y="5384291"/>
            <a:ext cx="179450" cy="23164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6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5421" name="TextBox 15420"/>
          <p:cNvSpPr txBox="1"/>
          <p:nvPr/>
        </p:nvSpPr>
        <p:spPr>
          <a:xfrm>
            <a:off x="809244" y="5377053"/>
            <a:ext cx="2498598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19" b="1" i="0">
                <a:solidFill>
                  <a:srgbClr val="0B1B33"/>
                </a:solidFill>
                <a:latin typeface="Segoe UI"/>
              </a:rPr>
              <a:t>The camera confirms the doubtful ones</a:t>
            </a:r>
          </a:p>
        </p:txBody>
      </p:sp>
      <p:sp>
        <p:nvSpPr>
          <p:cNvPr id="15422" name="TextBox 15421"/>
          <p:cNvSpPr txBox="1"/>
          <p:nvPr/>
        </p:nvSpPr>
        <p:spPr>
          <a:xfrm>
            <a:off x="809244" y="5595366"/>
            <a:ext cx="4274820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40" b="0" i="0">
                <a:solidFill>
                  <a:srgbClr val="3C4C63"/>
                </a:solidFill>
                <a:latin typeface="Segoe UI"/>
              </a:rPr>
              <a:t>When the sensor data is not clear enough, the next driver passing that spot records a 5-8</a:t>
            </a:r>
          </a:p>
        </p:txBody>
      </p:sp>
      <p:sp>
        <p:nvSpPr>
          <p:cNvPr id="15423" name="TextBox 15422"/>
          <p:cNvSpPr txBox="1"/>
          <p:nvPr/>
        </p:nvSpPr>
        <p:spPr>
          <a:xfrm>
            <a:off x="809244" y="5734050"/>
            <a:ext cx="3339274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40" b="0" i="0">
                <a:solidFill>
                  <a:srgbClr val="3C4C63"/>
                </a:solidFill>
                <a:latin typeface="Segoe UI"/>
              </a:rPr>
              <a:t>second clip and our vision model checks what is actually on the road.</a:t>
            </a:r>
          </a:p>
        </p:txBody>
      </p:sp>
      <p:sp>
        <p:nvSpPr>
          <p:cNvPr id="15424" name="TextBox 15423"/>
          <p:cNvSpPr txBox="1"/>
          <p:nvPr/>
        </p:nvSpPr>
        <p:spPr>
          <a:xfrm>
            <a:off x="5435536" y="5457571"/>
            <a:ext cx="430911" cy="31369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300" b="1" i="0">
                <a:solidFill>
                  <a:srgbClr val="D93025"/>
                </a:solidFill>
                <a:latin typeface="Segoe UI"/>
              </a:rPr>
              <a:t>Rs 3</a:t>
            </a:r>
          </a:p>
        </p:txBody>
      </p:sp>
      <p:sp>
        <p:nvSpPr>
          <p:cNvPr id="15425" name="TextBox 15424"/>
          <p:cNvSpPr txBox="1"/>
          <p:nvPr/>
        </p:nvSpPr>
        <p:spPr>
          <a:xfrm>
            <a:off x="5450395" y="5674741"/>
            <a:ext cx="401193" cy="16890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00" b="0" i="0">
                <a:solidFill>
                  <a:srgbClr val="6B7A90"/>
                </a:solidFill>
                <a:latin typeface="Segoe UI"/>
              </a:rPr>
              <a:t>per clip</a:t>
            </a:r>
          </a:p>
        </p:txBody>
      </p:sp>
      <p:sp>
        <p:nvSpPr>
          <p:cNvPr id="15426" name="TextBox 15425"/>
          <p:cNvSpPr txBox="1"/>
          <p:nvPr/>
        </p:nvSpPr>
        <p:spPr>
          <a:xfrm>
            <a:off x="6266497" y="5457571"/>
            <a:ext cx="488060" cy="31369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300" b="1" i="0">
                <a:solidFill>
                  <a:srgbClr val="D93025"/>
                </a:solidFill>
                <a:latin typeface="Segoe UI"/>
              </a:rPr>
              <a:t>0.1%</a:t>
            </a:r>
          </a:p>
        </p:txBody>
      </p:sp>
      <p:sp>
        <p:nvSpPr>
          <p:cNvPr id="15427" name="TextBox 15426"/>
          <p:cNvSpPr txBox="1"/>
          <p:nvPr/>
        </p:nvSpPr>
        <p:spPr>
          <a:xfrm>
            <a:off x="6299072" y="5674741"/>
            <a:ext cx="422910" cy="16890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00" b="0" i="0">
                <a:solidFill>
                  <a:srgbClr val="6B7A90"/>
                </a:solidFill>
                <a:latin typeface="Segoe UI"/>
              </a:rPr>
              <a:t>of spots</a:t>
            </a:r>
          </a:p>
        </p:txBody>
      </p:sp>
      <p:sp>
        <p:nvSpPr>
          <p:cNvPr id="15428" name="TextBox 15427"/>
          <p:cNvSpPr txBox="1"/>
          <p:nvPr/>
        </p:nvSpPr>
        <p:spPr>
          <a:xfrm>
            <a:off x="7374636" y="3030601"/>
            <a:ext cx="1365885" cy="22682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40" b="1" i="0">
                <a:solidFill>
                  <a:srgbClr val="0B1B33"/>
                </a:solidFill>
                <a:latin typeface="Segoe UI"/>
              </a:rPr>
              <a:t>Nothing new to install</a:t>
            </a:r>
          </a:p>
        </p:txBody>
      </p:sp>
      <p:sp>
        <p:nvSpPr>
          <p:cNvPr id="15429" name="TextBox 15428"/>
          <p:cNvSpPr txBox="1"/>
          <p:nvPr/>
        </p:nvSpPr>
        <p:spPr>
          <a:xfrm>
            <a:off x="7374636" y="3255391"/>
            <a:ext cx="4153662" cy="19786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3C4C63"/>
                </a:solidFill>
                <a:latin typeface="Segoe UI"/>
              </a:rPr>
              <a:t>It sits inside apps drivers already run all day, so there are no volunteers to recruit and no</a:t>
            </a:r>
          </a:p>
        </p:txBody>
      </p:sp>
      <p:sp>
        <p:nvSpPr>
          <p:cNvPr id="15430" name="TextBox 15429"/>
          <p:cNvSpPr txBox="1"/>
          <p:nvPr/>
        </p:nvSpPr>
        <p:spPr>
          <a:xfrm>
            <a:off x="7374636" y="3388690"/>
            <a:ext cx="822388" cy="19786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3C4C63"/>
                </a:solidFill>
                <a:latin typeface="Segoe UI"/>
              </a:rPr>
              <a:t>gadgets to buy.</a:t>
            </a:r>
          </a:p>
        </p:txBody>
      </p:sp>
      <p:sp>
        <p:nvSpPr>
          <p:cNvPr id="15431" name="TextBox 15430"/>
          <p:cNvSpPr txBox="1"/>
          <p:nvPr/>
        </p:nvSpPr>
        <p:spPr>
          <a:xfrm>
            <a:off x="7374636" y="3853561"/>
            <a:ext cx="1275588" cy="22682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40" b="1" i="0">
                <a:solidFill>
                  <a:srgbClr val="0B1B33"/>
                </a:solidFill>
                <a:latin typeface="Segoe UI"/>
              </a:rPr>
              <a:t>A repair proves itself</a:t>
            </a:r>
          </a:p>
        </p:txBody>
      </p:sp>
      <p:sp>
        <p:nvSpPr>
          <p:cNvPr id="15432" name="TextBox 15431"/>
          <p:cNvSpPr txBox="1"/>
          <p:nvPr/>
        </p:nvSpPr>
        <p:spPr>
          <a:xfrm>
            <a:off x="7374636" y="4078350"/>
            <a:ext cx="4073652" cy="19786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3C4C63"/>
                </a:solidFill>
                <a:latin typeface="Segoe UI"/>
              </a:rPr>
              <a:t>When a fixed road stops sending jolts, the ticket closes on its own. Silence is the proof.</a:t>
            </a:r>
          </a:p>
        </p:txBody>
      </p:sp>
      <p:sp>
        <p:nvSpPr>
          <p:cNvPr id="15433" name="TextBox 15432"/>
          <p:cNvSpPr txBox="1"/>
          <p:nvPr/>
        </p:nvSpPr>
        <p:spPr>
          <a:xfrm>
            <a:off x="7374636" y="4676521"/>
            <a:ext cx="2792920" cy="22682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40" b="1" i="0">
                <a:solidFill>
                  <a:srgbClr val="0B1B33"/>
                </a:solidFill>
                <a:latin typeface="Segoe UI"/>
              </a:rPr>
              <a:t>Every vehicle reads differently, and we handle it</a:t>
            </a:r>
          </a:p>
        </p:txBody>
      </p:sp>
      <p:sp>
        <p:nvSpPr>
          <p:cNvPr id="15434" name="TextBox 15433"/>
          <p:cNvSpPr txBox="1"/>
          <p:nvPr/>
        </p:nvSpPr>
        <p:spPr>
          <a:xfrm>
            <a:off x="7374636" y="4901311"/>
            <a:ext cx="4339399" cy="19786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3C4C63"/>
                </a:solidFill>
                <a:latin typeface="Segoe UI"/>
              </a:rPr>
              <a:t>Each phone spends ten quiet minutes learning its own baseline, so a bike, an auto and a bus</a:t>
            </a:r>
          </a:p>
        </p:txBody>
      </p:sp>
      <p:sp>
        <p:nvSpPr>
          <p:cNvPr id="15435" name="TextBox 15434"/>
          <p:cNvSpPr txBox="1"/>
          <p:nvPr/>
        </p:nvSpPr>
        <p:spPr>
          <a:xfrm>
            <a:off x="7374636" y="5034610"/>
            <a:ext cx="925830" cy="19786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3C4C63"/>
                </a:solidFill>
                <a:latin typeface="Segoe UI"/>
              </a:rPr>
              <a:t>can all be trusted.</a:t>
            </a:r>
          </a:p>
        </p:txBody>
      </p:sp>
      <p:sp>
        <p:nvSpPr>
          <p:cNvPr id="15436" name="TextBox 15435"/>
          <p:cNvSpPr txBox="1"/>
          <p:nvPr/>
        </p:nvSpPr>
        <p:spPr>
          <a:xfrm>
            <a:off x="7374636" y="5499480"/>
            <a:ext cx="1214437" cy="22682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40" b="1" i="0">
                <a:solidFill>
                  <a:srgbClr val="0B1B33"/>
                </a:solidFill>
                <a:latin typeface="Segoe UI"/>
              </a:rPr>
              <a:t>Built to stay private</a:t>
            </a:r>
          </a:p>
        </p:txBody>
      </p:sp>
      <p:sp>
        <p:nvSpPr>
          <p:cNvPr id="15437" name="TextBox 15436"/>
          <p:cNvSpPr txBox="1"/>
          <p:nvPr/>
        </p:nvSpPr>
        <p:spPr>
          <a:xfrm>
            <a:off x="7374636" y="5724271"/>
            <a:ext cx="4181665" cy="19786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3C4C63"/>
                </a:solidFill>
                <a:latin typeface="Segoe UI"/>
              </a:rPr>
              <a:t>No personal details are collected, device IDs are hashed and clips are deleted after seven</a:t>
            </a:r>
          </a:p>
        </p:txBody>
      </p:sp>
      <p:sp>
        <p:nvSpPr>
          <p:cNvPr id="15438" name="TextBox 15437"/>
          <p:cNvSpPr txBox="1"/>
          <p:nvPr/>
        </p:nvSpPr>
        <p:spPr>
          <a:xfrm>
            <a:off x="7374636" y="5857570"/>
            <a:ext cx="341757" cy="19786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3C4C63"/>
                </a:solidFill>
                <a:latin typeface="Segoe UI"/>
              </a:rPr>
              <a:t>days.</a:t>
            </a:r>
          </a:p>
        </p:txBody>
      </p:sp>
      <p:pic>
        <p:nvPicPr>
          <p:cNvPr id="15439" name="Picture 15438" descr="sih_logo_20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1366" y="57097"/>
            <a:ext cx="2209120" cy="11228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45720"/>
            <a:ext cx="7955279" cy="960120"/>
          </a:xfrm>
        </p:spPr>
        <p:txBody>
          <a:bodyPr wrap="square" anchor="ctr"/>
          <a:lstStyle/>
          <a:p>
            <a:pPr eaLnBrk="1" hangingPunct="1" algn="ctr"/>
            <a:r>
              <a:rPr lang="en-US" sz="27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2026 Idea Submission - Team SETU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 i="0" u="none">
                <a:solidFill>
                  <a:srgbClr val="0B1B33"/>
                </a:solidFill>
                <a:latin typeface="Calibri"/>
              </a:rPr>
              <a:t>Team SETU</a:t>
            </a:r>
          </a:p>
        </p:txBody>
      </p:sp>
      <p:sp>
        <p:nvSpPr>
          <p:cNvPr id="17410" name="Rectangle 17409"/>
          <p:cNvSpPr/>
          <p:nvPr/>
        </p:nvSpPr>
        <p:spPr>
          <a:xfrm>
            <a:off x="274320" y="1097280"/>
            <a:ext cx="11640312" cy="5138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ounded Rectangle 17410"/>
          <p:cNvSpPr/>
          <p:nvPr/>
        </p:nvSpPr>
        <p:spPr>
          <a:xfrm>
            <a:off x="4498848" y="3218687"/>
            <a:ext cx="7397496" cy="3031236"/>
          </a:xfrm>
          <a:prstGeom prst="roundRect">
            <a:avLst>
              <a:gd name="adj" fmla="val 2111"/>
            </a:avLst>
          </a:prstGeom>
          <a:solidFill>
            <a:srgbClr val="F5F8FC"/>
          </a:solidFill>
          <a:ln w="13970">
            <a:solidFill>
              <a:srgbClr val="D4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292608" y="1517904"/>
            <a:ext cx="1674876" cy="841248"/>
          </a:xfrm>
          <a:prstGeom prst="roundRect">
            <a:avLst>
              <a:gd name="adj" fmla="val 7608"/>
            </a:avLst>
          </a:prstGeom>
          <a:solidFill>
            <a:srgbClr val="FFFFFF"/>
          </a:solidFill>
          <a:ln w="16510"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13" name="Rounded Rectangle 17412"/>
          <p:cNvSpPr/>
          <p:nvPr/>
        </p:nvSpPr>
        <p:spPr>
          <a:xfrm>
            <a:off x="2278380" y="1517904"/>
            <a:ext cx="1674876" cy="841248"/>
          </a:xfrm>
          <a:prstGeom prst="roundRect">
            <a:avLst>
              <a:gd name="adj" fmla="val 7608"/>
            </a:avLst>
          </a:prstGeom>
          <a:solidFill>
            <a:srgbClr val="FFFFFF"/>
          </a:solidFill>
          <a:ln w="16510">
            <a:solidFill>
              <a:srgbClr val="0E9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14" name="Rounded Rectangle 17413"/>
          <p:cNvSpPr/>
          <p:nvPr/>
        </p:nvSpPr>
        <p:spPr>
          <a:xfrm>
            <a:off x="4264152" y="1517904"/>
            <a:ext cx="1674876" cy="841248"/>
          </a:xfrm>
          <a:prstGeom prst="roundRect">
            <a:avLst>
              <a:gd name="adj" fmla="val 7608"/>
            </a:avLst>
          </a:prstGeom>
          <a:solidFill>
            <a:srgbClr val="FFFFFF"/>
          </a:solidFill>
          <a:ln w="16510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6249924" y="1517904"/>
            <a:ext cx="1674876" cy="841248"/>
          </a:xfrm>
          <a:prstGeom prst="roundRect">
            <a:avLst>
              <a:gd name="adj" fmla="val 7608"/>
            </a:avLst>
          </a:prstGeom>
          <a:solidFill>
            <a:srgbClr val="FFFFFF"/>
          </a:solidFill>
          <a:ln w="16510">
            <a:solidFill>
              <a:srgbClr val="D930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16" name="Rounded Rectangle 17415"/>
          <p:cNvSpPr/>
          <p:nvPr/>
        </p:nvSpPr>
        <p:spPr>
          <a:xfrm>
            <a:off x="8235696" y="1517904"/>
            <a:ext cx="1674876" cy="841248"/>
          </a:xfrm>
          <a:prstGeom prst="roundRect">
            <a:avLst>
              <a:gd name="adj" fmla="val 7608"/>
            </a:avLst>
          </a:prstGeom>
          <a:solidFill>
            <a:srgbClr val="FFFFFF"/>
          </a:solidFill>
          <a:ln w="16510">
            <a:solidFill>
              <a:srgbClr val="17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10221468" y="1517904"/>
            <a:ext cx="1674876" cy="841248"/>
          </a:xfrm>
          <a:prstGeom prst="roundRect">
            <a:avLst>
              <a:gd name="adj" fmla="val 7608"/>
            </a:avLst>
          </a:prstGeom>
          <a:solidFill>
            <a:srgbClr val="FFFFFF"/>
          </a:solidFill>
          <a:ln w="16510">
            <a:solidFill>
              <a:srgbClr val="6C3B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18" name="Rounded Rectangle 17417"/>
          <p:cNvSpPr/>
          <p:nvPr/>
        </p:nvSpPr>
        <p:spPr>
          <a:xfrm>
            <a:off x="292608" y="3218687"/>
            <a:ext cx="3877056" cy="2980944"/>
          </a:xfrm>
          <a:prstGeom prst="roundRect">
            <a:avLst>
              <a:gd name="adj" fmla="val 2147"/>
            </a:avLst>
          </a:prstGeom>
          <a:solidFill>
            <a:srgbClr val="FFFFFF"/>
          </a:solidFill>
          <a:ln w="13970">
            <a:solidFill>
              <a:srgbClr val="D4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475488" y="3803904"/>
            <a:ext cx="2578608" cy="182880"/>
          </a:xfrm>
          <a:prstGeom prst="roundRect">
            <a:avLst>
              <a:gd name="adj" fmla="val 125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20" name="Rounded Rectangle 17419"/>
          <p:cNvSpPr/>
          <p:nvPr/>
        </p:nvSpPr>
        <p:spPr>
          <a:xfrm>
            <a:off x="475488" y="4288536"/>
            <a:ext cx="2578608" cy="182880"/>
          </a:xfrm>
          <a:prstGeom prst="roundRect">
            <a:avLst>
              <a:gd name="adj" fmla="val 125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21" name="Rounded Rectangle 17420"/>
          <p:cNvSpPr/>
          <p:nvPr/>
        </p:nvSpPr>
        <p:spPr>
          <a:xfrm>
            <a:off x="475488" y="4773168"/>
            <a:ext cx="2578608" cy="182880"/>
          </a:xfrm>
          <a:prstGeom prst="roundRect">
            <a:avLst>
              <a:gd name="adj" fmla="val 125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22" name="Rounded Rectangle 17421"/>
          <p:cNvSpPr/>
          <p:nvPr/>
        </p:nvSpPr>
        <p:spPr>
          <a:xfrm>
            <a:off x="475488" y="5257800"/>
            <a:ext cx="2578608" cy="182880"/>
          </a:xfrm>
          <a:prstGeom prst="roundRect">
            <a:avLst>
              <a:gd name="adj" fmla="val 125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23" name="Rounded Rectangle 17422"/>
          <p:cNvSpPr/>
          <p:nvPr/>
        </p:nvSpPr>
        <p:spPr>
          <a:xfrm>
            <a:off x="475488" y="5742432"/>
            <a:ext cx="2578608" cy="182880"/>
          </a:xfrm>
          <a:prstGeom prst="roundRect">
            <a:avLst>
              <a:gd name="adj" fmla="val 125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24" name="Rounded Rectangle 17423"/>
          <p:cNvSpPr/>
          <p:nvPr/>
        </p:nvSpPr>
        <p:spPr>
          <a:xfrm>
            <a:off x="292608" y="1097280"/>
            <a:ext cx="11603736" cy="301752"/>
          </a:xfrm>
          <a:prstGeom prst="roundRect">
            <a:avLst>
              <a:gd name="adj" fmla="val 21212"/>
            </a:avLst>
          </a:prstGeom>
          <a:solidFill>
            <a:srgbClr val="12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25" name="Rounded Rectangle 17424"/>
          <p:cNvSpPr/>
          <p:nvPr/>
        </p:nvSpPr>
        <p:spPr>
          <a:xfrm>
            <a:off x="292608" y="2852928"/>
            <a:ext cx="3877056" cy="301752"/>
          </a:xfrm>
          <a:prstGeom prst="roundRect">
            <a:avLst>
              <a:gd name="adj" fmla="val 21212"/>
            </a:avLst>
          </a:prstGeom>
          <a:solidFill>
            <a:srgbClr val="12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26" name="Rounded Rectangle 17425"/>
          <p:cNvSpPr/>
          <p:nvPr/>
        </p:nvSpPr>
        <p:spPr>
          <a:xfrm>
            <a:off x="475488" y="3803904"/>
            <a:ext cx="2578608" cy="182880"/>
          </a:xfrm>
          <a:prstGeom prst="roundRect">
            <a:avLst>
              <a:gd name="adj" fmla="val 12500"/>
            </a:avLst>
          </a:prstGeom>
          <a:solidFill>
            <a:srgbClr val="156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27" name="Rounded Rectangle 17426"/>
          <p:cNvSpPr/>
          <p:nvPr/>
        </p:nvSpPr>
        <p:spPr>
          <a:xfrm>
            <a:off x="475488" y="4288536"/>
            <a:ext cx="1598736" cy="182880"/>
          </a:xfrm>
          <a:prstGeom prst="roundRect">
            <a:avLst>
              <a:gd name="adj" fmla="val 12500"/>
            </a:avLst>
          </a:prstGeom>
          <a:solidFill>
            <a:srgbClr val="0E9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28" name="Rounded Rectangle 17427"/>
          <p:cNvSpPr/>
          <p:nvPr/>
        </p:nvSpPr>
        <p:spPr>
          <a:xfrm>
            <a:off x="475488" y="4773168"/>
            <a:ext cx="979871" cy="182880"/>
          </a:xfrm>
          <a:prstGeom prst="roundRect">
            <a:avLst>
              <a:gd name="adj" fmla="val 12500"/>
            </a:avLst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29" name="Rounded Rectangle 17428"/>
          <p:cNvSpPr/>
          <p:nvPr/>
        </p:nvSpPr>
        <p:spPr>
          <a:xfrm>
            <a:off x="475488" y="5257800"/>
            <a:ext cx="515721" cy="182880"/>
          </a:xfrm>
          <a:prstGeom prst="roundRect">
            <a:avLst>
              <a:gd name="adj" fmla="val 12500"/>
            </a:avLst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30" name="Rounded Rectangle 17429"/>
          <p:cNvSpPr/>
          <p:nvPr/>
        </p:nvSpPr>
        <p:spPr>
          <a:xfrm>
            <a:off x="475488" y="5742432"/>
            <a:ext cx="335219" cy="182880"/>
          </a:xfrm>
          <a:prstGeom prst="roundRect">
            <a:avLst>
              <a:gd name="adj" fmla="val 12500"/>
            </a:avLst>
          </a:prstGeom>
          <a:solidFill>
            <a:srgbClr val="17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31" name="Rounded Rectangle 17430"/>
          <p:cNvSpPr/>
          <p:nvPr/>
        </p:nvSpPr>
        <p:spPr>
          <a:xfrm>
            <a:off x="4498848" y="2852928"/>
            <a:ext cx="7397496" cy="301752"/>
          </a:xfrm>
          <a:prstGeom prst="roundRect">
            <a:avLst>
              <a:gd name="adj" fmla="val 21212"/>
            </a:avLst>
          </a:prstGeom>
          <a:solidFill>
            <a:srgbClr val="12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32" name="Rounded Rectangle 17431"/>
          <p:cNvSpPr/>
          <p:nvPr/>
        </p:nvSpPr>
        <p:spPr>
          <a:xfrm>
            <a:off x="5441251" y="3355848"/>
            <a:ext cx="72409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33" name="Rounded Rectangle 17432"/>
          <p:cNvSpPr/>
          <p:nvPr/>
        </p:nvSpPr>
        <p:spPr>
          <a:xfrm>
            <a:off x="6233922" y="3355848"/>
            <a:ext cx="844677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34" name="Rounded Rectangle 17433"/>
          <p:cNvSpPr/>
          <p:nvPr/>
        </p:nvSpPr>
        <p:spPr>
          <a:xfrm>
            <a:off x="7147179" y="3355848"/>
            <a:ext cx="1372171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35" name="Rounded Rectangle 17434"/>
          <p:cNvSpPr/>
          <p:nvPr/>
        </p:nvSpPr>
        <p:spPr>
          <a:xfrm>
            <a:off x="8587930" y="3355848"/>
            <a:ext cx="809244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36" name="Rounded Rectangle 17435"/>
          <p:cNvSpPr/>
          <p:nvPr/>
        </p:nvSpPr>
        <p:spPr>
          <a:xfrm>
            <a:off x="9465754" y="3355848"/>
            <a:ext cx="832675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37" name="Rounded Rectangle 17436"/>
          <p:cNvSpPr/>
          <p:nvPr/>
        </p:nvSpPr>
        <p:spPr>
          <a:xfrm>
            <a:off x="10367010" y="3355848"/>
            <a:ext cx="572071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38" name="Rounded Rectangle 17437"/>
          <p:cNvSpPr/>
          <p:nvPr/>
        </p:nvSpPr>
        <p:spPr>
          <a:xfrm>
            <a:off x="4626864" y="3346704"/>
            <a:ext cx="41148" cy="237743"/>
          </a:xfrm>
          <a:prstGeom prst="roundRect">
            <a:avLst>
              <a:gd name="adj" fmla="val 44444"/>
            </a:avLst>
          </a:prstGeom>
          <a:solidFill>
            <a:srgbClr val="156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39" name="Rounded Rectangle 17438"/>
          <p:cNvSpPr/>
          <p:nvPr/>
        </p:nvSpPr>
        <p:spPr>
          <a:xfrm>
            <a:off x="5334952" y="3803903"/>
            <a:ext cx="827532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9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40" name="Rounded Rectangle 17439"/>
          <p:cNvSpPr/>
          <p:nvPr/>
        </p:nvSpPr>
        <p:spPr>
          <a:xfrm>
            <a:off x="6231064" y="3803903"/>
            <a:ext cx="820102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9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41" name="Rounded Rectangle 17440"/>
          <p:cNvSpPr/>
          <p:nvPr/>
        </p:nvSpPr>
        <p:spPr>
          <a:xfrm>
            <a:off x="7119746" y="3803903"/>
            <a:ext cx="782955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9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42" name="Rounded Rectangle 17441"/>
          <p:cNvSpPr/>
          <p:nvPr/>
        </p:nvSpPr>
        <p:spPr>
          <a:xfrm>
            <a:off x="7971281" y="3803903"/>
            <a:ext cx="708659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9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43" name="Rounded Rectangle 17442"/>
          <p:cNvSpPr/>
          <p:nvPr/>
        </p:nvSpPr>
        <p:spPr>
          <a:xfrm>
            <a:off x="8748522" y="3803903"/>
            <a:ext cx="58293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9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44" name="Rounded Rectangle 17443"/>
          <p:cNvSpPr/>
          <p:nvPr/>
        </p:nvSpPr>
        <p:spPr>
          <a:xfrm>
            <a:off x="9400032" y="3803903"/>
            <a:ext cx="1118425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9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45" name="Rounded Rectangle 17444"/>
          <p:cNvSpPr/>
          <p:nvPr/>
        </p:nvSpPr>
        <p:spPr>
          <a:xfrm>
            <a:off x="4626864" y="3794759"/>
            <a:ext cx="41148" cy="237743"/>
          </a:xfrm>
          <a:prstGeom prst="roundRect">
            <a:avLst>
              <a:gd name="adj" fmla="val 44444"/>
            </a:avLst>
          </a:prstGeom>
          <a:solidFill>
            <a:srgbClr val="0E9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46" name="Rounded Rectangle 17445"/>
          <p:cNvSpPr/>
          <p:nvPr/>
        </p:nvSpPr>
        <p:spPr>
          <a:xfrm>
            <a:off x="5141785" y="4251959"/>
            <a:ext cx="812672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47" name="Rounded Rectangle 17446"/>
          <p:cNvSpPr/>
          <p:nvPr/>
        </p:nvSpPr>
        <p:spPr>
          <a:xfrm>
            <a:off x="6023038" y="4251959"/>
            <a:ext cx="511492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48" name="Rounded Rectangle 17447"/>
          <p:cNvSpPr/>
          <p:nvPr/>
        </p:nvSpPr>
        <p:spPr>
          <a:xfrm>
            <a:off x="6603110" y="4251959"/>
            <a:ext cx="505777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49" name="Rounded Rectangle 17448"/>
          <p:cNvSpPr/>
          <p:nvPr/>
        </p:nvSpPr>
        <p:spPr>
          <a:xfrm>
            <a:off x="7177468" y="4251959"/>
            <a:ext cx="1109281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50" name="Rounded Rectangle 17449"/>
          <p:cNvSpPr/>
          <p:nvPr/>
        </p:nvSpPr>
        <p:spPr>
          <a:xfrm>
            <a:off x="8355329" y="4251959"/>
            <a:ext cx="934974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51" name="Rounded Rectangle 17450"/>
          <p:cNvSpPr/>
          <p:nvPr/>
        </p:nvSpPr>
        <p:spPr>
          <a:xfrm>
            <a:off x="4626864" y="4242816"/>
            <a:ext cx="41148" cy="237743"/>
          </a:xfrm>
          <a:prstGeom prst="roundRect">
            <a:avLst>
              <a:gd name="adj" fmla="val 44444"/>
            </a:avLst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52" name="Rounded Rectangle 17451"/>
          <p:cNvSpPr/>
          <p:nvPr/>
        </p:nvSpPr>
        <p:spPr>
          <a:xfrm>
            <a:off x="5706998" y="4700015"/>
            <a:ext cx="98698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C3B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53" name="Rounded Rectangle 17452"/>
          <p:cNvSpPr/>
          <p:nvPr/>
        </p:nvSpPr>
        <p:spPr>
          <a:xfrm>
            <a:off x="6762559" y="4700015"/>
            <a:ext cx="721233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C3B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54" name="Rounded Rectangle 17453"/>
          <p:cNvSpPr/>
          <p:nvPr/>
        </p:nvSpPr>
        <p:spPr>
          <a:xfrm>
            <a:off x="7552372" y="4700015"/>
            <a:ext cx="492633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C3B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55" name="Rounded Rectangle 17454"/>
          <p:cNvSpPr/>
          <p:nvPr/>
        </p:nvSpPr>
        <p:spPr>
          <a:xfrm>
            <a:off x="8113585" y="4700015"/>
            <a:ext cx="73152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C3B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56" name="Rounded Rectangle 17455"/>
          <p:cNvSpPr/>
          <p:nvPr/>
        </p:nvSpPr>
        <p:spPr>
          <a:xfrm>
            <a:off x="8913685" y="4700015"/>
            <a:ext cx="55264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C3B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57" name="Rounded Rectangle 17456"/>
          <p:cNvSpPr/>
          <p:nvPr/>
        </p:nvSpPr>
        <p:spPr>
          <a:xfrm>
            <a:off x="9534906" y="4700015"/>
            <a:ext cx="589788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C3B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58" name="Rounded Rectangle 17457"/>
          <p:cNvSpPr/>
          <p:nvPr/>
        </p:nvSpPr>
        <p:spPr>
          <a:xfrm>
            <a:off x="10193274" y="4700015"/>
            <a:ext cx="744664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C3B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59" name="Rounded Rectangle 17458"/>
          <p:cNvSpPr/>
          <p:nvPr/>
        </p:nvSpPr>
        <p:spPr>
          <a:xfrm>
            <a:off x="4626864" y="4690871"/>
            <a:ext cx="41148" cy="237743"/>
          </a:xfrm>
          <a:prstGeom prst="roundRect">
            <a:avLst>
              <a:gd name="adj" fmla="val 44444"/>
            </a:avLst>
          </a:prstGeom>
          <a:solidFill>
            <a:srgbClr val="6C3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60" name="Rounded Rectangle 17459"/>
          <p:cNvSpPr/>
          <p:nvPr/>
        </p:nvSpPr>
        <p:spPr>
          <a:xfrm>
            <a:off x="5937313" y="5148072"/>
            <a:ext cx="1512189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30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61" name="Rounded Rectangle 17460"/>
          <p:cNvSpPr/>
          <p:nvPr/>
        </p:nvSpPr>
        <p:spPr>
          <a:xfrm>
            <a:off x="7518082" y="5148072"/>
            <a:ext cx="870965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30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62" name="Rounded Rectangle 17461"/>
          <p:cNvSpPr/>
          <p:nvPr/>
        </p:nvSpPr>
        <p:spPr>
          <a:xfrm>
            <a:off x="8457628" y="5148072"/>
            <a:ext cx="1369885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30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63" name="Rounded Rectangle 17462"/>
          <p:cNvSpPr/>
          <p:nvPr/>
        </p:nvSpPr>
        <p:spPr>
          <a:xfrm>
            <a:off x="9896094" y="5148072"/>
            <a:ext cx="800671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30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64" name="Rounded Rectangle 17463"/>
          <p:cNvSpPr/>
          <p:nvPr/>
        </p:nvSpPr>
        <p:spPr>
          <a:xfrm>
            <a:off x="5937313" y="5445252"/>
            <a:ext cx="950976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30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65" name="Rounded Rectangle 17464"/>
          <p:cNvSpPr/>
          <p:nvPr/>
        </p:nvSpPr>
        <p:spPr>
          <a:xfrm>
            <a:off x="6956869" y="5445252"/>
            <a:ext cx="904684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30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66" name="Rounded Rectangle 17465"/>
          <p:cNvSpPr/>
          <p:nvPr/>
        </p:nvSpPr>
        <p:spPr>
          <a:xfrm>
            <a:off x="4626864" y="5138927"/>
            <a:ext cx="41148" cy="516636"/>
          </a:xfrm>
          <a:prstGeom prst="roundRect">
            <a:avLst>
              <a:gd name="adj" fmla="val 44444"/>
            </a:avLst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67" name="Rounded Rectangle 17466"/>
          <p:cNvSpPr/>
          <p:nvPr/>
        </p:nvSpPr>
        <p:spPr>
          <a:xfrm>
            <a:off x="5439537" y="5875020"/>
            <a:ext cx="923544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68" name="Rounded Rectangle 17467"/>
          <p:cNvSpPr/>
          <p:nvPr/>
        </p:nvSpPr>
        <p:spPr>
          <a:xfrm>
            <a:off x="6431661" y="5875020"/>
            <a:ext cx="43834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69" name="Rounded Rectangle 17468"/>
          <p:cNvSpPr/>
          <p:nvPr/>
        </p:nvSpPr>
        <p:spPr>
          <a:xfrm>
            <a:off x="6938581" y="5875020"/>
            <a:ext cx="836104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70" name="Rounded Rectangle 17469"/>
          <p:cNvSpPr/>
          <p:nvPr/>
        </p:nvSpPr>
        <p:spPr>
          <a:xfrm>
            <a:off x="7843266" y="5875020"/>
            <a:ext cx="821245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71" name="Rounded Rectangle 17470"/>
          <p:cNvSpPr/>
          <p:nvPr/>
        </p:nvSpPr>
        <p:spPr>
          <a:xfrm>
            <a:off x="8733091" y="5875020"/>
            <a:ext cx="1043559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72" name="Rounded Rectangle 17471"/>
          <p:cNvSpPr/>
          <p:nvPr/>
        </p:nvSpPr>
        <p:spPr>
          <a:xfrm>
            <a:off x="9845230" y="5875020"/>
            <a:ext cx="994981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7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73" name="Rounded Rectangle 17472"/>
          <p:cNvSpPr/>
          <p:nvPr/>
        </p:nvSpPr>
        <p:spPr>
          <a:xfrm>
            <a:off x="4626864" y="5865876"/>
            <a:ext cx="41148" cy="237743"/>
          </a:xfrm>
          <a:prstGeom prst="roundRect">
            <a:avLst>
              <a:gd name="adj" fmla="val 44444"/>
            </a:avLst>
          </a:prstGeom>
          <a:solidFill>
            <a:srgbClr val="17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74" name="Oval 17473"/>
          <p:cNvSpPr/>
          <p:nvPr/>
        </p:nvSpPr>
        <p:spPr>
          <a:xfrm>
            <a:off x="988314" y="1613916"/>
            <a:ext cx="283464" cy="283464"/>
          </a:xfrm>
          <a:prstGeom prst="ellipse">
            <a:avLst/>
          </a:prstGeom>
          <a:solidFill>
            <a:srgbClr val="156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2022348" y="1872691"/>
            <a:ext cx="210312" cy="131673"/>
          </a:xfrm>
          <a:custGeom>
            <a:avLst/>
            <a:gdLst/>
            <a:ahLst/>
            <a:cxnLst/>
            <a:rect l="l" t="t" r="r" b="b"/>
            <a:pathLst>
              <a:path w="210312" h="131673">
                <a:moveTo>
                  <a:pt x="0" y="47549"/>
                </a:moveTo>
                <a:lnTo>
                  <a:pt x="118872" y="47549"/>
                </a:lnTo>
                <a:lnTo>
                  <a:pt x="118872" y="0"/>
                </a:lnTo>
                <a:lnTo>
                  <a:pt x="210312" y="65837"/>
                </a:lnTo>
                <a:lnTo>
                  <a:pt x="118872" y="131673"/>
                </a:lnTo>
                <a:lnTo>
                  <a:pt x="118872" y="84125"/>
                </a:lnTo>
                <a:lnTo>
                  <a:pt x="0" y="84125"/>
                </a:lnTo>
                <a:close/>
              </a:path>
            </a:pathLst>
          </a:cu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5" name="Oval 17474"/>
          <p:cNvSpPr/>
          <p:nvPr/>
        </p:nvSpPr>
        <p:spPr>
          <a:xfrm>
            <a:off x="2974086" y="1613916"/>
            <a:ext cx="283464" cy="283464"/>
          </a:xfrm>
          <a:prstGeom prst="ellipse">
            <a:avLst/>
          </a:prstGeom>
          <a:solidFill>
            <a:srgbClr val="0E9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008119" y="1872691"/>
            <a:ext cx="210313" cy="131673"/>
          </a:xfrm>
          <a:custGeom>
            <a:avLst/>
            <a:gdLst/>
            <a:ahLst/>
            <a:cxnLst/>
            <a:rect l="l" t="t" r="r" b="b"/>
            <a:pathLst>
              <a:path w="210313" h="131673">
                <a:moveTo>
                  <a:pt x="0" y="47549"/>
                </a:moveTo>
                <a:lnTo>
                  <a:pt x="118873" y="47549"/>
                </a:lnTo>
                <a:lnTo>
                  <a:pt x="118873" y="0"/>
                </a:lnTo>
                <a:lnTo>
                  <a:pt x="210313" y="65837"/>
                </a:lnTo>
                <a:lnTo>
                  <a:pt x="118873" y="131673"/>
                </a:lnTo>
                <a:lnTo>
                  <a:pt x="118873" y="84125"/>
                </a:lnTo>
                <a:lnTo>
                  <a:pt x="0" y="84125"/>
                </a:lnTo>
                <a:close/>
              </a:path>
            </a:pathLst>
          </a:cu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6" name="Oval 17475"/>
          <p:cNvSpPr/>
          <p:nvPr/>
        </p:nvSpPr>
        <p:spPr>
          <a:xfrm>
            <a:off x="4959858" y="1613916"/>
            <a:ext cx="283464" cy="283464"/>
          </a:xfrm>
          <a:prstGeom prst="ellipse">
            <a:avLst/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5993892" y="1872691"/>
            <a:ext cx="210312" cy="131673"/>
          </a:xfrm>
          <a:custGeom>
            <a:avLst/>
            <a:gdLst/>
            <a:ahLst/>
            <a:cxnLst/>
            <a:rect l="l" t="t" r="r" b="b"/>
            <a:pathLst>
              <a:path w="210312" h="131673">
                <a:moveTo>
                  <a:pt x="0" y="47549"/>
                </a:moveTo>
                <a:lnTo>
                  <a:pt x="118872" y="47549"/>
                </a:lnTo>
                <a:lnTo>
                  <a:pt x="118872" y="0"/>
                </a:lnTo>
                <a:lnTo>
                  <a:pt x="210312" y="65837"/>
                </a:lnTo>
                <a:lnTo>
                  <a:pt x="118872" y="131673"/>
                </a:lnTo>
                <a:lnTo>
                  <a:pt x="118872" y="84125"/>
                </a:lnTo>
                <a:lnTo>
                  <a:pt x="0" y="84125"/>
                </a:lnTo>
                <a:close/>
              </a:path>
            </a:pathLst>
          </a:cu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7" name="Oval 17476"/>
          <p:cNvSpPr/>
          <p:nvPr/>
        </p:nvSpPr>
        <p:spPr>
          <a:xfrm>
            <a:off x="6945630" y="1613916"/>
            <a:ext cx="283464" cy="283464"/>
          </a:xfrm>
          <a:prstGeom prst="ellipse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979664" y="1872691"/>
            <a:ext cx="210312" cy="131673"/>
          </a:xfrm>
          <a:custGeom>
            <a:avLst/>
            <a:gdLst/>
            <a:ahLst/>
            <a:cxnLst/>
            <a:rect l="l" t="t" r="r" b="b"/>
            <a:pathLst>
              <a:path w="210312" h="131673">
                <a:moveTo>
                  <a:pt x="0" y="47549"/>
                </a:moveTo>
                <a:lnTo>
                  <a:pt x="118872" y="47549"/>
                </a:lnTo>
                <a:lnTo>
                  <a:pt x="118872" y="0"/>
                </a:lnTo>
                <a:lnTo>
                  <a:pt x="210312" y="65837"/>
                </a:lnTo>
                <a:lnTo>
                  <a:pt x="118872" y="131673"/>
                </a:lnTo>
                <a:lnTo>
                  <a:pt x="118872" y="84125"/>
                </a:lnTo>
                <a:lnTo>
                  <a:pt x="0" y="84125"/>
                </a:lnTo>
                <a:close/>
              </a:path>
            </a:pathLst>
          </a:cu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8" name="Oval 17477"/>
          <p:cNvSpPr/>
          <p:nvPr/>
        </p:nvSpPr>
        <p:spPr>
          <a:xfrm>
            <a:off x="8931402" y="1613916"/>
            <a:ext cx="283464" cy="283464"/>
          </a:xfrm>
          <a:prstGeom prst="ellipse">
            <a:avLst/>
          </a:prstGeom>
          <a:solidFill>
            <a:srgbClr val="17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9965436" y="1872691"/>
            <a:ext cx="210312" cy="131673"/>
          </a:xfrm>
          <a:custGeom>
            <a:avLst/>
            <a:gdLst/>
            <a:ahLst/>
            <a:cxnLst/>
            <a:rect l="l" t="t" r="r" b="b"/>
            <a:pathLst>
              <a:path w="210312" h="131673">
                <a:moveTo>
                  <a:pt x="0" y="47549"/>
                </a:moveTo>
                <a:lnTo>
                  <a:pt x="118872" y="47549"/>
                </a:lnTo>
                <a:lnTo>
                  <a:pt x="118872" y="0"/>
                </a:lnTo>
                <a:lnTo>
                  <a:pt x="210312" y="65837"/>
                </a:lnTo>
                <a:lnTo>
                  <a:pt x="118872" y="131673"/>
                </a:lnTo>
                <a:lnTo>
                  <a:pt x="118872" y="84125"/>
                </a:lnTo>
                <a:lnTo>
                  <a:pt x="0" y="84125"/>
                </a:lnTo>
                <a:close/>
              </a:path>
            </a:pathLst>
          </a:cu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9" name="Oval 17478"/>
          <p:cNvSpPr/>
          <p:nvPr/>
        </p:nvSpPr>
        <p:spPr>
          <a:xfrm>
            <a:off x="10917174" y="1613916"/>
            <a:ext cx="283464" cy="283464"/>
          </a:xfrm>
          <a:prstGeom prst="ellipse">
            <a:avLst/>
          </a:prstGeom>
          <a:solidFill>
            <a:srgbClr val="6C3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0" name="TextBox 17479"/>
          <p:cNvSpPr txBox="1"/>
          <p:nvPr/>
        </p:nvSpPr>
        <p:spPr>
          <a:xfrm>
            <a:off x="4709445" y="1121473"/>
            <a:ext cx="2770060" cy="25336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HOW THE DATA MOVES, START TO FINISH</a:t>
            </a:r>
          </a:p>
        </p:txBody>
      </p:sp>
      <p:sp>
        <p:nvSpPr>
          <p:cNvPr id="17481" name="TextBox 17480"/>
          <p:cNvSpPr txBox="1"/>
          <p:nvPr/>
        </p:nvSpPr>
        <p:spPr>
          <a:xfrm>
            <a:off x="1399603" y="2877121"/>
            <a:ext cx="1663065" cy="25336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WHY THE MATH WORKS</a:t>
            </a:r>
          </a:p>
        </p:txBody>
      </p:sp>
      <p:sp>
        <p:nvSpPr>
          <p:cNvPr id="17482" name="TextBox 17481"/>
          <p:cNvSpPr txBox="1"/>
          <p:nvPr/>
        </p:nvSpPr>
        <p:spPr>
          <a:xfrm>
            <a:off x="7067740" y="2877121"/>
            <a:ext cx="2259711" cy="25336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WHAT WE ARE BUILDING IT WITH</a:t>
            </a:r>
          </a:p>
        </p:txBody>
      </p:sp>
      <p:sp>
        <p:nvSpPr>
          <p:cNvPr id="17483" name="TextBox 17482"/>
          <p:cNvSpPr txBox="1"/>
          <p:nvPr/>
        </p:nvSpPr>
        <p:spPr>
          <a:xfrm>
            <a:off x="1040034" y="1644396"/>
            <a:ext cx="180022" cy="23164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6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7484" name="TextBox 17483"/>
          <p:cNvSpPr txBox="1"/>
          <p:nvPr/>
        </p:nvSpPr>
        <p:spPr>
          <a:xfrm>
            <a:off x="558546" y="1935987"/>
            <a:ext cx="1143000" cy="2123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80" b="1" i="0">
                <a:solidFill>
                  <a:srgbClr val="0B1B33"/>
                </a:solidFill>
                <a:latin typeface="Segoe UI"/>
              </a:rPr>
              <a:t>Phone notices a jolt</a:t>
            </a:r>
          </a:p>
        </p:txBody>
      </p:sp>
      <p:sp>
        <p:nvSpPr>
          <p:cNvPr id="17485" name="TextBox 17484"/>
          <p:cNvSpPr txBox="1"/>
          <p:nvPr/>
        </p:nvSpPr>
        <p:spPr>
          <a:xfrm>
            <a:off x="3025806" y="1644396"/>
            <a:ext cx="180022" cy="23164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6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486" name="TextBox 17485"/>
          <p:cNvSpPr txBox="1"/>
          <p:nvPr/>
        </p:nvSpPr>
        <p:spPr>
          <a:xfrm>
            <a:off x="2352865" y="1935987"/>
            <a:ext cx="1525905" cy="2123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80" b="1" i="0">
                <a:solidFill>
                  <a:srgbClr val="0B1B33"/>
                </a:solidFill>
                <a:latin typeface="Segoe UI"/>
              </a:rPr>
              <a:t>Reading reaches our server</a:t>
            </a:r>
          </a:p>
        </p:txBody>
      </p:sp>
      <p:sp>
        <p:nvSpPr>
          <p:cNvPr id="17487" name="TextBox 17486"/>
          <p:cNvSpPr txBox="1"/>
          <p:nvPr/>
        </p:nvSpPr>
        <p:spPr>
          <a:xfrm>
            <a:off x="5011864" y="1644396"/>
            <a:ext cx="179450" cy="23164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6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7488" name="TextBox 17487"/>
          <p:cNvSpPr txBox="1"/>
          <p:nvPr/>
        </p:nvSpPr>
        <p:spPr>
          <a:xfrm>
            <a:off x="4517802" y="1935987"/>
            <a:ext cx="1167574" cy="2123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80" b="1" i="0">
                <a:solidFill>
                  <a:srgbClr val="0B1B33"/>
                </a:solidFill>
                <a:latin typeface="Segoe UI"/>
              </a:rPr>
              <a:t>Nearby readings are</a:t>
            </a:r>
          </a:p>
        </p:txBody>
      </p:sp>
      <p:sp>
        <p:nvSpPr>
          <p:cNvPr id="17489" name="TextBox 17488"/>
          <p:cNvSpPr txBox="1"/>
          <p:nvPr/>
        </p:nvSpPr>
        <p:spPr>
          <a:xfrm>
            <a:off x="4823269" y="2074570"/>
            <a:ext cx="556641" cy="2123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80" b="1" i="0">
                <a:solidFill>
                  <a:srgbClr val="0B1B33"/>
                </a:solidFill>
                <a:latin typeface="Segoe UI"/>
              </a:rPr>
              <a:t>grouped</a:t>
            </a:r>
          </a:p>
        </p:txBody>
      </p:sp>
      <p:sp>
        <p:nvSpPr>
          <p:cNvPr id="17490" name="TextBox 17489"/>
          <p:cNvSpPr txBox="1"/>
          <p:nvPr/>
        </p:nvSpPr>
        <p:spPr>
          <a:xfrm>
            <a:off x="6997350" y="1644396"/>
            <a:ext cx="180022" cy="23164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6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7491" name="TextBox 17490"/>
          <p:cNvSpPr txBox="1"/>
          <p:nvPr/>
        </p:nvSpPr>
        <p:spPr>
          <a:xfrm>
            <a:off x="6416992" y="1935987"/>
            <a:ext cx="1340739" cy="2123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80" b="1" i="0">
                <a:solidFill>
                  <a:srgbClr val="0B1B33"/>
                </a:solidFill>
                <a:latin typeface="Segoe UI"/>
              </a:rPr>
              <a:t>A short clip is asked for</a:t>
            </a:r>
          </a:p>
        </p:txBody>
      </p:sp>
      <p:sp>
        <p:nvSpPr>
          <p:cNvPr id="17492" name="TextBox 17491"/>
          <p:cNvSpPr txBox="1"/>
          <p:nvPr/>
        </p:nvSpPr>
        <p:spPr>
          <a:xfrm>
            <a:off x="8983408" y="1644396"/>
            <a:ext cx="179450" cy="23164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6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7493" name="TextBox 17492"/>
          <p:cNvSpPr txBox="1"/>
          <p:nvPr/>
        </p:nvSpPr>
        <p:spPr>
          <a:xfrm>
            <a:off x="8489346" y="1935987"/>
            <a:ext cx="1167574" cy="2123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80" b="1" i="0">
                <a:solidFill>
                  <a:srgbClr val="0B1B33"/>
                </a:solidFill>
                <a:latin typeface="Segoe UI"/>
              </a:rPr>
              <a:t>Defect confirmed or</a:t>
            </a:r>
          </a:p>
        </p:txBody>
      </p:sp>
      <p:sp>
        <p:nvSpPr>
          <p:cNvPr id="17494" name="TextBox 17493"/>
          <p:cNvSpPr txBox="1"/>
          <p:nvPr/>
        </p:nvSpPr>
        <p:spPr>
          <a:xfrm>
            <a:off x="8793956" y="2074570"/>
            <a:ext cx="558355" cy="2123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80" b="1" i="0">
                <a:solidFill>
                  <a:srgbClr val="0B1B33"/>
                </a:solidFill>
                <a:latin typeface="Segoe UI"/>
              </a:rPr>
              <a:t>dropped</a:t>
            </a:r>
          </a:p>
        </p:txBody>
      </p:sp>
      <p:sp>
        <p:nvSpPr>
          <p:cNvPr id="17495" name="TextBox 17494"/>
          <p:cNvSpPr txBox="1"/>
          <p:nvPr/>
        </p:nvSpPr>
        <p:spPr>
          <a:xfrm>
            <a:off x="10969180" y="1644396"/>
            <a:ext cx="179450" cy="23164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6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7496" name="TextBox 17495"/>
          <p:cNvSpPr txBox="1"/>
          <p:nvPr/>
        </p:nvSpPr>
        <p:spPr>
          <a:xfrm>
            <a:off x="10348245" y="1935987"/>
            <a:ext cx="1421320" cy="2123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80" b="1" i="0">
                <a:solidFill>
                  <a:srgbClr val="0B1B33"/>
                </a:solidFill>
                <a:latin typeface="Segoe UI"/>
              </a:rPr>
              <a:t>City dashboard and work</a:t>
            </a:r>
          </a:p>
        </p:txBody>
      </p:sp>
      <p:sp>
        <p:nvSpPr>
          <p:cNvPr id="17497" name="TextBox 17496"/>
          <p:cNvSpPr txBox="1"/>
          <p:nvPr/>
        </p:nvSpPr>
        <p:spPr>
          <a:xfrm>
            <a:off x="10861167" y="2074570"/>
            <a:ext cx="395478" cy="2123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80" b="1" i="0">
                <a:solidFill>
                  <a:srgbClr val="0B1B33"/>
                </a:solidFill>
                <a:latin typeface="Segoe UI"/>
              </a:rPr>
              <a:t>order</a:t>
            </a:r>
          </a:p>
        </p:txBody>
      </p:sp>
      <p:sp>
        <p:nvSpPr>
          <p:cNvPr id="17498" name="TextBox 17497"/>
          <p:cNvSpPr txBox="1"/>
          <p:nvPr/>
        </p:nvSpPr>
        <p:spPr>
          <a:xfrm>
            <a:off x="2456307" y="2477262"/>
            <a:ext cx="7276338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40" b="0" i="1">
                <a:solidFill>
                  <a:srgbClr val="3C4C63"/>
                </a:solidFill>
                <a:latin typeface="Segoe UI"/>
              </a:rPr>
              <a:t>The loop closes itself: when a repaired spot stops reporting jolts, the ticket is marked done and every confirmed or rejected case goes back in as training data.</a:t>
            </a:r>
          </a:p>
        </p:txBody>
      </p:sp>
      <p:sp>
        <p:nvSpPr>
          <p:cNvPr id="17499" name="TextBox 17498"/>
          <p:cNvSpPr txBox="1"/>
          <p:nvPr/>
        </p:nvSpPr>
        <p:spPr>
          <a:xfrm>
            <a:off x="425196" y="3290189"/>
            <a:ext cx="1330452" cy="20751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60" b="0" i="1">
                <a:solidFill>
                  <a:srgbClr val="6B7A90"/>
                </a:solidFill>
                <a:latin typeface="Segoe UI"/>
              </a:rPr>
              <a:t>For every 1,000 km driven</a:t>
            </a:r>
          </a:p>
        </p:txBody>
      </p:sp>
      <p:sp>
        <p:nvSpPr>
          <p:cNvPr id="17500" name="TextBox 17499"/>
          <p:cNvSpPr txBox="1"/>
          <p:nvPr/>
        </p:nvSpPr>
        <p:spPr>
          <a:xfrm>
            <a:off x="425196" y="3583686"/>
            <a:ext cx="1076706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40" b="0" i="0">
                <a:solidFill>
                  <a:srgbClr val="3C4C63"/>
                </a:solidFill>
                <a:latin typeface="Segoe UI"/>
              </a:rPr>
              <a:t>Raw sensor windows</a:t>
            </a:r>
          </a:p>
        </p:txBody>
      </p:sp>
      <p:sp>
        <p:nvSpPr>
          <p:cNvPr id="17501" name="TextBox 17500"/>
          <p:cNvSpPr txBox="1"/>
          <p:nvPr/>
        </p:nvSpPr>
        <p:spPr>
          <a:xfrm>
            <a:off x="3113532" y="3800221"/>
            <a:ext cx="426339" cy="22682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40" b="1" i="0">
                <a:solidFill>
                  <a:srgbClr val="1565D8"/>
                </a:solidFill>
                <a:latin typeface="Segoe UI"/>
              </a:rPr>
              <a:t>1.8 M</a:t>
            </a:r>
          </a:p>
        </p:txBody>
      </p:sp>
      <p:sp>
        <p:nvSpPr>
          <p:cNvPr id="17502" name="TextBox 17501"/>
          <p:cNvSpPr txBox="1"/>
          <p:nvPr/>
        </p:nvSpPr>
        <p:spPr>
          <a:xfrm>
            <a:off x="425196" y="4068318"/>
            <a:ext cx="1341881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40" b="0" i="0">
                <a:solidFill>
                  <a:srgbClr val="3C4C63"/>
                </a:solidFill>
                <a:latin typeface="Segoe UI"/>
              </a:rPr>
              <a:t>Bumps flagged on phones</a:t>
            </a:r>
          </a:p>
        </p:txBody>
      </p:sp>
      <p:sp>
        <p:nvSpPr>
          <p:cNvPr id="17503" name="TextBox 17502"/>
          <p:cNvSpPr txBox="1"/>
          <p:nvPr/>
        </p:nvSpPr>
        <p:spPr>
          <a:xfrm>
            <a:off x="3113532" y="4284853"/>
            <a:ext cx="485203" cy="22682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40" b="1" i="0">
                <a:solidFill>
                  <a:srgbClr val="0E9594"/>
                </a:solidFill>
                <a:latin typeface="Segoe UI"/>
              </a:rPr>
              <a:t>12,000</a:t>
            </a:r>
          </a:p>
        </p:txBody>
      </p:sp>
      <p:sp>
        <p:nvSpPr>
          <p:cNvPr id="17504" name="TextBox 17503"/>
          <p:cNvSpPr txBox="1"/>
          <p:nvPr/>
        </p:nvSpPr>
        <p:spPr>
          <a:xfrm>
            <a:off x="425196" y="4552950"/>
            <a:ext cx="1215009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40" b="0" i="0">
                <a:solidFill>
                  <a:srgbClr val="3C4C63"/>
                </a:solidFill>
                <a:latin typeface="Segoe UI"/>
              </a:rPr>
              <a:t>Grouped into real spots</a:t>
            </a:r>
          </a:p>
        </p:txBody>
      </p:sp>
      <p:sp>
        <p:nvSpPr>
          <p:cNvPr id="17505" name="TextBox 17504"/>
          <p:cNvSpPr txBox="1"/>
          <p:nvPr/>
        </p:nvSpPr>
        <p:spPr>
          <a:xfrm>
            <a:off x="3113532" y="4769485"/>
            <a:ext cx="315468" cy="22682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40" b="1" i="0">
                <a:solidFill>
                  <a:srgbClr val="D98A00"/>
                </a:solidFill>
                <a:latin typeface="Segoe UI"/>
              </a:rPr>
              <a:t>600</a:t>
            </a:r>
          </a:p>
        </p:txBody>
      </p:sp>
      <p:sp>
        <p:nvSpPr>
          <p:cNvPr id="17506" name="TextBox 17505"/>
          <p:cNvSpPr txBox="1"/>
          <p:nvPr/>
        </p:nvSpPr>
        <p:spPr>
          <a:xfrm>
            <a:off x="425196" y="5037582"/>
            <a:ext cx="1101280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40" b="0" i="0">
                <a:solidFill>
                  <a:srgbClr val="3C4C63"/>
                </a:solidFill>
                <a:latin typeface="Segoe UI"/>
              </a:rPr>
              <a:t>Clips actually needed</a:t>
            </a:r>
          </a:p>
        </p:txBody>
      </p:sp>
      <p:sp>
        <p:nvSpPr>
          <p:cNvPr id="17507" name="TextBox 17506"/>
          <p:cNvSpPr txBox="1"/>
          <p:nvPr/>
        </p:nvSpPr>
        <p:spPr>
          <a:xfrm>
            <a:off x="3113532" y="5254117"/>
            <a:ext cx="315468" cy="22682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40" b="1" i="0">
                <a:solidFill>
                  <a:srgbClr val="D93025"/>
                </a:solidFill>
                <a:latin typeface="Segoe UI"/>
              </a:rPr>
              <a:t>120</a:t>
            </a:r>
          </a:p>
        </p:txBody>
      </p:sp>
      <p:sp>
        <p:nvSpPr>
          <p:cNvPr id="17508" name="TextBox 17507"/>
          <p:cNvSpPr txBox="1"/>
          <p:nvPr/>
        </p:nvSpPr>
        <p:spPr>
          <a:xfrm>
            <a:off x="425196" y="5522214"/>
            <a:ext cx="970407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40" b="0" i="0">
                <a:solidFill>
                  <a:srgbClr val="3C4C63"/>
                </a:solidFill>
                <a:latin typeface="Segoe UI"/>
              </a:rPr>
              <a:t>Confirmed defects</a:t>
            </a:r>
          </a:p>
        </p:txBody>
      </p:sp>
      <p:sp>
        <p:nvSpPr>
          <p:cNvPr id="17509" name="TextBox 17508"/>
          <p:cNvSpPr txBox="1"/>
          <p:nvPr/>
        </p:nvSpPr>
        <p:spPr>
          <a:xfrm>
            <a:off x="3113532" y="5738749"/>
            <a:ext cx="246888" cy="22682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40" b="1" i="0">
                <a:solidFill>
                  <a:srgbClr val="178A4C"/>
                </a:solidFill>
                <a:latin typeface="Segoe UI"/>
              </a:rPr>
              <a:t>95</a:t>
            </a:r>
          </a:p>
        </p:txBody>
      </p:sp>
      <p:sp>
        <p:nvSpPr>
          <p:cNvPr id="17510" name="TextBox 17509"/>
          <p:cNvSpPr txBox="1"/>
          <p:nvPr/>
        </p:nvSpPr>
        <p:spPr>
          <a:xfrm>
            <a:off x="425196" y="6098286"/>
            <a:ext cx="2056828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40" b="1" i="0">
                <a:solidFill>
                  <a:srgbClr val="0B1B33"/>
                </a:solidFill>
                <a:latin typeface="Segoe UI"/>
              </a:rPr>
              <a:t>The costly part runs on 1 spot in 1,000.</a:t>
            </a:r>
          </a:p>
        </p:txBody>
      </p:sp>
      <p:sp>
        <p:nvSpPr>
          <p:cNvPr id="17511" name="TextBox 17510"/>
          <p:cNvSpPr txBox="1"/>
          <p:nvPr/>
        </p:nvSpPr>
        <p:spPr>
          <a:xfrm>
            <a:off x="4704588" y="3372484"/>
            <a:ext cx="649795" cy="20751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60" b="1" i="0">
                <a:solidFill>
                  <a:srgbClr val="1565D8"/>
                </a:solidFill>
                <a:latin typeface="Segoe UI"/>
              </a:rPr>
              <a:t>Driver app</a:t>
            </a:r>
          </a:p>
        </p:txBody>
      </p:sp>
      <p:sp>
        <p:nvSpPr>
          <p:cNvPr id="17512" name="TextBox 17511"/>
          <p:cNvSpPr txBox="1"/>
          <p:nvPr/>
        </p:nvSpPr>
        <p:spPr>
          <a:xfrm>
            <a:off x="5477827" y="3380905"/>
            <a:ext cx="650938" cy="1858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70" b="0" i="0">
                <a:solidFill>
                  <a:srgbClr val="3C4C63"/>
                </a:solidFill>
                <a:latin typeface="Segoe UI"/>
              </a:rPr>
              <a:t>React Native</a:t>
            </a:r>
          </a:p>
        </p:txBody>
      </p:sp>
      <p:sp>
        <p:nvSpPr>
          <p:cNvPr id="17513" name="TextBox 17512"/>
          <p:cNvSpPr txBox="1"/>
          <p:nvPr/>
        </p:nvSpPr>
        <p:spPr>
          <a:xfrm>
            <a:off x="6270498" y="3380905"/>
            <a:ext cx="771525" cy="1858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70" b="0" i="0">
                <a:solidFill>
                  <a:srgbClr val="3C4C63"/>
                </a:solidFill>
                <a:latin typeface="Segoe UI"/>
              </a:rPr>
              <a:t>TensorFlow Lite</a:t>
            </a:r>
          </a:p>
        </p:txBody>
      </p:sp>
      <p:sp>
        <p:nvSpPr>
          <p:cNvPr id="17514" name="TextBox 17513"/>
          <p:cNvSpPr txBox="1"/>
          <p:nvPr/>
        </p:nvSpPr>
        <p:spPr>
          <a:xfrm>
            <a:off x="7183755" y="3380905"/>
            <a:ext cx="1299019" cy="1858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70" b="0" i="0">
                <a:solidFill>
                  <a:srgbClr val="3C4C63"/>
                </a:solidFill>
                <a:latin typeface="Segoe UI"/>
              </a:rPr>
              <a:t>Android foreground service</a:t>
            </a:r>
          </a:p>
        </p:txBody>
      </p:sp>
      <p:sp>
        <p:nvSpPr>
          <p:cNvPr id="17515" name="TextBox 17514"/>
          <p:cNvSpPr txBox="1"/>
          <p:nvPr/>
        </p:nvSpPr>
        <p:spPr>
          <a:xfrm>
            <a:off x="8624506" y="3380905"/>
            <a:ext cx="736092" cy="1858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70" b="0" i="0">
                <a:solidFill>
                  <a:srgbClr val="3C4C63"/>
                </a:solidFill>
                <a:latin typeface="Segoe UI"/>
              </a:rPr>
              <a:t>Room / SQLite</a:t>
            </a:r>
          </a:p>
        </p:txBody>
      </p:sp>
      <p:sp>
        <p:nvSpPr>
          <p:cNvPr id="17516" name="TextBox 17515"/>
          <p:cNvSpPr txBox="1"/>
          <p:nvPr/>
        </p:nvSpPr>
        <p:spPr>
          <a:xfrm>
            <a:off x="9502330" y="3380905"/>
            <a:ext cx="759523" cy="1858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70" b="0" i="0">
                <a:solidFill>
                  <a:srgbClr val="3C4C63"/>
                </a:solidFill>
                <a:latin typeface="Segoe UI"/>
              </a:rPr>
              <a:t>Fused Location</a:t>
            </a:r>
          </a:p>
        </p:txBody>
      </p:sp>
      <p:sp>
        <p:nvSpPr>
          <p:cNvPr id="17517" name="TextBox 17516"/>
          <p:cNvSpPr txBox="1"/>
          <p:nvPr/>
        </p:nvSpPr>
        <p:spPr>
          <a:xfrm>
            <a:off x="10403586" y="3380905"/>
            <a:ext cx="498919" cy="1858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70" b="0" i="0">
                <a:solidFill>
                  <a:srgbClr val="3C4C63"/>
                </a:solidFill>
                <a:latin typeface="Segoe UI"/>
              </a:rPr>
              <a:t>CameraX</a:t>
            </a:r>
          </a:p>
        </p:txBody>
      </p:sp>
      <p:sp>
        <p:nvSpPr>
          <p:cNvPr id="17518" name="TextBox 17517"/>
          <p:cNvSpPr txBox="1"/>
          <p:nvPr/>
        </p:nvSpPr>
        <p:spPr>
          <a:xfrm>
            <a:off x="4704588" y="3820541"/>
            <a:ext cx="543496" cy="20751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60" b="1" i="0">
                <a:solidFill>
                  <a:srgbClr val="0E9594"/>
                </a:solidFill>
                <a:latin typeface="Segoe UI"/>
              </a:rPr>
              <a:t>Backend</a:t>
            </a:r>
          </a:p>
        </p:txBody>
      </p:sp>
      <p:sp>
        <p:nvSpPr>
          <p:cNvPr id="17519" name="TextBox 17518"/>
          <p:cNvSpPr txBox="1"/>
          <p:nvPr/>
        </p:nvSpPr>
        <p:spPr>
          <a:xfrm>
            <a:off x="5371528" y="3828961"/>
            <a:ext cx="754380" cy="1858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70" b="0" i="0">
                <a:solidFill>
                  <a:srgbClr val="3C4C63"/>
                </a:solidFill>
                <a:latin typeface="Segoe UI"/>
              </a:rPr>
              <a:t>Python FastAPI</a:t>
            </a:r>
          </a:p>
        </p:txBody>
      </p:sp>
      <p:sp>
        <p:nvSpPr>
          <p:cNvPr id="17520" name="TextBox 17519"/>
          <p:cNvSpPr txBox="1"/>
          <p:nvPr/>
        </p:nvSpPr>
        <p:spPr>
          <a:xfrm>
            <a:off x="6267640" y="3828961"/>
            <a:ext cx="746950" cy="1858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70" b="0" i="0">
                <a:solidFill>
                  <a:srgbClr val="3C4C63"/>
                </a:solidFill>
                <a:latin typeface="Segoe UI"/>
              </a:rPr>
              <a:t>Celery workers</a:t>
            </a:r>
          </a:p>
        </p:txBody>
      </p:sp>
      <p:sp>
        <p:nvSpPr>
          <p:cNvPr id="17521" name="TextBox 17520"/>
          <p:cNvSpPr txBox="1"/>
          <p:nvPr/>
        </p:nvSpPr>
        <p:spPr>
          <a:xfrm>
            <a:off x="7156322" y="3828961"/>
            <a:ext cx="709803" cy="1858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70" b="0" i="0">
                <a:solidFill>
                  <a:srgbClr val="3C4C63"/>
                </a:solidFill>
                <a:latin typeface="Segoe UI"/>
              </a:rPr>
              <a:t>Redis Streams</a:t>
            </a:r>
          </a:p>
        </p:txBody>
      </p:sp>
      <p:sp>
        <p:nvSpPr>
          <p:cNvPr id="17522" name="TextBox 17521"/>
          <p:cNvSpPr txBox="1"/>
          <p:nvPr/>
        </p:nvSpPr>
        <p:spPr>
          <a:xfrm>
            <a:off x="8007857" y="3828961"/>
            <a:ext cx="635508" cy="1858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70" b="0" i="0">
                <a:solidFill>
                  <a:srgbClr val="3C4C63"/>
                </a:solidFill>
                <a:latin typeface="Segoe UI"/>
              </a:rPr>
              <a:t>WebSockets</a:t>
            </a:r>
          </a:p>
        </p:txBody>
      </p:sp>
      <p:sp>
        <p:nvSpPr>
          <p:cNvPr id="17523" name="TextBox 17522"/>
          <p:cNvSpPr txBox="1"/>
          <p:nvPr/>
        </p:nvSpPr>
        <p:spPr>
          <a:xfrm>
            <a:off x="8785097" y="3828961"/>
            <a:ext cx="509778" cy="1858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70" b="0" i="0">
                <a:solidFill>
                  <a:srgbClr val="3C4C63"/>
                </a:solidFill>
                <a:latin typeface="Segoe UI"/>
              </a:rPr>
              <a:t>JWT auth</a:t>
            </a:r>
          </a:p>
        </p:txBody>
      </p:sp>
      <p:sp>
        <p:nvSpPr>
          <p:cNvPr id="17524" name="TextBox 17523"/>
          <p:cNvSpPr txBox="1"/>
          <p:nvPr/>
        </p:nvSpPr>
        <p:spPr>
          <a:xfrm>
            <a:off x="9436607" y="3828961"/>
            <a:ext cx="1045273" cy="1858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70" b="0" i="0">
                <a:solidFill>
                  <a:srgbClr val="3C4C63"/>
                </a:solidFill>
                <a:latin typeface="Segoe UI"/>
              </a:rPr>
              <a:t>OSRM map-matching</a:t>
            </a:r>
          </a:p>
        </p:txBody>
      </p:sp>
      <p:sp>
        <p:nvSpPr>
          <p:cNvPr id="17525" name="TextBox 17524"/>
          <p:cNvSpPr txBox="1"/>
          <p:nvPr/>
        </p:nvSpPr>
        <p:spPr>
          <a:xfrm>
            <a:off x="4704588" y="4268596"/>
            <a:ext cx="350329" cy="20751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60" b="1" i="0">
                <a:solidFill>
                  <a:srgbClr val="D98A00"/>
                </a:solidFill>
                <a:latin typeface="Segoe UI"/>
              </a:rPr>
              <a:t>Data</a:t>
            </a:r>
          </a:p>
        </p:txBody>
      </p:sp>
      <p:sp>
        <p:nvSpPr>
          <p:cNvPr id="17526" name="TextBox 17525"/>
          <p:cNvSpPr txBox="1"/>
          <p:nvPr/>
        </p:nvSpPr>
        <p:spPr>
          <a:xfrm>
            <a:off x="5178361" y="4277017"/>
            <a:ext cx="739521" cy="1858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70" b="0" i="0">
                <a:solidFill>
                  <a:srgbClr val="3C4C63"/>
                </a:solidFill>
                <a:latin typeface="Segoe UI"/>
              </a:rPr>
              <a:t>PostgreSQL 16</a:t>
            </a:r>
          </a:p>
        </p:txBody>
      </p:sp>
      <p:sp>
        <p:nvSpPr>
          <p:cNvPr id="17527" name="TextBox 17526"/>
          <p:cNvSpPr txBox="1"/>
          <p:nvPr/>
        </p:nvSpPr>
        <p:spPr>
          <a:xfrm>
            <a:off x="6059614" y="4277017"/>
            <a:ext cx="438340" cy="1858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70" b="0" i="0">
                <a:solidFill>
                  <a:srgbClr val="3C4C63"/>
                </a:solidFill>
                <a:latin typeface="Segoe UI"/>
              </a:rPr>
              <a:t>PostGIS</a:t>
            </a:r>
          </a:p>
        </p:txBody>
      </p:sp>
      <p:sp>
        <p:nvSpPr>
          <p:cNvPr id="17528" name="TextBox 17527"/>
          <p:cNvSpPr txBox="1"/>
          <p:nvPr/>
        </p:nvSpPr>
        <p:spPr>
          <a:xfrm>
            <a:off x="6639686" y="4277017"/>
            <a:ext cx="432625" cy="1858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70" b="0" i="0">
                <a:solidFill>
                  <a:srgbClr val="3C4C63"/>
                </a:solidFill>
                <a:latin typeface="Segoe UI"/>
              </a:rPr>
              <a:t>H3 grid</a:t>
            </a:r>
          </a:p>
        </p:txBody>
      </p:sp>
      <p:sp>
        <p:nvSpPr>
          <p:cNvPr id="17529" name="TextBox 17528"/>
          <p:cNvSpPr txBox="1"/>
          <p:nvPr/>
        </p:nvSpPr>
        <p:spPr>
          <a:xfrm>
            <a:off x="7214044" y="4277017"/>
            <a:ext cx="1036129" cy="1858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70" b="0" i="0">
                <a:solidFill>
                  <a:srgbClr val="3C4C63"/>
                </a:solidFill>
                <a:latin typeface="Segoe UI"/>
              </a:rPr>
              <a:t>DBSCAN (scikit-learn)</a:t>
            </a:r>
          </a:p>
        </p:txBody>
      </p:sp>
      <p:sp>
        <p:nvSpPr>
          <p:cNvPr id="17530" name="TextBox 17529"/>
          <p:cNvSpPr txBox="1"/>
          <p:nvPr/>
        </p:nvSpPr>
        <p:spPr>
          <a:xfrm>
            <a:off x="8391906" y="4277017"/>
            <a:ext cx="861822" cy="1858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70" b="0" i="0">
                <a:solidFill>
                  <a:srgbClr val="3C4C63"/>
                </a:solidFill>
                <a:latin typeface="Segoe UI"/>
              </a:rPr>
              <a:t>S3 object storage</a:t>
            </a:r>
          </a:p>
        </p:txBody>
      </p:sp>
      <p:sp>
        <p:nvSpPr>
          <p:cNvPr id="17531" name="TextBox 17530"/>
          <p:cNvSpPr txBox="1"/>
          <p:nvPr/>
        </p:nvSpPr>
        <p:spPr>
          <a:xfrm>
            <a:off x="4704588" y="4716652"/>
            <a:ext cx="915543" cy="20751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60" b="1" i="0">
                <a:solidFill>
                  <a:srgbClr val="6C3BD1"/>
                </a:solidFill>
                <a:latin typeface="Segoe UI"/>
              </a:rPr>
              <a:t>Web dashboard</a:t>
            </a:r>
          </a:p>
        </p:txBody>
      </p:sp>
      <p:sp>
        <p:nvSpPr>
          <p:cNvPr id="17532" name="TextBox 17531"/>
          <p:cNvSpPr txBox="1"/>
          <p:nvPr/>
        </p:nvSpPr>
        <p:spPr>
          <a:xfrm>
            <a:off x="5743574" y="4725073"/>
            <a:ext cx="913828" cy="1858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70" b="0" i="0">
                <a:solidFill>
                  <a:srgbClr val="3C4C63"/>
                </a:solidFill>
                <a:latin typeface="Segoe UI"/>
              </a:rPr>
              <a:t>React + TypeScript</a:t>
            </a:r>
          </a:p>
        </p:txBody>
      </p:sp>
      <p:sp>
        <p:nvSpPr>
          <p:cNvPr id="17533" name="TextBox 17532"/>
          <p:cNvSpPr txBox="1"/>
          <p:nvPr/>
        </p:nvSpPr>
        <p:spPr>
          <a:xfrm>
            <a:off x="6799135" y="4725073"/>
            <a:ext cx="648081" cy="1858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70" b="0" i="0">
                <a:solidFill>
                  <a:srgbClr val="3C4C63"/>
                </a:solidFill>
                <a:latin typeface="Segoe UI"/>
              </a:rPr>
              <a:t>Tailwind CSS</a:t>
            </a:r>
          </a:p>
        </p:txBody>
      </p:sp>
      <p:sp>
        <p:nvSpPr>
          <p:cNvPr id="17534" name="TextBox 17533"/>
          <p:cNvSpPr txBox="1"/>
          <p:nvPr/>
        </p:nvSpPr>
        <p:spPr>
          <a:xfrm>
            <a:off x="7588948" y="4725073"/>
            <a:ext cx="419481" cy="1858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70" b="0" i="0">
                <a:solidFill>
                  <a:srgbClr val="3C4C63"/>
                </a:solidFill>
                <a:latin typeface="Segoe UI"/>
              </a:rPr>
              <a:t>deck.gl</a:t>
            </a:r>
          </a:p>
        </p:txBody>
      </p:sp>
      <p:sp>
        <p:nvSpPr>
          <p:cNvPr id="17535" name="TextBox 17534"/>
          <p:cNvSpPr txBox="1"/>
          <p:nvPr/>
        </p:nvSpPr>
        <p:spPr>
          <a:xfrm>
            <a:off x="8150161" y="4725073"/>
            <a:ext cx="658368" cy="1858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70" b="0" i="0">
                <a:solidFill>
                  <a:srgbClr val="3C4C63"/>
                </a:solidFill>
                <a:latin typeface="Segoe UI"/>
              </a:rPr>
              <a:t>MapLibre GL</a:t>
            </a:r>
          </a:p>
        </p:txBody>
      </p:sp>
      <p:sp>
        <p:nvSpPr>
          <p:cNvPr id="17536" name="TextBox 17535"/>
          <p:cNvSpPr txBox="1"/>
          <p:nvPr/>
        </p:nvSpPr>
        <p:spPr>
          <a:xfrm>
            <a:off x="8950261" y="4725073"/>
            <a:ext cx="479488" cy="1858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70" b="0" i="0">
                <a:solidFill>
                  <a:srgbClr val="3C4C63"/>
                </a:solidFill>
                <a:latin typeface="Segoe UI"/>
              </a:rPr>
              <a:t>Recharts</a:t>
            </a:r>
          </a:p>
        </p:txBody>
      </p:sp>
      <p:sp>
        <p:nvSpPr>
          <p:cNvPr id="17537" name="TextBox 17536"/>
          <p:cNvSpPr txBox="1"/>
          <p:nvPr/>
        </p:nvSpPr>
        <p:spPr>
          <a:xfrm>
            <a:off x="9571482" y="4725073"/>
            <a:ext cx="516635" cy="1858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70" b="0" i="0">
                <a:solidFill>
                  <a:srgbClr val="3C4C63"/>
                </a:solidFill>
                <a:latin typeface="Segoe UI"/>
              </a:rPr>
              <a:t>Socket.IO</a:t>
            </a:r>
          </a:p>
        </p:txBody>
      </p:sp>
      <p:sp>
        <p:nvSpPr>
          <p:cNvPr id="17538" name="TextBox 17537"/>
          <p:cNvSpPr txBox="1"/>
          <p:nvPr/>
        </p:nvSpPr>
        <p:spPr>
          <a:xfrm>
            <a:off x="10229850" y="4725073"/>
            <a:ext cx="671512" cy="1858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70" b="0" i="0">
                <a:solidFill>
                  <a:srgbClr val="3C4C63"/>
                </a:solidFill>
                <a:latin typeface="Segoe UI"/>
              </a:rPr>
              <a:t>react-i18next</a:t>
            </a:r>
          </a:p>
        </p:txBody>
      </p:sp>
      <p:sp>
        <p:nvSpPr>
          <p:cNvPr id="17539" name="TextBox 17538"/>
          <p:cNvSpPr txBox="1"/>
          <p:nvPr/>
        </p:nvSpPr>
        <p:spPr>
          <a:xfrm>
            <a:off x="4704588" y="5164708"/>
            <a:ext cx="1145857" cy="20751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60" b="1" i="0">
                <a:solidFill>
                  <a:srgbClr val="D93025"/>
                </a:solidFill>
                <a:latin typeface="Segoe UI"/>
              </a:rPr>
              <a:t>Models and training</a:t>
            </a:r>
          </a:p>
        </p:txBody>
      </p:sp>
      <p:sp>
        <p:nvSpPr>
          <p:cNvPr id="17540" name="TextBox 17539"/>
          <p:cNvSpPr txBox="1"/>
          <p:nvPr/>
        </p:nvSpPr>
        <p:spPr>
          <a:xfrm>
            <a:off x="5973889" y="5173129"/>
            <a:ext cx="1439037" cy="1858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70" b="0" i="0">
                <a:solidFill>
                  <a:srgbClr val="3C4C63"/>
                </a:solidFill>
                <a:latin typeface="Segoe UI"/>
              </a:rPr>
              <a:t>YOLOv11s (Ultralytics, PyTorch)</a:t>
            </a:r>
          </a:p>
        </p:txBody>
      </p:sp>
      <p:sp>
        <p:nvSpPr>
          <p:cNvPr id="17541" name="TextBox 17540"/>
          <p:cNvSpPr txBox="1"/>
          <p:nvPr/>
        </p:nvSpPr>
        <p:spPr>
          <a:xfrm>
            <a:off x="7554658" y="5173129"/>
            <a:ext cx="797814" cy="1858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70" b="0" i="0">
                <a:solidFill>
                  <a:srgbClr val="3C4C63"/>
                </a:solidFill>
                <a:latin typeface="Segoe UI"/>
              </a:rPr>
              <a:t>1D-CNN (Keras)</a:t>
            </a:r>
          </a:p>
        </p:txBody>
      </p:sp>
      <p:sp>
        <p:nvSpPr>
          <p:cNvPr id="17542" name="TextBox 17541"/>
          <p:cNvSpPr txBox="1"/>
          <p:nvPr/>
        </p:nvSpPr>
        <p:spPr>
          <a:xfrm>
            <a:off x="8494204" y="5173129"/>
            <a:ext cx="1296733" cy="1858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70" b="0" i="0">
                <a:solidFill>
                  <a:srgbClr val="3C4C63"/>
                </a:solidFill>
                <a:latin typeface="Segoe UI"/>
              </a:rPr>
              <a:t>RDD2022 + our Indian data</a:t>
            </a:r>
          </a:p>
        </p:txBody>
      </p:sp>
      <p:sp>
        <p:nvSpPr>
          <p:cNvPr id="17543" name="TextBox 17542"/>
          <p:cNvSpPr txBox="1"/>
          <p:nvPr/>
        </p:nvSpPr>
        <p:spPr>
          <a:xfrm>
            <a:off x="9932669" y="5173129"/>
            <a:ext cx="727519" cy="1858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70" b="0" i="0">
                <a:solidFill>
                  <a:srgbClr val="3C4C63"/>
                </a:solidFill>
                <a:latin typeface="Segoe UI"/>
              </a:rPr>
              <a:t>CVAT labelling</a:t>
            </a:r>
          </a:p>
        </p:txBody>
      </p:sp>
      <p:sp>
        <p:nvSpPr>
          <p:cNvPr id="17544" name="TextBox 17543"/>
          <p:cNvSpPr txBox="1"/>
          <p:nvPr/>
        </p:nvSpPr>
        <p:spPr>
          <a:xfrm>
            <a:off x="5973889" y="5470309"/>
            <a:ext cx="877824" cy="1858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70" b="0" i="0">
                <a:solidFill>
                  <a:srgbClr val="3C4C63"/>
                </a:solidFill>
                <a:latin typeface="Segoe UI"/>
              </a:rPr>
              <a:t>INT8 quantisation</a:t>
            </a:r>
          </a:p>
        </p:txBody>
      </p:sp>
      <p:sp>
        <p:nvSpPr>
          <p:cNvPr id="17545" name="TextBox 17544"/>
          <p:cNvSpPr txBox="1"/>
          <p:nvPr/>
        </p:nvSpPr>
        <p:spPr>
          <a:xfrm>
            <a:off x="6993445" y="5470309"/>
            <a:ext cx="831532" cy="1858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70" b="0" i="0">
                <a:solidFill>
                  <a:srgbClr val="3C4C63"/>
                </a:solidFill>
                <a:latin typeface="Segoe UI"/>
              </a:rPr>
              <a:t>Colab / RTX GPU</a:t>
            </a:r>
          </a:p>
        </p:txBody>
      </p:sp>
      <p:sp>
        <p:nvSpPr>
          <p:cNvPr id="17546" name="TextBox 17545"/>
          <p:cNvSpPr txBox="1"/>
          <p:nvPr/>
        </p:nvSpPr>
        <p:spPr>
          <a:xfrm>
            <a:off x="4704588" y="5891657"/>
            <a:ext cx="648081" cy="20751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60" b="1" i="0">
                <a:solidFill>
                  <a:srgbClr val="178A4C"/>
                </a:solidFill>
                <a:latin typeface="Segoe UI"/>
              </a:rPr>
              <a:t>Running it</a:t>
            </a:r>
          </a:p>
        </p:txBody>
      </p:sp>
      <p:sp>
        <p:nvSpPr>
          <p:cNvPr id="17547" name="TextBox 17546"/>
          <p:cNvSpPr txBox="1"/>
          <p:nvPr/>
        </p:nvSpPr>
        <p:spPr>
          <a:xfrm>
            <a:off x="5476113" y="5900077"/>
            <a:ext cx="850392" cy="1858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70" b="0" i="0">
                <a:solidFill>
                  <a:srgbClr val="3C4C63"/>
                </a:solidFill>
                <a:latin typeface="Segoe UI"/>
              </a:rPr>
              <a:t>Docker Compose</a:t>
            </a:r>
          </a:p>
        </p:txBody>
      </p:sp>
      <p:sp>
        <p:nvSpPr>
          <p:cNvPr id="17548" name="TextBox 17547"/>
          <p:cNvSpPr txBox="1"/>
          <p:nvPr/>
        </p:nvSpPr>
        <p:spPr>
          <a:xfrm>
            <a:off x="6468237" y="5900077"/>
            <a:ext cx="365188" cy="1858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70" b="0" i="0">
                <a:solidFill>
                  <a:srgbClr val="3C4C63"/>
                </a:solidFill>
                <a:latin typeface="Segoe UI"/>
              </a:rPr>
              <a:t>Nginx</a:t>
            </a:r>
          </a:p>
        </p:txBody>
      </p:sp>
      <p:sp>
        <p:nvSpPr>
          <p:cNvPr id="17549" name="TextBox 17548"/>
          <p:cNvSpPr txBox="1"/>
          <p:nvPr/>
        </p:nvSpPr>
        <p:spPr>
          <a:xfrm>
            <a:off x="6975157" y="5900077"/>
            <a:ext cx="762952" cy="1858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70" b="0" i="0">
                <a:solidFill>
                  <a:srgbClr val="3C4C63"/>
                </a:solidFill>
                <a:latin typeface="Segoe UI"/>
              </a:rPr>
              <a:t>GitHub Actions</a:t>
            </a:r>
          </a:p>
        </p:txBody>
      </p:sp>
      <p:sp>
        <p:nvSpPr>
          <p:cNvPr id="17550" name="TextBox 17549"/>
          <p:cNvSpPr txBox="1"/>
          <p:nvPr/>
        </p:nvSpPr>
        <p:spPr>
          <a:xfrm>
            <a:off x="7879842" y="5900077"/>
            <a:ext cx="748093" cy="1858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70" b="0" i="0">
                <a:solidFill>
                  <a:srgbClr val="3C4C63"/>
                </a:solidFill>
                <a:latin typeface="Segoe UI"/>
              </a:rPr>
              <a:t>Grafana + logs</a:t>
            </a:r>
          </a:p>
        </p:txBody>
      </p:sp>
      <p:sp>
        <p:nvSpPr>
          <p:cNvPr id="17551" name="TextBox 17550"/>
          <p:cNvSpPr txBox="1"/>
          <p:nvPr/>
        </p:nvSpPr>
        <p:spPr>
          <a:xfrm>
            <a:off x="8769667" y="5900077"/>
            <a:ext cx="970407" cy="1858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70" b="0" i="0">
                <a:solidFill>
                  <a:srgbClr val="3C4C63"/>
                </a:solidFill>
                <a:latin typeface="Segoe UI"/>
              </a:rPr>
              <a:t>IRC:82 severity rules</a:t>
            </a:r>
          </a:p>
        </p:txBody>
      </p:sp>
      <p:sp>
        <p:nvSpPr>
          <p:cNvPr id="17552" name="TextBox 17551"/>
          <p:cNvSpPr txBox="1"/>
          <p:nvPr/>
        </p:nvSpPr>
        <p:spPr>
          <a:xfrm>
            <a:off x="9881806" y="5900077"/>
            <a:ext cx="921829" cy="1858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70" b="0" i="0">
                <a:solidFill>
                  <a:srgbClr val="3C4C63"/>
                </a:solidFill>
                <a:latin typeface="Segoe UI"/>
              </a:rPr>
              <a:t>DPDP-safe storage</a:t>
            </a:r>
          </a:p>
        </p:txBody>
      </p:sp>
      <p:pic>
        <p:nvPicPr>
          <p:cNvPr id="17553" name="Picture 17552" descr="sih_logo_20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1366" y="57097"/>
            <a:ext cx="2209120" cy="11228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45720"/>
            <a:ext cx="7955279" cy="960120"/>
          </a:xfrm>
        </p:spPr>
        <p:txBody>
          <a:bodyPr wrap="square" anchor="ctr"/>
          <a:lstStyle/>
          <a:p>
            <a:pPr eaLnBrk="1" hangingPunct="1" algn="ctr"/>
            <a:r>
              <a:rPr lang="en-US" sz="27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2026 Idea Submission - Team SETU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 i="0" u="none">
                <a:solidFill>
                  <a:srgbClr val="0B1B33"/>
                </a:solidFill>
                <a:latin typeface="Calibri"/>
              </a:rPr>
              <a:t>Team SETU</a:t>
            </a:r>
          </a:p>
        </p:txBody>
      </p:sp>
      <p:sp>
        <p:nvSpPr>
          <p:cNvPr id="17410" name="Rectangle 17409"/>
          <p:cNvSpPr/>
          <p:nvPr/>
        </p:nvSpPr>
        <p:spPr>
          <a:xfrm>
            <a:off x="274320" y="1097280"/>
            <a:ext cx="11640312" cy="5138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ounded Rectangle 17410"/>
          <p:cNvSpPr/>
          <p:nvPr/>
        </p:nvSpPr>
        <p:spPr>
          <a:xfrm>
            <a:off x="292608" y="1554480"/>
            <a:ext cx="2788920" cy="2066543"/>
          </a:xfrm>
          <a:prstGeom prst="roundRect">
            <a:avLst>
              <a:gd name="adj" fmla="val 3097"/>
            </a:avLst>
          </a:prstGeom>
          <a:solidFill>
            <a:srgbClr val="FFFFFF"/>
          </a:solidFill>
          <a:ln w="13970">
            <a:solidFill>
              <a:srgbClr val="D4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3227832" y="1554480"/>
            <a:ext cx="2788920" cy="2066543"/>
          </a:xfrm>
          <a:prstGeom prst="roundRect">
            <a:avLst>
              <a:gd name="adj" fmla="val 3097"/>
            </a:avLst>
          </a:prstGeom>
          <a:solidFill>
            <a:srgbClr val="FFFFFF"/>
          </a:solidFill>
          <a:ln w="13970">
            <a:solidFill>
              <a:srgbClr val="D4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13" name="Rounded Rectangle 17412"/>
          <p:cNvSpPr/>
          <p:nvPr/>
        </p:nvSpPr>
        <p:spPr>
          <a:xfrm>
            <a:off x="292608" y="3785615"/>
            <a:ext cx="2788920" cy="2066543"/>
          </a:xfrm>
          <a:prstGeom prst="roundRect">
            <a:avLst>
              <a:gd name="adj" fmla="val 3097"/>
            </a:avLst>
          </a:prstGeom>
          <a:solidFill>
            <a:srgbClr val="FFFFFF"/>
          </a:solidFill>
          <a:ln w="13970">
            <a:solidFill>
              <a:srgbClr val="D4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14" name="Rounded Rectangle 17413"/>
          <p:cNvSpPr/>
          <p:nvPr/>
        </p:nvSpPr>
        <p:spPr>
          <a:xfrm>
            <a:off x="3227832" y="3785615"/>
            <a:ext cx="2788920" cy="2066543"/>
          </a:xfrm>
          <a:prstGeom prst="roundRect">
            <a:avLst>
              <a:gd name="adj" fmla="val 3097"/>
            </a:avLst>
          </a:prstGeom>
          <a:solidFill>
            <a:srgbClr val="FFFFFF"/>
          </a:solidFill>
          <a:ln w="13970">
            <a:solidFill>
              <a:srgbClr val="D4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6181344" y="1554480"/>
            <a:ext cx="5715000" cy="822960"/>
          </a:xfrm>
          <a:prstGeom prst="roundRect">
            <a:avLst>
              <a:gd name="adj" fmla="val 7777"/>
            </a:avLst>
          </a:prstGeom>
          <a:solidFill>
            <a:srgbClr val="FFFFFF"/>
          </a:solidFill>
          <a:ln w="13970">
            <a:solidFill>
              <a:srgbClr val="D4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16" name="Rounded Rectangle 17415"/>
          <p:cNvSpPr/>
          <p:nvPr/>
        </p:nvSpPr>
        <p:spPr>
          <a:xfrm>
            <a:off x="6382512" y="1901952"/>
            <a:ext cx="5312664" cy="384048"/>
          </a:xfrm>
          <a:prstGeom prst="roundRect">
            <a:avLst>
              <a:gd name="adj" fmla="val 11904"/>
            </a:avLst>
          </a:prstGeom>
          <a:solidFill>
            <a:srgbClr val="E6F6EC"/>
          </a:solidFill>
          <a:ln w="12700">
            <a:solidFill>
              <a:srgbClr val="17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6181344" y="2468880"/>
            <a:ext cx="5715000" cy="822960"/>
          </a:xfrm>
          <a:prstGeom prst="roundRect">
            <a:avLst>
              <a:gd name="adj" fmla="val 7777"/>
            </a:avLst>
          </a:prstGeom>
          <a:solidFill>
            <a:srgbClr val="FFFFFF"/>
          </a:solidFill>
          <a:ln w="13970">
            <a:solidFill>
              <a:srgbClr val="D4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18" name="Rounded Rectangle 17417"/>
          <p:cNvSpPr/>
          <p:nvPr/>
        </p:nvSpPr>
        <p:spPr>
          <a:xfrm>
            <a:off x="6382512" y="2816352"/>
            <a:ext cx="5312664" cy="384048"/>
          </a:xfrm>
          <a:prstGeom prst="roundRect">
            <a:avLst>
              <a:gd name="adj" fmla="val 11904"/>
            </a:avLst>
          </a:prstGeom>
          <a:solidFill>
            <a:srgbClr val="E6F6EC"/>
          </a:solidFill>
          <a:ln w="12700">
            <a:solidFill>
              <a:srgbClr val="17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6181344" y="3383280"/>
            <a:ext cx="5715000" cy="822960"/>
          </a:xfrm>
          <a:prstGeom prst="roundRect">
            <a:avLst>
              <a:gd name="adj" fmla="val 7777"/>
            </a:avLst>
          </a:prstGeom>
          <a:solidFill>
            <a:srgbClr val="FFFFFF"/>
          </a:solidFill>
          <a:ln w="13970">
            <a:solidFill>
              <a:srgbClr val="D4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20" name="Rounded Rectangle 17419"/>
          <p:cNvSpPr/>
          <p:nvPr/>
        </p:nvSpPr>
        <p:spPr>
          <a:xfrm>
            <a:off x="6382512" y="3730752"/>
            <a:ext cx="5312664" cy="384048"/>
          </a:xfrm>
          <a:prstGeom prst="roundRect">
            <a:avLst>
              <a:gd name="adj" fmla="val 11904"/>
            </a:avLst>
          </a:prstGeom>
          <a:solidFill>
            <a:srgbClr val="E6F6EC"/>
          </a:solidFill>
          <a:ln w="12700">
            <a:solidFill>
              <a:srgbClr val="17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21" name="Rounded Rectangle 17420"/>
          <p:cNvSpPr/>
          <p:nvPr/>
        </p:nvSpPr>
        <p:spPr>
          <a:xfrm>
            <a:off x="6181344" y="4297680"/>
            <a:ext cx="5715000" cy="822960"/>
          </a:xfrm>
          <a:prstGeom prst="roundRect">
            <a:avLst>
              <a:gd name="adj" fmla="val 7777"/>
            </a:avLst>
          </a:prstGeom>
          <a:solidFill>
            <a:srgbClr val="FFFFFF"/>
          </a:solidFill>
          <a:ln w="13970">
            <a:solidFill>
              <a:srgbClr val="D4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22" name="Rounded Rectangle 17421"/>
          <p:cNvSpPr/>
          <p:nvPr/>
        </p:nvSpPr>
        <p:spPr>
          <a:xfrm>
            <a:off x="6382512" y="4645152"/>
            <a:ext cx="5312664" cy="384048"/>
          </a:xfrm>
          <a:prstGeom prst="roundRect">
            <a:avLst>
              <a:gd name="adj" fmla="val 11904"/>
            </a:avLst>
          </a:prstGeom>
          <a:solidFill>
            <a:srgbClr val="E6F6EC"/>
          </a:solidFill>
          <a:ln w="12700">
            <a:solidFill>
              <a:srgbClr val="17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23" name="Rounded Rectangle 17422"/>
          <p:cNvSpPr/>
          <p:nvPr/>
        </p:nvSpPr>
        <p:spPr>
          <a:xfrm>
            <a:off x="6181344" y="5212080"/>
            <a:ext cx="5715000" cy="822960"/>
          </a:xfrm>
          <a:prstGeom prst="roundRect">
            <a:avLst>
              <a:gd name="adj" fmla="val 7777"/>
            </a:avLst>
          </a:prstGeom>
          <a:solidFill>
            <a:srgbClr val="FFFFFF"/>
          </a:solidFill>
          <a:ln w="13970">
            <a:solidFill>
              <a:srgbClr val="D4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24" name="Rounded Rectangle 17423"/>
          <p:cNvSpPr/>
          <p:nvPr/>
        </p:nvSpPr>
        <p:spPr>
          <a:xfrm>
            <a:off x="6382512" y="5559552"/>
            <a:ext cx="5312664" cy="384048"/>
          </a:xfrm>
          <a:prstGeom prst="roundRect">
            <a:avLst>
              <a:gd name="adj" fmla="val 11904"/>
            </a:avLst>
          </a:prstGeom>
          <a:solidFill>
            <a:srgbClr val="E6F6EC"/>
          </a:solidFill>
          <a:ln w="12700">
            <a:solidFill>
              <a:srgbClr val="17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25" name="Rounded Rectangle 17424"/>
          <p:cNvSpPr/>
          <p:nvPr/>
        </p:nvSpPr>
        <p:spPr>
          <a:xfrm>
            <a:off x="292608" y="1097280"/>
            <a:ext cx="5724144" cy="301752"/>
          </a:xfrm>
          <a:prstGeom prst="roundRect">
            <a:avLst>
              <a:gd name="adj" fmla="val 21212"/>
            </a:avLst>
          </a:prstGeom>
          <a:solidFill>
            <a:srgbClr val="12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26" name="Rounded Rectangle 17425"/>
          <p:cNvSpPr/>
          <p:nvPr/>
        </p:nvSpPr>
        <p:spPr>
          <a:xfrm>
            <a:off x="292608" y="1554480"/>
            <a:ext cx="2788920" cy="310896"/>
          </a:xfrm>
          <a:prstGeom prst="roundRect">
            <a:avLst>
              <a:gd name="adj" fmla="val 17647"/>
            </a:avLst>
          </a:prstGeom>
          <a:solidFill>
            <a:srgbClr val="156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27" name="Rectangle 17426"/>
          <p:cNvSpPr/>
          <p:nvPr/>
        </p:nvSpPr>
        <p:spPr>
          <a:xfrm>
            <a:off x="292608" y="1792224"/>
            <a:ext cx="2788920" cy="73152"/>
          </a:xfrm>
          <a:prstGeom prst="rect">
            <a:avLst/>
          </a:prstGeom>
          <a:solidFill>
            <a:srgbClr val="156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Rounded Rectangle 17427"/>
          <p:cNvSpPr/>
          <p:nvPr/>
        </p:nvSpPr>
        <p:spPr>
          <a:xfrm>
            <a:off x="3227832" y="1554480"/>
            <a:ext cx="2788920" cy="310896"/>
          </a:xfrm>
          <a:prstGeom prst="roundRect">
            <a:avLst>
              <a:gd name="adj" fmla="val 17647"/>
            </a:avLst>
          </a:prstGeom>
          <a:solidFill>
            <a:srgbClr val="0E9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29" name="Rectangle 17428"/>
          <p:cNvSpPr/>
          <p:nvPr/>
        </p:nvSpPr>
        <p:spPr>
          <a:xfrm>
            <a:off x="3227832" y="1792224"/>
            <a:ext cx="2788920" cy="73152"/>
          </a:xfrm>
          <a:prstGeom prst="rect">
            <a:avLst/>
          </a:prstGeom>
          <a:solidFill>
            <a:srgbClr val="0E9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Rounded Rectangle 17429"/>
          <p:cNvSpPr/>
          <p:nvPr/>
        </p:nvSpPr>
        <p:spPr>
          <a:xfrm>
            <a:off x="292608" y="3785615"/>
            <a:ext cx="2788920" cy="310896"/>
          </a:xfrm>
          <a:prstGeom prst="roundRect">
            <a:avLst>
              <a:gd name="adj" fmla="val 17647"/>
            </a:avLst>
          </a:prstGeom>
          <a:solidFill>
            <a:srgbClr val="17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31" name="Rectangle 17430"/>
          <p:cNvSpPr/>
          <p:nvPr/>
        </p:nvSpPr>
        <p:spPr>
          <a:xfrm>
            <a:off x="292608" y="4023360"/>
            <a:ext cx="2788920" cy="73152"/>
          </a:xfrm>
          <a:prstGeom prst="rect">
            <a:avLst/>
          </a:prstGeom>
          <a:solidFill>
            <a:srgbClr val="17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2" name="Rounded Rectangle 17431"/>
          <p:cNvSpPr/>
          <p:nvPr/>
        </p:nvSpPr>
        <p:spPr>
          <a:xfrm>
            <a:off x="3227832" y="3785615"/>
            <a:ext cx="2788920" cy="310896"/>
          </a:xfrm>
          <a:prstGeom prst="roundRect">
            <a:avLst>
              <a:gd name="adj" fmla="val 17647"/>
            </a:avLst>
          </a:prstGeom>
          <a:solidFill>
            <a:srgbClr val="6C3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33" name="Rectangle 17432"/>
          <p:cNvSpPr/>
          <p:nvPr/>
        </p:nvSpPr>
        <p:spPr>
          <a:xfrm>
            <a:off x="3227832" y="4023360"/>
            <a:ext cx="2788920" cy="73152"/>
          </a:xfrm>
          <a:prstGeom prst="rect">
            <a:avLst/>
          </a:prstGeom>
          <a:solidFill>
            <a:srgbClr val="6C3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Rounded Rectangle 17433"/>
          <p:cNvSpPr/>
          <p:nvPr/>
        </p:nvSpPr>
        <p:spPr>
          <a:xfrm>
            <a:off x="6181344" y="1097280"/>
            <a:ext cx="5715000" cy="301752"/>
          </a:xfrm>
          <a:prstGeom prst="roundRect">
            <a:avLst>
              <a:gd name="adj" fmla="val 21212"/>
            </a:avLst>
          </a:prstGeom>
          <a:solidFill>
            <a:srgbClr val="12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35" name="Rounded Rectangle 17434"/>
          <p:cNvSpPr/>
          <p:nvPr/>
        </p:nvSpPr>
        <p:spPr>
          <a:xfrm>
            <a:off x="6181344" y="1554480"/>
            <a:ext cx="50292" cy="822960"/>
          </a:xfrm>
          <a:prstGeom prst="roundRect">
            <a:avLst>
              <a:gd name="adj" fmla="val 45454"/>
            </a:avLst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36" name="Rounded Rectangle 17435"/>
          <p:cNvSpPr/>
          <p:nvPr/>
        </p:nvSpPr>
        <p:spPr>
          <a:xfrm>
            <a:off x="6181344" y="2468880"/>
            <a:ext cx="50292" cy="822960"/>
          </a:xfrm>
          <a:prstGeom prst="roundRect">
            <a:avLst>
              <a:gd name="adj" fmla="val 45454"/>
            </a:avLst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37" name="Rounded Rectangle 17436"/>
          <p:cNvSpPr/>
          <p:nvPr/>
        </p:nvSpPr>
        <p:spPr>
          <a:xfrm>
            <a:off x="6181344" y="3383280"/>
            <a:ext cx="50292" cy="822960"/>
          </a:xfrm>
          <a:prstGeom prst="roundRect">
            <a:avLst>
              <a:gd name="adj" fmla="val 45454"/>
            </a:avLst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38" name="Rounded Rectangle 17437"/>
          <p:cNvSpPr/>
          <p:nvPr/>
        </p:nvSpPr>
        <p:spPr>
          <a:xfrm>
            <a:off x="6181344" y="4297680"/>
            <a:ext cx="50292" cy="822960"/>
          </a:xfrm>
          <a:prstGeom prst="roundRect">
            <a:avLst>
              <a:gd name="adj" fmla="val 45454"/>
            </a:avLst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39" name="Rounded Rectangle 17438"/>
          <p:cNvSpPr/>
          <p:nvPr/>
        </p:nvSpPr>
        <p:spPr>
          <a:xfrm>
            <a:off x="6181344" y="5212080"/>
            <a:ext cx="50292" cy="822960"/>
          </a:xfrm>
          <a:prstGeom prst="roundRect">
            <a:avLst>
              <a:gd name="adj" fmla="val 45454"/>
            </a:avLst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40" name="TextBox 17439"/>
          <p:cNvSpPr txBox="1"/>
          <p:nvPr/>
        </p:nvSpPr>
        <p:spPr>
          <a:xfrm>
            <a:off x="2315432" y="1121473"/>
            <a:ext cx="1678495" cy="25336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IS IT ACTUALLY DOABLE?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1126140" y="1598676"/>
            <a:ext cx="1121854" cy="23164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60" b="1" i="0">
                <a:solidFill>
                  <a:srgbClr val="FFFFFF"/>
                </a:solidFill>
                <a:latin typeface="Segoe UI"/>
              </a:rPr>
              <a:t>CAN WE BUILD IT</a:t>
            </a:r>
          </a:p>
        </p:txBody>
      </p:sp>
      <p:sp>
        <p:nvSpPr>
          <p:cNvPr id="17442" name="Oval 17441"/>
          <p:cNvSpPr/>
          <p:nvPr/>
        </p:nvSpPr>
        <p:spPr>
          <a:xfrm>
            <a:off x="459943" y="2060079"/>
            <a:ext cx="58521" cy="58521"/>
          </a:xfrm>
          <a:prstGeom prst="ellipse">
            <a:avLst/>
          </a:prstGeom>
          <a:solidFill>
            <a:srgbClr val="156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3" name="Oval 17442"/>
          <p:cNvSpPr/>
          <p:nvPr/>
        </p:nvSpPr>
        <p:spPr>
          <a:xfrm>
            <a:off x="459943" y="2432697"/>
            <a:ext cx="58521" cy="58521"/>
          </a:xfrm>
          <a:prstGeom prst="ellipse">
            <a:avLst/>
          </a:prstGeom>
          <a:solidFill>
            <a:srgbClr val="156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4" name="Oval 17443"/>
          <p:cNvSpPr/>
          <p:nvPr/>
        </p:nvSpPr>
        <p:spPr>
          <a:xfrm>
            <a:off x="459943" y="2805315"/>
            <a:ext cx="58521" cy="58521"/>
          </a:xfrm>
          <a:prstGeom prst="ellipse">
            <a:avLst/>
          </a:prstGeom>
          <a:solidFill>
            <a:srgbClr val="156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5" name="Oval 17444"/>
          <p:cNvSpPr/>
          <p:nvPr/>
        </p:nvSpPr>
        <p:spPr>
          <a:xfrm>
            <a:off x="459943" y="3177933"/>
            <a:ext cx="58521" cy="58521"/>
          </a:xfrm>
          <a:prstGeom prst="ellipse">
            <a:avLst/>
          </a:prstGeom>
          <a:solidFill>
            <a:srgbClr val="156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6" name="TextBox 17445"/>
          <p:cNvSpPr txBox="1"/>
          <p:nvPr/>
        </p:nvSpPr>
        <p:spPr>
          <a:xfrm>
            <a:off x="3836193" y="1598676"/>
            <a:ext cx="1572196" cy="23164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60" b="1" i="0">
                <a:solidFill>
                  <a:srgbClr val="FFFFFF"/>
                </a:solidFill>
                <a:latin typeface="Segoe UI"/>
              </a:rPr>
              <a:t>WILL IT RUN DAY TO DAY</a:t>
            </a:r>
          </a:p>
        </p:txBody>
      </p:sp>
      <p:sp>
        <p:nvSpPr>
          <p:cNvPr id="17447" name="Oval 17446"/>
          <p:cNvSpPr/>
          <p:nvPr/>
        </p:nvSpPr>
        <p:spPr>
          <a:xfrm>
            <a:off x="3395167" y="2060079"/>
            <a:ext cx="58521" cy="58521"/>
          </a:xfrm>
          <a:prstGeom prst="ellipse">
            <a:avLst/>
          </a:prstGeom>
          <a:solidFill>
            <a:srgbClr val="0E9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8" name="Oval 17447"/>
          <p:cNvSpPr/>
          <p:nvPr/>
        </p:nvSpPr>
        <p:spPr>
          <a:xfrm>
            <a:off x="3395167" y="2432697"/>
            <a:ext cx="58521" cy="58521"/>
          </a:xfrm>
          <a:prstGeom prst="ellipse">
            <a:avLst/>
          </a:prstGeom>
          <a:solidFill>
            <a:srgbClr val="0E9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9" name="Oval 17448"/>
          <p:cNvSpPr/>
          <p:nvPr/>
        </p:nvSpPr>
        <p:spPr>
          <a:xfrm>
            <a:off x="3395167" y="2805315"/>
            <a:ext cx="58521" cy="58521"/>
          </a:xfrm>
          <a:prstGeom prst="ellipse">
            <a:avLst/>
          </a:prstGeom>
          <a:solidFill>
            <a:srgbClr val="0E9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0" name="Oval 17449"/>
          <p:cNvSpPr/>
          <p:nvPr/>
        </p:nvSpPr>
        <p:spPr>
          <a:xfrm>
            <a:off x="3395167" y="3177933"/>
            <a:ext cx="58521" cy="58521"/>
          </a:xfrm>
          <a:prstGeom prst="ellipse">
            <a:avLst/>
          </a:prstGeom>
          <a:solidFill>
            <a:srgbClr val="0E9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1" name="TextBox 17450"/>
          <p:cNvSpPr txBox="1"/>
          <p:nvPr/>
        </p:nvSpPr>
        <p:spPr>
          <a:xfrm>
            <a:off x="856964" y="3829812"/>
            <a:ext cx="1660207" cy="23164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60" b="1" i="0">
                <a:solidFill>
                  <a:srgbClr val="FFFFFF"/>
                </a:solidFill>
                <a:latin typeface="Segoe UI"/>
              </a:rPr>
              <a:t>DOES THE MONEY ADD UP</a:t>
            </a:r>
          </a:p>
        </p:txBody>
      </p:sp>
      <p:sp>
        <p:nvSpPr>
          <p:cNvPr id="17452" name="Oval 17451"/>
          <p:cNvSpPr/>
          <p:nvPr/>
        </p:nvSpPr>
        <p:spPr>
          <a:xfrm>
            <a:off x="459943" y="4291215"/>
            <a:ext cx="58521" cy="58521"/>
          </a:xfrm>
          <a:prstGeom prst="ellipse">
            <a:avLst/>
          </a:prstGeom>
          <a:solidFill>
            <a:srgbClr val="17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3" name="Oval 17452"/>
          <p:cNvSpPr/>
          <p:nvPr/>
        </p:nvSpPr>
        <p:spPr>
          <a:xfrm>
            <a:off x="459943" y="4663833"/>
            <a:ext cx="58521" cy="58521"/>
          </a:xfrm>
          <a:prstGeom prst="ellipse">
            <a:avLst/>
          </a:prstGeom>
          <a:solidFill>
            <a:srgbClr val="17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4" name="Oval 17453"/>
          <p:cNvSpPr/>
          <p:nvPr/>
        </p:nvSpPr>
        <p:spPr>
          <a:xfrm>
            <a:off x="459943" y="5036451"/>
            <a:ext cx="58521" cy="58521"/>
          </a:xfrm>
          <a:prstGeom prst="ellipse">
            <a:avLst/>
          </a:prstGeom>
          <a:solidFill>
            <a:srgbClr val="17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5" name="Oval 17454"/>
          <p:cNvSpPr/>
          <p:nvPr/>
        </p:nvSpPr>
        <p:spPr>
          <a:xfrm>
            <a:off x="459943" y="5409069"/>
            <a:ext cx="58521" cy="58521"/>
          </a:xfrm>
          <a:prstGeom prst="ellipse">
            <a:avLst/>
          </a:prstGeom>
          <a:solidFill>
            <a:srgbClr val="17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6" name="TextBox 17455"/>
          <p:cNvSpPr txBox="1"/>
          <p:nvPr/>
        </p:nvSpPr>
        <p:spPr>
          <a:xfrm>
            <a:off x="4137374" y="3829812"/>
            <a:ext cx="969835" cy="23164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60" b="1" i="0">
                <a:solidFill>
                  <a:srgbClr val="FFFFFF"/>
                </a:solidFill>
                <a:latin typeface="Segoe UI"/>
              </a:rPr>
              <a:t>IS IT ALLOWED</a:t>
            </a:r>
          </a:p>
        </p:txBody>
      </p:sp>
      <p:sp>
        <p:nvSpPr>
          <p:cNvPr id="17457" name="Oval 17456"/>
          <p:cNvSpPr/>
          <p:nvPr/>
        </p:nvSpPr>
        <p:spPr>
          <a:xfrm>
            <a:off x="3395167" y="4291215"/>
            <a:ext cx="58521" cy="58521"/>
          </a:xfrm>
          <a:prstGeom prst="ellipse">
            <a:avLst/>
          </a:prstGeom>
          <a:solidFill>
            <a:srgbClr val="6C3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8" name="Oval 17457"/>
          <p:cNvSpPr/>
          <p:nvPr/>
        </p:nvSpPr>
        <p:spPr>
          <a:xfrm>
            <a:off x="3395167" y="4663833"/>
            <a:ext cx="58521" cy="58521"/>
          </a:xfrm>
          <a:prstGeom prst="ellipse">
            <a:avLst/>
          </a:prstGeom>
          <a:solidFill>
            <a:srgbClr val="6C3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9" name="Oval 17458"/>
          <p:cNvSpPr/>
          <p:nvPr/>
        </p:nvSpPr>
        <p:spPr>
          <a:xfrm>
            <a:off x="3395167" y="5036451"/>
            <a:ext cx="58521" cy="58521"/>
          </a:xfrm>
          <a:prstGeom prst="ellipse">
            <a:avLst/>
          </a:prstGeom>
          <a:solidFill>
            <a:srgbClr val="6C3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0" name="Oval 17459"/>
          <p:cNvSpPr/>
          <p:nvPr/>
        </p:nvSpPr>
        <p:spPr>
          <a:xfrm>
            <a:off x="3395167" y="5409069"/>
            <a:ext cx="58521" cy="58521"/>
          </a:xfrm>
          <a:prstGeom prst="ellipse">
            <a:avLst/>
          </a:prstGeom>
          <a:solidFill>
            <a:srgbClr val="6C3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1" name="TextBox 17460"/>
          <p:cNvSpPr txBox="1"/>
          <p:nvPr/>
        </p:nvSpPr>
        <p:spPr>
          <a:xfrm>
            <a:off x="7502366" y="1121473"/>
            <a:ext cx="3072955" cy="25336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WHAT COULD GO WRONG, AND OUR ANSWER</a:t>
            </a:r>
          </a:p>
        </p:txBody>
      </p:sp>
      <p:sp>
        <p:nvSpPr>
          <p:cNvPr id="17462" name="TextBox 17461"/>
          <p:cNvSpPr txBox="1"/>
          <p:nvPr/>
        </p:nvSpPr>
        <p:spPr>
          <a:xfrm>
            <a:off x="534924" y="1992185"/>
            <a:ext cx="2378583" cy="2051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3C4C63"/>
                </a:solidFill>
                <a:latin typeface="Segoe UI"/>
              </a:rPr>
              <a:t>Every piece is free and open source, and all of it</a:t>
            </a:r>
          </a:p>
        </p:txBody>
      </p:sp>
      <p:sp>
        <p:nvSpPr>
          <p:cNvPr id="17463" name="TextBox 17462"/>
          <p:cNvSpPr txBox="1"/>
          <p:nvPr/>
        </p:nvSpPr>
        <p:spPr>
          <a:xfrm>
            <a:off x="534924" y="2128202"/>
            <a:ext cx="1147000" cy="2051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3C4C63"/>
                </a:solidFill>
                <a:latin typeface="Segoe UI"/>
              </a:rPr>
              <a:t>is already widely used</a:t>
            </a:r>
          </a:p>
        </p:txBody>
      </p:sp>
      <p:sp>
        <p:nvSpPr>
          <p:cNvPr id="17464" name="TextBox 17463"/>
          <p:cNvSpPr txBox="1"/>
          <p:nvPr/>
        </p:nvSpPr>
        <p:spPr>
          <a:xfrm>
            <a:off x="534924" y="2364803"/>
            <a:ext cx="2427160" cy="2051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3C4C63"/>
                </a:solidFill>
                <a:latin typeface="Segoe UI"/>
              </a:rPr>
              <a:t>Runs on an ordinary Rs 8,000 Android phone, no</a:t>
            </a:r>
          </a:p>
        </p:txBody>
      </p:sp>
      <p:sp>
        <p:nvSpPr>
          <p:cNvPr id="17465" name="TextBox 17464"/>
          <p:cNvSpPr txBox="1"/>
          <p:nvPr/>
        </p:nvSpPr>
        <p:spPr>
          <a:xfrm>
            <a:off x="534924" y="2500820"/>
            <a:ext cx="778383" cy="2051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3C4C63"/>
                </a:solidFill>
                <a:latin typeface="Segoe UI"/>
              </a:rPr>
              <a:t>new hardware</a:t>
            </a:r>
          </a:p>
        </p:txBody>
      </p:sp>
      <p:sp>
        <p:nvSpPr>
          <p:cNvPr id="17466" name="TextBox 17465"/>
          <p:cNvSpPr txBox="1"/>
          <p:nvPr/>
        </p:nvSpPr>
        <p:spPr>
          <a:xfrm>
            <a:off x="534924" y="2737421"/>
            <a:ext cx="2386584" cy="2051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3C4C63"/>
                </a:solidFill>
                <a:latin typeface="Segoe UI"/>
              </a:rPr>
              <a:t>We have already started collecting and cleaning</a:t>
            </a:r>
          </a:p>
        </p:txBody>
      </p:sp>
      <p:sp>
        <p:nvSpPr>
          <p:cNvPr id="17467" name="TextBox 17466"/>
          <p:cNvSpPr txBox="1"/>
          <p:nvPr/>
        </p:nvSpPr>
        <p:spPr>
          <a:xfrm>
            <a:off x="534924" y="2873438"/>
            <a:ext cx="1040130" cy="2051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3C4C63"/>
                </a:solidFill>
                <a:latin typeface="Segoe UI"/>
              </a:rPr>
              <a:t>our training images</a:t>
            </a:r>
          </a:p>
        </p:txBody>
      </p:sp>
      <p:sp>
        <p:nvSpPr>
          <p:cNvPr id="17468" name="TextBox 17467"/>
          <p:cNvSpPr txBox="1"/>
          <p:nvPr/>
        </p:nvSpPr>
        <p:spPr>
          <a:xfrm>
            <a:off x="534924" y="3110039"/>
            <a:ext cx="2332863" cy="2051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3C4C63"/>
                </a:solidFill>
                <a:latin typeface="Segoe UI"/>
              </a:rPr>
              <a:t>Six of us, and the plan is split into parts we can</a:t>
            </a:r>
          </a:p>
        </p:txBody>
      </p:sp>
      <p:sp>
        <p:nvSpPr>
          <p:cNvPr id="17469" name="TextBox 17468"/>
          <p:cNvSpPr txBox="1"/>
          <p:nvPr/>
        </p:nvSpPr>
        <p:spPr>
          <a:xfrm>
            <a:off x="534924" y="3246056"/>
            <a:ext cx="564642" cy="2051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3C4C63"/>
                </a:solidFill>
                <a:latin typeface="Segoe UI"/>
              </a:rPr>
              <a:t>each own</a:t>
            </a:r>
          </a:p>
        </p:txBody>
      </p:sp>
      <p:sp>
        <p:nvSpPr>
          <p:cNvPr id="17470" name="TextBox 17469"/>
          <p:cNvSpPr txBox="1"/>
          <p:nvPr/>
        </p:nvSpPr>
        <p:spPr>
          <a:xfrm>
            <a:off x="3470148" y="1992185"/>
            <a:ext cx="2356866" cy="2051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3C4C63"/>
                </a:solidFill>
                <a:latin typeface="Segoe UI"/>
              </a:rPr>
              <a:t>The code rides inside apps drivers already keep</a:t>
            </a:r>
          </a:p>
        </p:txBody>
      </p:sp>
      <p:sp>
        <p:nvSpPr>
          <p:cNvPr id="17471" name="TextBox 17470"/>
          <p:cNvSpPr txBox="1"/>
          <p:nvPr/>
        </p:nvSpPr>
        <p:spPr>
          <a:xfrm>
            <a:off x="3470148" y="2128202"/>
            <a:ext cx="354330" cy="2051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3C4C63"/>
                </a:solidFill>
                <a:latin typeface="Segoe UI"/>
              </a:rPr>
              <a:t>open</a:t>
            </a:r>
          </a:p>
        </p:txBody>
      </p:sp>
      <p:sp>
        <p:nvSpPr>
          <p:cNvPr id="17472" name="TextBox 17471"/>
          <p:cNvSpPr txBox="1"/>
          <p:nvPr/>
        </p:nvSpPr>
        <p:spPr>
          <a:xfrm>
            <a:off x="3470148" y="2364803"/>
            <a:ext cx="2347150" cy="2051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3C4C63"/>
                </a:solidFill>
                <a:latin typeface="Segoe UI"/>
              </a:rPr>
              <a:t>One city bus route or municipal fleet is enough</a:t>
            </a:r>
          </a:p>
        </p:txBody>
      </p:sp>
      <p:sp>
        <p:nvSpPr>
          <p:cNvPr id="17473" name="TextBox 17472"/>
          <p:cNvSpPr txBox="1"/>
          <p:nvPr/>
        </p:nvSpPr>
        <p:spPr>
          <a:xfrm>
            <a:off x="3470148" y="2500820"/>
            <a:ext cx="453199" cy="2051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3C4C63"/>
                </a:solidFill>
                <a:latin typeface="Segoe UI"/>
              </a:rPr>
              <a:t>to start</a:t>
            </a:r>
          </a:p>
        </p:txBody>
      </p:sp>
      <p:sp>
        <p:nvSpPr>
          <p:cNvPr id="17474" name="TextBox 17473"/>
          <p:cNvSpPr txBox="1"/>
          <p:nvPr/>
        </p:nvSpPr>
        <p:spPr>
          <a:xfrm>
            <a:off x="3470148" y="2737421"/>
            <a:ext cx="2359723" cy="2051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3C4C63"/>
                </a:solidFill>
                <a:latin typeface="Segoe UI"/>
              </a:rPr>
              <a:t>Works with no network and sends data later on</a:t>
            </a:r>
          </a:p>
        </p:txBody>
      </p:sp>
      <p:sp>
        <p:nvSpPr>
          <p:cNvPr id="17475" name="TextBox 17474"/>
          <p:cNvSpPr txBox="1"/>
          <p:nvPr/>
        </p:nvSpPr>
        <p:spPr>
          <a:xfrm>
            <a:off x="3470148" y="2873438"/>
            <a:ext cx="358902" cy="2051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3C4C63"/>
                </a:solidFill>
                <a:latin typeface="Segoe UI"/>
              </a:rPr>
              <a:t>Wi-Fi</a:t>
            </a:r>
          </a:p>
        </p:txBody>
      </p:sp>
      <p:sp>
        <p:nvSpPr>
          <p:cNvPr id="17476" name="TextBox 17475"/>
          <p:cNvSpPr txBox="1"/>
          <p:nvPr/>
        </p:nvSpPr>
        <p:spPr>
          <a:xfrm>
            <a:off x="3470148" y="3110039"/>
            <a:ext cx="2353437" cy="2051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3C4C63"/>
                </a:solidFill>
                <a:latin typeface="Segoe UI"/>
              </a:rPr>
              <a:t>A ward officer only has to read a list and assign</a:t>
            </a:r>
          </a:p>
        </p:txBody>
      </p:sp>
      <p:sp>
        <p:nvSpPr>
          <p:cNvPr id="17477" name="TextBox 17476"/>
          <p:cNvSpPr txBox="1"/>
          <p:nvPr/>
        </p:nvSpPr>
        <p:spPr>
          <a:xfrm>
            <a:off x="3470148" y="3246056"/>
            <a:ext cx="342328" cy="2051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3C4C63"/>
                </a:solidFill>
                <a:latin typeface="Segoe UI"/>
              </a:rPr>
              <a:t>work</a:t>
            </a:r>
          </a:p>
        </p:txBody>
      </p:sp>
      <p:sp>
        <p:nvSpPr>
          <p:cNvPr id="17478" name="TextBox 17477"/>
          <p:cNvSpPr txBox="1"/>
          <p:nvPr/>
        </p:nvSpPr>
        <p:spPr>
          <a:xfrm>
            <a:off x="534924" y="4223321"/>
            <a:ext cx="2248852" cy="2051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3C4C63"/>
                </a:solidFill>
                <a:latin typeface="Segoe UI"/>
              </a:rPr>
              <a:t>About Rs 3 per confirmed pothole against Rs</a:t>
            </a:r>
          </a:p>
        </p:txBody>
      </p:sp>
      <p:sp>
        <p:nvSpPr>
          <p:cNvPr id="17479" name="TextBox 17478"/>
          <p:cNvSpPr txBox="1"/>
          <p:nvPr/>
        </p:nvSpPr>
        <p:spPr>
          <a:xfrm>
            <a:off x="534924" y="4359338"/>
            <a:ext cx="1328166" cy="2051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3C4C63"/>
                </a:solidFill>
                <a:latin typeface="Segoe UI"/>
              </a:rPr>
              <a:t>17,693 for a manual audit</a:t>
            </a:r>
          </a:p>
        </p:txBody>
      </p:sp>
      <p:sp>
        <p:nvSpPr>
          <p:cNvPr id="17480" name="TextBox 17479"/>
          <p:cNvSpPr txBox="1"/>
          <p:nvPr/>
        </p:nvSpPr>
        <p:spPr>
          <a:xfrm>
            <a:off x="534924" y="4595939"/>
            <a:ext cx="2447734" cy="2051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3C4C63"/>
                </a:solidFill>
                <a:latin typeface="Segoe UI"/>
              </a:rPr>
              <a:t>No hardware to buy: the phones and the vehicles</a:t>
            </a:r>
          </a:p>
        </p:txBody>
      </p:sp>
      <p:sp>
        <p:nvSpPr>
          <p:cNvPr id="17481" name="TextBox 17480"/>
          <p:cNvSpPr txBox="1"/>
          <p:nvPr/>
        </p:nvSpPr>
        <p:spPr>
          <a:xfrm>
            <a:off x="534924" y="4731956"/>
            <a:ext cx="699516" cy="2051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3C4C63"/>
                </a:solidFill>
                <a:latin typeface="Segoe UI"/>
              </a:rPr>
              <a:t>already exist</a:t>
            </a:r>
          </a:p>
        </p:txBody>
      </p:sp>
      <p:sp>
        <p:nvSpPr>
          <p:cNvPr id="17482" name="TextBox 17481"/>
          <p:cNvSpPr txBox="1"/>
          <p:nvPr/>
        </p:nvSpPr>
        <p:spPr>
          <a:xfrm>
            <a:off x="534924" y="4968557"/>
            <a:ext cx="2078545" cy="2051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3C4C63"/>
                </a:solidFill>
                <a:latin typeface="Segoe UI"/>
              </a:rPr>
              <a:t>Free cloud tiers are enough for the whole</a:t>
            </a:r>
          </a:p>
        </p:txBody>
      </p:sp>
      <p:sp>
        <p:nvSpPr>
          <p:cNvPr id="17483" name="TextBox 17482"/>
          <p:cNvSpPr txBox="1"/>
          <p:nvPr/>
        </p:nvSpPr>
        <p:spPr>
          <a:xfrm>
            <a:off x="534924" y="5104574"/>
            <a:ext cx="581215" cy="2051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3C4C63"/>
                </a:solidFill>
                <a:latin typeface="Segoe UI"/>
              </a:rPr>
              <a:t>prototype</a:t>
            </a:r>
          </a:p>
        </p:txBody>
      </p:sp>
      <p:sp>
        <p:nvSpPr>
          <p:cNvPr id="17484" name="TextBox 17483"/>
          <p:cNvSpPr txBox="1"/>
          <p:nvPr/>
        </p:nvSpPr>
        <p:spPr>
          <a:xfrm>
            <a:off x="534924" y="5341175"/>
            <a:ext cx="2207133" cy="2051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3C4C63"/>
                </a:solidFill>
                <a:latin typeface="Segoe UI"/>
              </a:rPr>
              <a:t>Costs grow with confirmed defects, not with</a:t>
            </a:r>
          </a:p>
        </p:txBody>
      </p:sp>
      <p:sp>
        <p:nvSpPr>
          <p:cNvPr id="17485" name="TextBox 17484"/>
          <p:cNvSpPr txBox="1"/>
          <p:nvPr/>
        </p:nvSpPr>
        <p:spPr>
          <a:xfrm>
            <a:off x="534924" y="5477192"/>
            <a:ext cx="1034415" cy="2051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3C4C63"/>
                </a:solidFill>
                <a:latin typeface="Segoe UI"/>
              </a:rPr>
              <a:t>kilometres watched</a:t>
            </a:r>
          </a:p>
        </p:txBody>
      </p:sp>
      <p:sp>
        <p:nvSpPr>
          <p:cNvPr id="17486" name="TextBox 17485"/>
          <p:cNvSpPr txBox="1"/>
          <p:nvPr/>
        </p:nvSpPr>
        <p:spPr>
          <a:xfrm>
            <a:off x="3470148" y="4223321"/>
            <a:ext cx="2378583" cy="2051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3C4C63"/>
                </a:solidFill>
                <a:latin typeface="Segoe UI"/>
              </a:rPr>
              <a:t>No personal data, video only with consent, kept</a:t>
            </a:r>
          </a:p>
        </p:txBody>
      </p:sp>
      <p:sp>
        <p:nvSpPr>
          <p:cNvPr id="17487" name="TextBox 17486"/>
          <p:cNvSpPr txBox="1"/>
          <p:nvPr/>
        </p:nvSpPr>
        <p:spPr>
          <a:xfrm>
            <a:off x="3470148" y="4359338"/>
            <a:ext cx="792099" cy="2051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3C4C63"/>
                </a:solidFill>
                <a:latin typeface="Segoe UI"/>
              </a:rPr>
              <a:t>for seven days</a:t>
            </a:r>
          </a:p>
        </p:txBody>
      </p:sp>
      <p:sp>
        <p:nvSpPr>
          <p:cNvPr id="17488" name="TextBox 17487"/>
          <p:cNvSpPr txBox="1"/>
          <p:nvPr/>
        </p:nvSpPr>
        <p:spPr>
          <a:xfrm>
            <a:off x="3470148" y="4595939"/>
            <a:ext cx="2379154" cy="2051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3C4C63"/>
                </a:solidFill>
                <a:latin typeface="Segoe UI"/>
              </a:rPr>
              <a:t>Every detection leaves a record, so an RTI query</a:t>
            </a:r>
          </a:p>
        </p:txBody>
      </p:sp>
      <p:sp>
        <p:nvSpPr>
          <p:cNvPr id="17489" name="TextBox 17488"/>
          <p:cNvSpPr txBox="1"/>
          <p:nvPr/>
        </p:nvSpPr>
        <p:spPr>
          <a:xfrm>
            <a:off x="3470148" y="4731956"/>
            <a:ext cx="908113" cy="2051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3C4C63"/>
                </a:solidFill>
                <a:latin typeface="Segoe UI"/>
              </a:rPr>
              <a:t>can be answered</a:t>
            </a:r>
          </a:p>
        </p:txBody>
      </p:sp>
      <p:sp>
        <p:nvSpPr>
          <p:cNvPr id="17490" name="TextBox 17489"/>
          <p:cNvSpPr txBox="1"/>
          <p:nvPr/>
        </p:nvSpPr>
        <p:spPr>
          <a:xfrm>
            <a:off x="3470148" y="4968557"/>
            <a:ext cx="2252281" cy="2051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3C4C63"/>
                </a:solidFill>
                <a:latin typeface="Segoe UI"/>
              </a:rPr>
              <a:t>Severity follows the IRC:82 road maintenance</a:t>
            </a:r>
          </a:p>
        </p:txBody>
      </p:sp>
      <p:sp>
        <p:nvSpPr>
          <p:cNvPr id="17491" name="TextBox 17490"/>
          <p:cNvSpPr txBox="1"/>
          <p:nvPr/>
        </p:nvSpPr>
        <p:spPr>
          <a:xfrm>
            <a:off x="3470148" y="5104574"/>
            <a:ext cx="343471" cy="2051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3C4C63"/>
                </a:solidFill>
                <a:latin typeface="Segoe UI"/>
              </a:rPr>
              <a:t>code</a:t>
            </a:r>
          </a:p>
        </p:txBody>
      </p:sp>
      <p:sp>
        <p:nvSpPr>
          <p:cNvPr id="17492" name="TextBox 17491"/>
          <p:cNvSpPr txBox="1"/>
          <p:nvPr/>
        </p:nvSpPr>
        <p:spPr>
          <a:xfrm>
            <a:off x="3470148" y="5341175"/>
            <a:ext cx="1980247" cy="2051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3C4C63"/>
                </a:solidFill>
                <a:latin typeface="Segoe UI"/>
              </a:rPr>
              <a:t>Data can be handed to the city as open</a:t>
            </a:r>
          </a:p>
        </p:txBody>
      </p:sp>
      <p:sp>
        <p:nvSpPr>
          <p:cNvPr id="17493" name="TextBox 17492"/>
          <p:cNvSpPr txBox="1"/>
          <p:nvPr/>
        </p:nvSpPr>
        <p:spPr>
          <a:xfrm>
            <a:off x="3470148" y="5477192"/>
            <a:ext cx="562356" cy="2051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3C4C63"/>
                </a:solidFill>
                <a:latin typeface="Segoe UI"/>
              </a:rPr>
              <a:t>GeoJSON</a:t>
            </a:r>
          </a:p>
        </p:txBody>
      </p:sp>
      <p:sp>
        <p:nvSpPr>
          <p:cNvPr id="17494" name="TextBox 17493"/>
          <p:cNvSpPr txBox="1"/>
          <p:nvPr/>
        </p:nvSpPr>
        <p:spPr>
          <a:xfrm>
            <a:off x="278892" y="5986145"/>
            <a:ext cx="5388102" cy="20751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60" b="0" i="1">
                <a:solidFill>
                  <a:srgbClr val="3C4C63"/>
                </a:solidFill>
                <a:latin typeface="Segoe UI"/>
              </a:rPr>
              <a:t>For SIH we will show one Android app, one backend and one dashboard, tested on about 50 km of real city road.</a:t>
            </a:r>
          </a:p>
        </p:txBody>
      </p:sp>
      <p:sp>
        <p:nvSpPr>
          <p:cNvPr id="17495" name="TextBox 17494"/>
          <p:cNvSpPr txBox="1"/>
          <p:nvPr/>
        </p:nvSpPr>
        <p:spPr>
          <a:xfrm>
            <a:off x="6332220" y="1605914"/>
            <a:ext cx="1652778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00" b="1" i="0">
                <a:solidFill>
                  <a:srgbClr val="0B1B33"/>
                </a:solidFill>
                <a:latin typeface="Segoe UI"/>
              </a:rPr>
              <a:t>Phones kill background apps</a:t>
            </a:r>
          </a:p>
        </p:txBody>
      </p:sp>
      <p:sp>
        <p:nvSpPr>
          <p:cNvPr id="17496" name="TextBox 17495"/>
          <p:cNvSpPr txBox="1"/>
          <p:nvPr/>
        </p:nvSpPr>
        <p:spPr>
          <a:xfrm>
            <a:off x="7875270" y="1605914"/>
            <a:ext cx="3058668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00" b="0" i="0">
                <a:solidFill>
                  <a:srgbClr val="6B7A90"/>
                </a:solidFill>
                <a:latin typeface="Segoe UI"/>
              </a:rPr>
              <a:t>   -   Xiaomi and Oppo shut down anything running quietly</a:t>
            </a:r>
          </a:p>
        </p:txBody>
      </p:sp>
      <p:sp>
        <p:nvSpPr>
          <p:cNvPr id="17497" name="TextBox 17496"/>
          <p:cNvSpPr txBox="1"/>
          <p:nvPr/>
        </p:nvSpPr>
        <p:spPr>
          <a:xfrm>
            <a:off x="6441948" y="1929066"/>
            <a:ext cx="4543425" cy="20027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30" b="0" i="0">
                <a:solidFill>
                  <a:srgbClr val="0F5C34"/>
                </a:solidFill>
                <a:latin typeface="Segoe UI"/>
              </a:rPr>
              <a:t>Run it as a visible service the user can see, ask once for autostart, and test on MIUI and ColorOS</a:t>
            </a:r>
          </a:p>
        </p:txBody>
      </p:sp>
      <p:sp>
        <p:nvSpPr>
          <p:cNvPr id="17498" name="TextBox 17497"/>
          <p:cNvSpPr txBox="1"/>
          <p:nvPr/>
        </p:nvSpPr>
        <p:spPr>
          <a:xfrm>
            <a:off x="6332220" y="2520315"/>
            <a:ext cx="1533906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00" b="1" i="0">
                <a:solidFill>
                  <a:srgbClr val="0B1B33"/>
                </a:solidFill>
                <a:latin typeface="Segoe UI"/>
              </a:rPr>
              <a:t>GPS can be off by 20-30 m</a:t>
            </a:r>
          </a:p>
        </p:txBody>
      </p:sp>
      <p:sp>
        <p:nvSpPr>
          <p:cNvPr id="17499" name="TextBox 17498"/>
          <p:cNvSpPr txBox="1"/>
          <p:nvPr/>
        </p:nvSpPr>
        <p:spPr>
          <a:xfrm>
            <a:off x="7756398" y="2520315"/>
            <a:ext cx="1692782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00" b="0" i="0">
                <a:solidFill>
                  <a:srgbClr val="6B7A90"/>
                </a:solidFill>
                <a:latin typeface="Segoe UI"/>
              </a:rPr>
              <a:t>   -   at speed the location drifts</a:t>
            </a:r>
          </a:p>
        </p:txBody>
      </p:sp>
      <p:sp>
        <p:nvSpPr>
          <p:cNvPr id="17500" name="TextBox 17499"/>
          <p:cNvSpPr txBox="1"/>
          <p:nvPr/>
        </p:nvSpPr>
        <p:spPr>
          <a:xfrm>
            <a:off x="6441948" y="2843466"/>
            <a:ext cx="3949065" cy="20027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30" b="0" i="0">
                <a:solidFill>
                  <a:srgbClr val="0F5C34"/>
                </a:solidFill>
                <a:latin typeface="Segoe UI"/>
              </a:rPr>
              <a:t>Snap every reading to the road with OSRM, then group points within a 20 m radius</a:t>
            </a:r>
          </a:p>
        </p:txBody>
      </p:sp>
      <p:sp>
        <p:nvSpPr>
          <p:cNvPr id="17501" name="TextBox 17500"/>
          <p:cNvSpPr txBox="1"/>
          <p:nvPr/>
        </p:nvSpPr>
        <p:spPr>
          <a:xfrm>
            <a:off x="6332220" y="3434715"/>
            <a:ext cx="2267140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00" b="1" i="0">
                <a:solidFill>
                  <a:srgbClr val="0B1B33"/>
                </a:solidFill>
                <a:latin typeface="Segoe UI"/>
              </a:rPr>
              <a:t>A bike and a bus feel a bump differently</a:t>
            </a:r>
          </a:p>
        </p:txBody>
      </p:sp>
      <p:sp>
        <p:nvSpPr>
          <p:cNvPr id="17502" name="TextBox 17501"/>
          <p:cNvSpPr txBox="1"/>
          <p:nvPr/>
        </p:nvSpPr>
        <p:spPr>
          <a:xfrm>
            <a:off x="8489632" y="3434715"/>
            <a:ext cx="2074545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00" b="0" i="0">
                <a:solidFill>
                  <a:srgbClr val="6B7A90"/>
                </a:solidFill>
                <a:latin typeface="Segoe UI"/>
              </a:rPr>
              <a:t>   -   same pothole, very different shake</a:t>
            </a:r>
          </a:p>
        </p:txBody>
      </p:sp>
      <p:sp>
        <p:nvSpPr>
          <p:cNvPr id="17503" name="TextBox 17502"/>
          <p:cNvSpPr txBox="1"/>
          <p:nvPr/>
        </p:nvSpPr>
        <p:spPr>
          <a:xfrm>
            <a:off x="6441948" y="3757866"/>
            <a:ext cx="3734752" cy="20027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30" b="0" i="0">
                <a:solidFill>
                  <a:srgbClr val="0F5C34"/>
                </a:solidFill>
                <a:latin typeface="Segoe UI"/>
              </a:rPr>
              <a:t>Ten minutes of self-calibration per phone, and we adjust the reading for speed</a:t>
            </a:r>
          </a:p>
        </p:txBody>
      </p:sp>
      <p:sp>
        <p:nvSpPr>
          <p:cNvPr id="17504" name="TextBox 17503"/>
          <p:cNvSpPr txBox="1"/>
          <p:nvPr/>
        </p:nvSpPr>
        <p:spPr>
          <a:xfrm>
            <a:off x="6332220" y="4349115"/>
            <a:ext cx="1916811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00" b="1" i="0">
                <a:solidFill>
                  <a:srgbClr val="0B1B33"/>
                </a:solidFill>
                <a:latin typeface="Segoe UI"/>
              </a:rPr>
              <a:t>Speed breakers look like potholes</a:t>
            </a:r>
          </a:p>
        </p:txBody>
      </p:sp>
      <p:sp>
        <p:nvSpPr>
          <p:cNvPr id="17505" name="TextBox 17504"/>
          <p:cNvSpPr txBox="1"/>
          <p:nvPr/>
        </p:nvSpPr>
        <p:spPr>
          <a:xfrm>
            <a:off x="8139303" y="4349115"/>
            <a:ext cx="2210562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00" b="0" i="0">
                <a:solidFill>
                  <a:srgbClr val="6B7A90"/>
                </a:solidFill>
                <a:latin typeface="Segoe UI"/>
              </a:rPr>
              <a:t>   -   so do manholes and expansion joints</a:t>
            </a:r>
          </a:p>
        </p:txBody>
      </p:sp>
      <p:sp>
        <p:nvSpPr>
          <p:cNvPr id="17506" name="TextBox 17505"/>
          <p:cNvSpPr txBox="1"/>
          <p:nvPr/>
        </p:nvSpPr>
        <p:spPr>
          <a:xfrm>
            <a:off x="6441948" y="4672266"/>
            <a:ext cx="5014341" cy="20027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30" b="0" i="0">
                <a:solidFill>
                  <a:srgbClr val="0F5C34"/>
                </a:solidFill>
                <a:latin typeface="Segoe UI"/>
              </a:rPr>
              <a:t>We train on those on purpose as 'not a pothole', need three vehicles to agree, and let the camera overrule</a:t>
            </a:r>
          </a:p>
        </p:txBody>
      </p:sp>
      <p:sp>
        <p:nvSpPr>
          <p:cNvPr id="17507" name="TextBox 17506"/>
          <p:cNvSpPr txBox="1"/>
          <p:nvPr/>
        </p:nvSpPr>
        <p:spPr>
          <a:xfrm>
            <a:off x="6332220" y="5263515"/>
            <a:ext cx="1776222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00" b="1" i="0">
                <a:solidFill>
                  <a:srgbClr val="0B1B33"/>
                </a:solidFill>
                <a:latin typeface="Segoe UI"/>
              </a:rPr>
              <a:t>Privacy, and poor light at night</a:t>
            </a:r>
          </a:p>
        </p:txBody>
      </p:sp>
      <p:sp>
        <p:nvSpPr>
          <p:cNvPr id="17508" name="TextBox 17507"/>
          <p:cNvSpPr txBox="1"/>
          <p:nvPr/>
        </p:nvSpPr>
        <p:spPr>
          <a:xfrm>
            <a:off x="7998714" y="5263515"/>
            <a:ext cx="1960816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00" b="0" i="0">
                <a:solidFill>
                  <a:srgbClr val="6B7A90"/>
                </a:solidFill>
                <a:latin typeface="Segoe UI"/>
              </a:rPr>
              <a:t>   -   video can catch faces and plates</a:t>
            </a:r>
          </a:p>
        </p:txBody>
      </p:sp>
      <p:sp>
        <p:nvSpPr>
          <p:cNvPr id="17509" name="TextBox 17508"/>
          <p:cNvSpPr txBox="1"/>
          <p:nvPr/>
        </p:nvSpPr>
        <p:spPr>
          <a:xfrm>
            <a:off x="6441948" y="5586666"/>
            <a:ext cx="4814316" cy="20027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30" b="0" i="0">
                <a:solidFill>
                  <a:srgbClr val="0F5C34"/>
                </a:solidFill>
                <a:latin typeface="Segoe UI"/>
              </a:rPr>
              <a:t>Faces and plates are blurred on the phone, clips expire in seven days, and sensors carry the night shift</a:t>
            </a:r>
          </a:p>
        </p:txBody>
      </p:sp>
      <p:pic>
        <p:nvPicPr>
          <p:cNvPr id="17510" name="Picture 17509" descr="sih_logo_20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1366" y="57097"/>
            <a:ext cx="2209120" cy="1122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45720"/>
            <a:ext cx="7955279" cy="960120"/>
          </a:xfrm>
        </p:spPr>
        <p:txBody>
          <a:bodyPr wrap="square" anchor="ctr"/>
          <a:lstStyle/>
          <a:p>
            <a:pPr eaLnBrk="1" hangingPunct="1" algn="ctr"/>
            <a:r>
              <a:rPr lang="en-US" sz="27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2026 Idea Submission - Team SETU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 i="0" u="none">
                <a:solidFill>
                  <a:srgbClr val="0B1B33"/>
                </a:solidFill>
                <a:latin typeface="Calibri"/>
              </a:rPr>
              <a:t>Team SETU</a:t>
            </a:r>
          </a:p>
        </p:txBody>
      </p:sp>
      <p:sp>
        <p:nvSpPr>
          <p:cNvPr id="17410" name="Rectangle 17409"/>
          <p:cNvSpPr/>
          <p:nvPr/>
        </p:nvSpPr>
        <p:spPr>
          <a:xfrm>
            <a:off x="274320" y="1097280"/>
            <a:ext cx="11640312" cy="5138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ounded Rectangle 17410"/>
          <p:cNvSpPr/>
          <p:nvPr/>
        </p:nvSpPr>
        <p:spPr>
          <a:xfrm>
            <a:off x="292608" y="1554480"/>
            <a:ext cx="1335024" cy="1115568"/>
          </a:xfrm>
          <a:prstGeom prst="roundRect">
            <a:avLst>
              <a:gd name="adj" fmla="val 5737"/>
            </a:avLst>
          </a:prstGeom>
          <a:solidFill>
            <a:srgbClr val="FDECEA"/>
          </a:solidFill>
          <a:ln w="15240">
            <a:solidFill>
              <a:srgbClr val="D930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1755648" y="1554480"/>
            <a:ext cx="1335024" cy="1115568"/>
          </a:xfrm>
          <a:prstGeom prst="roundRect">
            <a:avLst>
              <a:gd name="adj" fmla="val 5737"/>
            </a:avLst>
          </a:prstGeom>
          <a:solidFill>
            <a:srgbClr val="FFF0E4"/>
          </a:solidFill>
          <a:ln w="15240">
            <a:solidFill>
              <a:srgbClr val="FF7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13" name="Rounded Rectangle 17412"/>
          <p:cNvSpPr/>
          <p:nvPr/>
        </p:nvSpPr>
        <p:spPr>
          <a:xfrm>
            <a:off x="3218688" y="1554480"/>
            <a:ext cx="1335024" cy="1115568"/>
          </a:xfrm>
          <a:prstGeom prst="roundRect">
            <a:avLst>
              <a:gd name="adj" fmla="val 5737"/>
            </a:avLst>
          </a:prstGeom>
          <a:solidFill>
            <a:srgbClr val="E8F1FE"/>
          </a:solidFill>
          <a:ln w="15240"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14" name="Rounded Rectangle 17413"/>
          <p:cNvSpPr/>
          <p:nvPr/>
        </p:nvSpPr>
        <p:spPr>
          <a:xfrm>
            <a:off x="4681728" y="1554480"/>
            <a:ext cx="1335024" cy="1115568"/>
          </a:xfrm>
          <a:prstGeom prst="roundRect">
            <a:avLst>
              <a:gd name="adj" fmla="val 5737"/>
            </a:avLst>
          </a:prstGeom>
          <a:solidFill>
            <a:srgbClr val="E6F6EC"/>
          </a:solidFill>
          <a:ln w="15240">
            <a:solidFill>
              <a:srgbClr val="17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15" name="Rectangle 17414"/>
          <p:cNvSpPr/>
          <p:nvPr/>
        </p:nvSpPr>
        <p:spPr>
          <a:xfrm>
            <a:off x="292608" y="3273552"/>
            <a:ext cx="5724144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ectangle 17415"/>
          <p:cNvSpPr/>
          <p:nvPr/>
        </p:nvSpPr>
        <p:spPr>
          <a:xfrm>
            <a:off x="292608" y="4078224"/>
            <a:ext cx="5724144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ectangle 17416"/>
          <p:cNvSpPr/>
          <p:nvPr/>
        </p:nvSpPr>
        <p:spPr>
          <a:xfrm>
            <a:off x="292608" y="4882896"/>
            <a:ext cx="5724144" cy="40233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Rounded Rectangle 17417"/>
          <p:cNvSpPr/>
          <p:nvPr/>
        </p:nvSpPr>
        <p:spPr>
          <a:xfrm>
            <a:off x="292608" y="5486400"/>
            <a:ext cx="5724144" cy="676656"/>
          </a:xfrm>
          <a:prstGeom prst="roundRect">
            <a:avLst>
              <a:gd name="adj" fmla="val 9459"/>
            </a:avLst>
          </a:prstGeom>
          <a:solidFill>
            <a:srgbClr val="E6F6EC"/>
          </a:solidFill>
          <a:ln w="15240">
            <a:solidFill>
              <a:srgbClr val="17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6181344" y="1554480"/>
            <a:ext cx="5715000" cy="1938528"/>
          </a:xfrm>
          <a:prstGeom prst="roundRect">
            <a:avLst>
              <a:gd name="adj" fmla="val 3301"/>
            </a:avLst>
          </a:prstGeom>
          <a:solidFill>
            <a:srgbClr val="FFFFFF"/>
          </a:solidFill>
          <a:ln w="13970">
            <a:solidFill>
              <a:srgbClr val="D4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20" name="Rounded Rectangle 17419"/>
          <p:cNvSpPr/>
          <p:nvPr/>
        </p:nvSpPr>
        <p:spPr>
          <a:xfrm>
            <a:off x="6364224" y="2121408"/>
            <a:ext cx="4114800" cy="201168"/>
          </a:xfrm>
          <a:prstGeom prst="roundRect">
            <a:avLst>
              <a:gd name="adj" fmla="val 13636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21" name="Rounded Rectangle 17420"/>
          <p:cNvSpPr/>
          <p:nvPr/>
        </p:nvSpPr>
        <p:spPr>
          <a:xfrm>
            <a:off x="6364224" y="2578608"/>
            <a:ext cx="4114800" cy="201168"/>
          </a:xfrm>
          <a:prstGeom prst="roundRect">
            <a:avLst>
              <a:gd name="adj" fmla="val 13636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22" name="Rounded Rectangle 17421"/>
          <p:cNvSpPr/>
          <p:nvPr/>
        </p:nvSpPr>
        <p:spPr>
          <a:xfrm>
            <a:off x="6364224" y="3035808"/>
            <a:ext cx="4114800" cy="201168"/>
          </a:xfrm>
          <a:prstGeom prst="roundRect">
            <a:avLst>
              <a:gd name="adj" fmla="val 13636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23" name="Rounded Rectangle 17422"/>
          <p:cNvSpPr/>
          <p:nvPr/>
        </p:nvSpPr>
        <p:spPr>
          <a:xfrm>
            <a:off x="6181344" y="3602736"/>
            <a:ext cx="5715000" cy="1225296"/>
          </a:xfrm>
          <a:prstGeom prst="roundRect">
            <a:avLst>
              <a:gd name="adj" fmla="val 5223"/>
            </a:avLst>
          </a:prstGeom>
          <a:solidFill>
            <a:srgbClr val="FFFFFF"/>
          </a:solidFill>
          <a:ln w="13970">
            <a:solidFill>
              <a:srgbClr val="D4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24" name="Rounded Rectangle 17423"/>
          <p:cNvSpPr/>
          <p:nvPr/>
        </p:nvSpPr>
        <p:spPr>
          <a:xfrm>
            <a:off x="6181344" y="4974336"/>
            <a:ext cx="5715000" cy="1133856"/>
          </a:xfrm>
          <a:prstGeom prst="roundRect">
            <a:avLst>
              <a:gd name="adj" fmla="val 5645"/>
            </a:avLst>
          </a:prstGeom>
          <a:solidFill>
            <a:srgbClr val="E3F6F5"/>
          </a:solidFill>
          <a:ln w="15240">
            <a:solidFill>
              <a:srgbClr val="0E9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25" name="Rounded Rectangle 17424"/>
          <p:cNvSpPr/>
          <p:nvPr/>
        </p:nvSpPr>
        <p:spPr>
          <a:xfrm>
            <a:off x="292608" y="1097280"/>
            <a:ext cx="5724144" cy="301752"/>
          </a:xfrm>
          <a:prstGeom prst="roundRect">
            <a:avLst>
              <a:gd name="adj" fmla="val 21212"/>
            </a:avLst>
          </a:prstGeom>
          <a:solidFill>
            <a:srgbClr val="12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26" name="Rounded Rectangle 17425"/>
          <p:cNvSpPr/>
          <p:nvPr/>
        </p:nvSpPr>
        <p:spPr>
          <a:xfrm>
            <a:off x="292608" y="2871215"/>
            <a:ext cx="5724144" cy="402336"/>
          </a:xfrm>
          <a:prstGeom prst="roundRect">
            <a:avLst>
              <a:gd name="adj" fmla="val 13636"/>
            </a:avLst>
          </a:prstGeom>
          <a:solidFill>
            <a:srgbClr val="12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27" name="Rectangle 17426"/>
          <p:cNvSpPr/>
          <p:nvPr/>
        </p:nvSpPr>
        <p:spPr>
          <a:xfrm>
            <a:off x="292608" y="3668572"/>
            <a:ext cx="5724144" cy="7315"/>
          </a:xfrm>
          <a:prstGeom prst="rect">
            <a:avLst/>
          </a:prstGeom>
          <a:solidFill>
            <a:srgbClr val="D4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Rectangle 17427"/>
          <p:cNvSpPr/>
          <p:nvPr/>
        </p:nvSpPr>
        <p:spPr>
          <a:xfrm>
            <a:off x="292608" y="4070908"/>
            <a:ext cx="5724144" cy="7315"/>
          </a:xfrm>
          <a:prstGeom prst="rect">
            <a:avLst/>
          </a:prstGeom>
          <a:solidFill>
            <a:srgbClr val="D4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Rectangle 17428"/>
          <p:cNvSpPr/>
          <p:nvPr/>
        </p:nvSpPr>
        <p:spPr>
          <a:xfrm>
            <a:off x="292608" y="4473244"/>
            <a:ext cx="5724144" cy="7315"/>
          </a:xfrm>
          <a:prstGeom prst="rect">
            <a:avLst/>
          </a:prstGeom>
          <a:solidFill>
            <a:srgbClr val="D4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Rectangle 17429"/>
          <p:cNvSpPr/>
          <p:nvPr/>
        </p:nvSpPr>
        <p:spPr>
          <a:xfrm>
            <a:off x="292608" y="4875580"/>
            <a:ext cx="5724144" cy="7315"/>
          </a:xfrm>
          <a:prstGeom prst="rect">
            <a:avLst/>
          </a:prstGeom>
          <a:solidFill>
            <a:srgbClr val="D4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Rectangle 17430"/>
          <p:cNvSpPr/>
          <p:nvPr/>
        </p:nvSpPr>
        <p:spPr>
          <a:xfrm>
            <a:off x="292608" y="5277916"/>
            <a:ext cx="5724144" cy="7315"/>
          </a:xfrm>
          <a:prstGeom prst="rect">
            <a:avLst/>
          </a:prstGeom>
          <a:solidFill>
            <a:srgbClr val="D4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2" name="Rounded Rectangle 17431"/>
          <p:cNvSpPr/>
          <p:nvPr/>
        </p:nvSpPr>
        <p:spPr>
          <a:xfrm>
            <a:off x="6181344" y="1097280"/>
            <a:ext cx="5715000" cy="301752"/>
          </a:xfrm>
          <a:prstGeom prst="roundRect">
            <a:avLst>
              <a:gd name="adj" fmla="val 21212"/>
            </a:avLst>
          </a:prstGeom>
          <a:solidFill>
            <a:srgbClr val="12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33" name="Rounded Rectangle 17432"/>
          <p:cNvSpPr/>
          <p:nvPr/>
        </p:nvSpPr>
        <p:spPr>
          <a:xfrm>
            <a:off x="6364224" y="2121408"/>
            <a:ext cx="4114800" cy="201168"/>
          </a:xfrm>
          <a:prstGeom prst="roundRect">
            <a:avLst>
              <a:gd name="adj" fmla="val 13636"/>
            </a:avLst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34" name="Rounded Rectangle 17433"/>
          <p:cNvSpPr/>
          <p:nvPr/>
        </p:nvSpPr>
        <p:spPr>
          <a:xfrm>
            <a:off x="6364224" y="2578608"/>
            <a:ext cx="1728216" cy="201168"/>
          </a:xfrm>
          <a:prstGeom prst="roundRect">
            <a:avLst>
              <a:gd name="adj" fmla="val 13636"/>
            </a:avLst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35" name="Rounded Rectangle 17434"/>
          <p:cNvSpPr/>
          <p:nvPr/>
        </p:nvSpPr>
        <p:spPr>
          <a:xfrm>
            <a:off x="6364224" y="3035808"/>
            <a:ext cx="82296" cy="201168"/>
          </a:xfrm>
          <a:prstGeom prst="roundRect">
            <a:avLst>
              <a:gd name="adj" fmla="val 33333"/>
            </a:avLst>
          </a:prstGeom>
          <a:solidFill>
            <a:srgbClr val="17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36" name="Oval 17435"/>
          <p:cNvSpPr/>
          <p:nvPr/>
        </p:nvSpPr>
        <p:spPr>
          <a:xfrm>
            <a:off x="7598664" y="4023360"/>
            <a:ext cx="128016" cy="128016"/>
          </a:xfrm>
          <a:prstGeom prst="ellipse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Oval 17436"/>
          <p:cNvSpPr/>
          <p:nvPr/>
        </p:nvSpPr>
        <p:spPr>
          <a:xfrm>
            <a:off x="7616952" y="4370832"/>
            <a:ext cx="91440" cy="91440"/>
          </a:xfrm>
          <a:prstGeom prst="ellipse">
            <a:avLst/>
          </a:prstGeom>
          <a:solidFill>
            <a:srgbClr val="17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8" name="Oval 17437"/>
          <p:cNvSpPr/>
          <p:nvPr/>
        </p:nvSpPr>
        <p:spPr>
          <a:xfrm>
            <a:off x="7740396" y="4370832"/>
            <a:ext cx="91440" cy="91440"/>
          </a:xfrm>
          <a:prstGeom prst="ellipse">
            <a:avLst/>
          </a:prstGeom>
          <a:solidFill>
            <a:srgbClr val="17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9" name="Oval 17438"/>
          <p:cNvSpPr/>
          <p:nvPr/>
        </p:nvSpPr>
        <p:spPr>
          <a:xfrm>
            <a:off x="7863840" y="4370832"/>
            <a:ext cx="91440" cy="91440"/>
          </a:xfrm>
          <a:prstGeom prst="ellipse">
            <a:avLst/>
          </a:prstGeom>
          <a:solidFill>
            <a:srgbClr val="17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0" name="Oval 17439"/>
          <p:cNvSpPr/>
          <p:nvPr/>
        </p:nvSpPr>
        <p:spPr>
          <a:xfrm>
            <a:off x="7987283" y="4370832"/>
            <a:ext cx="91440" cy="91440"/>
          </a:xfrm>
          <a:prstGeom prst="ellipse">
            <a:avLst/>
          </a:prstGeom>
          <a:solidFill>
            <a:srgbClr val="17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1" name="Oval 17440"/>
          <p:cNvSpPr/>
          <p:nvPr/>
        </p:nvSpPr>
        <p:spPr>
          <a:xfrm>
            <a:off x="8110728" y="4370832"/>
            <a:ext cx="91440" cy="91440"/>
          </a:xfrm>
          <a:prstGeom prst="ellipse">
            <a:avLst/>
          </a:prstGeom>
          <a:solidFill>
            <a:srgbClr val="17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2" name="Oval 17441"/>
          <p:cNvSpPr/>
          <p:nvPr/>
        </p:nvSpPr>
        <p:spPr>
          <a:xfrm>
            <a:off x="8234172" y="4370832"/>
            <a:ext cx="91440" cy="91440"/>
          </a:xfrm>
          <a:prstGeom prst="ellipse">
            <a:avLst/>
          </a:prstGeom>
          <a:solidFill>
            <a:srgbClr val="17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3" name="Oval 17442"/>
          <p:cNvSpPr/>
          <p:nvPr/>
        </p:nvSpPr>
        <p:spPr>
          <a:xfrm>
            <a:off x="8357616" y="4370832"/>
            <a:ext cx="91440" cy="91440"/>
          </a:xfrm>
          <a:prstGeom prst="ellipse">
            <a:avLst/>
          </a:prstGeom>
          <a:solidFill>
            <a:srgbClr val="17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4" name="Oval 17443"/>
          <p:cNvSpPr/>
          <p:nvPr/>
        </p:nvSpPr>
        <p:spPr>
          <a:xfrm>
            <a:off x="8481060" y="4370832"/>
            <a:ext cx="91440" cy="91440"/>
          </a:xfrm>
          <a:prstGeom prst="ellipse">
            <a:avLst/>
          </a:prstGeom>
          <a:solidFill>
            <a:srgbClr val="17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5" name="Oval 17444"/>
          <p:cNvSpPr/>
          <p:nvPr/>
        </p:nvSpPr>
        <p:spPr>
          <a:xfrm>
            <a:off x="8604504" y="4370832"/>
            <a:ext cx="91440" cy="91440"/>
          </a:xfrm>
          <a:prstGeom prst="ellipse">
            <a:avLst/>
          </a:prstGeom>
          <a:solidFill>
            <a:srgbClr val="17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6" name="Oval 17445"/>
          <p:cNvSpPr/>
          <p:nvPr/>
        </p:nvSpPr>
        <p:spPr>
          <a:xfrm>
            <a:off x="8727948" y="4370832"/>
            <a:ext cx="91440" cy="91440"/>
          </a:xfrm>
          <a:prstGeom prst="ellipse">
            <a:avLst/>
          </a:prstGeom>
          <a:solidFill>
            <a:srgbClr val="17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7" name="Oval 17446"/>
          <p:cNvSpPr/>
          <p:nvPr/>
        </p:nvSpPr>
        <p:spPr>
          <a:xfrm>
            <a:off x="8851392" y="4370832"/>
            <a:ext cx="91440" cy="91440"/>
          </a:xfrm>
          <a:prstGeom prst="ellipse">
            <a:avLst/>
          </a:prstGeom>
          <a:solidFill>
            <a:srgbClr val="17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8" name="Oval 17447"/>
          <p:cNvSpPr/>
          <p:nvPr/>
        </p:nvSpPr>
        <p:spPr>
          <a:xfrm>
            <a:off x="8974836" y="4370832"/>
            <a:ext cx="91440" cy="91440"/>
          </a:xfrm>
          <a:prstGeom prst="ellipse">
            <a:avLst/>
          </a:prstGeom>
          <a:solidFill>
            <a:srgbClr val="17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9" name="Oval 17448"/>
          <p:cNvSpPr/>
          <p:nvPr/>
        </p:nvSpPr>
        <p:spPr>
          <a:xfrm>
            <a:off x="9098280" y="4370832"/>
            <a:ext cx="91440" cy="91440"/>
          </a:xfrm>
          <a:prstGeom prst="ellipse">
            <a:avLst/>
          </a:prstGeom>
          <a:solidFill>
            <a:srgbClr val="17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0" name="Oval 17449"/>
          <p:cNvSpPr/>
          <p:nvPr/>
        </p:nvSpPr>
        <p:spPr>
          <a:xfrm>
            <a:off x="9221724" y="4370832"/>
            <a:ext cx="91440" cy="91440"/>
          </a:xfrm>
          <a:prstGeom prst="ellipse">
            <a:avLst/>
          </a:prstGeom>
          <a:solidFill>
            <a:srgbClr val="17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1" name="Oval 17450"/>
          <p:cNvSpPr/>
          <p:nvPr/>
        </p:nvSpPr>
        <p:spPr>
          <a:xfrm>
            <a:off x="9345168" y="4370832"/>
            <a:ext cx="91440" cy="91440"/>
          </a:xfrm>
          <a:prstGeom prst="ellipse">
            <a:avLst/>
          </a:prstGeom>
          <a:solidFill>
            <a:srgbClr val="17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2" name="Oval 17451"/>
          <p:cNvSpPr/>
          <p:nvPr/>
        </p:nvSpPr>
        <p:spPr>
          <a:xfrm>
            <a:off x="9468612" y="4370832"/>
            <a:ext cx="91440" cy="91440"/>
          </a:xfrm>
          <a:prstGeom prst="ellipse">
            <a:avLst/>
          </a:prstGeom>
          <a:solidFill>
            <a:srgbClr val="17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3" name="Oval 17452"/>
          <p:cNvSpPr/>
          <p:nvPr/>
        </p:nvSpPr>
        <p:spPr>
          <a:xfrm>
            <a:off x="9592056" y="4370832"/>
            <a:ext cx="91440" cy="91440"/>
          </a:xfrm>
          <a:prstGeom prst="ellipse">
            <a:avLst/>
          </a:prstGeom>
          <a:solidFill>
            <a:srgbClr val="17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4" name="Oval 17453"/>
          <p:cNvSpPr/>
          <p:nvPr/>
        </p:nvSpPr>
        <p:spPr>
          <a:xfrm>
            <a:off x="9715500" y="4370832"/>
            <a:ext cx="91440" cy="91440"/>
          </a:xfrm>
          <a:prstGeom prst="ellipse">
            <a:avLst/>
          </a:prstGeom>
          <a:solidFill>
            <a:srgbClr val="17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5" name="Oval 17454"/>
          <p:cNvSpPr/>
          <p:nvPr/>
        </p:nvSpPr>
        <p:spPr>
          <a:xfrm>
            <a:off x="9838944" y="4370832"/>
            <a:ext cx="91440" cy="91440"/>
          </a:xfrm>
          <a:prstGeom prst="ellipse">
            <a:avLst/>
          </a:prstGeom>
          <a:solidFill>
            <a:srgbClr val="17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6" name="Oval 17455"/>
          <p:cNvSpPr/>
          <p:nvPr/>
        </p:nvSpPr>
        <p:spPr>
          <a:xfrm>
            <a:off x="9962388" y="4370832"/>
            <a:ext cx="91440" cy="91440"/>
          </a:xfrm>
          <a:prstGeom prst="ellipse">
            <a:avLst/>
          </a:prstGeom>
          <a:solidFill>
            <a:srgbClr val="17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7" name="Oval 17456"/>
          <p:cNvSpPr/>
          <p:nvPr/>
        </p:nvSpPr>
        <p:spPr>
          <a:xfrm>
            <a:off x="10085832" y="4370832"/>
            <a:ext cx="91440" cy="91440"/>
          </a:xfrm>
          <a:prstGeom prst="ellipse">
            <a:avLst/>
          </a:prstGeom>
          <a:solidFill>
            <a:srgbClr val="17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8" name="Oval 17457"/>
          <p:cNvSpPr/>
          <p:nvPr/>
        </p:nvSpPr>
        <p:spPr>
          <a:xfrm>
            <a:off x="10209276" y="4370832"/>
            <a:ext cx="91440" cy="91440"/>
          </a:xfrm>
          <a:prstGeom prst="ellipse">
            <a:avLst/>
          </a:prstGeom>
          <a:solidFill>
            <a:srgbClr val="17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9" name="TextBox 17458"/>
          <p:cNvSpPr txBox="1"/>
          <p:nvPr/>
        </p:nvSpPr>
        <p:spPr>
          <a:xfrm>
            <a:off x="1994820" y="1121473"/>
            <a:ext cx="2319718" cy="25336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WHAT CHANGES ON THE GROUND</a:t>
            </a:r>
          </a:p>
        </p:txBody>
      </p:sp>
      <p:sp>
        <p:nvSpPr>
          <p:cNvPr id="17460" name="TextBox 17459"/>
          <p:cNvSpPr txBox="1"/>
          <p:nvPr/>
        </p:nvSpPr>
        <p:spPr>
          <a:xfrm>
            <a:off x="747384" y="2969831"/>
            <a:ext cx="349758" cy="2051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Who</a:t>
            </a:r>
          </a:p>
        </p:txBody>
      </p:sp>
      <p:sp>
        <p:nvSpPr>
          <p:cNvPr id="17461" name="TextBox 17460"/>
          <p:cNvSpPr txBox="1"/>
          <p:nvPr/>
        </p:nvSpPr>
        <p:spPr>
          <a:xfrm>
            <a:off x="2461244" y="2969831"/>
            <a:ext cx="413766" cy="2051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Today</a:t>
            </a:r>
          </a:p>
        </p:txBody>
      </p:sp>
      <p:sp>
        <p:nvSpPr>
          <p:cNvPr id="17462" name="TextBox 17461"/>
          <p:cNvSpPr txBox="1"/>
          <p:nvPr/>
        </p:nvSpPr>
        <p:spPr>
          <a:xfrm>
            <a:off x="4576789" y="2969831"/>
            <a:ext cx="647509" cy="2051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With SETU</a:t>
            </a:r>
          </a:p>
        </p:txBody>
      </p:sp>
      <p:sp>
        <p:nvSpPr>
          <p:cNvPr id="17463" name="TextBox 17462"/>
          <p:cNvSpPr txBox="1"/>
          <p:nvPr/>
        </p:nvSpPr>
        <p:spPr>
          <a:xfrm>
            <a:off x="669946" y="3372167"/>
            <a:ext cx="504634" cy="2051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50" b="1" i="0">
                <a:solidFill>
                  <a:srgbClr val="3C4C63"/>
                </a:solidFill>
                <a:latin typeface="Segoe UI"/>
              </a:rPr>
              <a:t>Citizens</a:t>
            </a:r>
          </a:p>
        </p:txBody>
      </p:sp>
      <p:sp>
        <p:nvSpPr>
          <p:cNvPr id="17464" name="TextBox 17463"/>
          <p:cNvSpPr txBox="1"/>
          <p:nvPr/>
        </p:nvSpPr>
        <p:spPr>
          <a:xfrm>
            <a:off x="1851740" y="3372167"/>
            <a:ext cx="1632775" cy="2051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50" b="0" i="0">
                <a:solidFill>
                  <a:srgbClr val="3C4C63"/>
                </a:solidFill>
                <a:latin typeface="Segoe UI"/>
              </a:rPr>
              <a:t>no warning, nobody answerable</a:t>
            </a:r>
          </a:p>
        </p:txBody>
      </p:sp>
      <p:sp>
        <p:nvSpPr>
          <p:cNvPr id="17465" name="TextBox 17464"/>
          <p:cNvSpPr txBox="1"/>
          <p:nvPr/>
        </p:nvSpPr>
        <p:spPr>
          <a:xfrm>
            <a:off x="3920421" y="3372167"/>
            <a:ext cx="1960245" cy="2051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50" b="1" i="0">
                <a:solidFill>
                  <a:srgbClr val="0E9594"/>
                </a:solidFill>
                <a:latin typeface="Segoe UI"/>
              </a:rPr>
              <a:t>safer roads, repairs on a public clock</a:t>
            </a:r>
          </a:p>
        </p:txBody>
      </p:sp>
      <p:sp>
        <p:nvSpPr>
          <p:cNvPr id="17466" name="TextBox 17465"/>
          <p:cNvSpPr txBox="1"/>
          <p:nvPr/>
        </p:nvSpPr>
        <p:spPr>
          <a:xfrm>
            <a:off x="550217" y="3774503"/>
            <a:ext cx="744093" cy="2051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50" b="1" i="0">
                <a:solidFill>
                  <a:srgbClr val="3C4C63"/>
                </a:solidFill>
                <a:latin typeface="Segoe UI"/>
              </a:rPr>
              <a:t>Municipality</a:t>
            </a:r>
          </a:p>
        </p:txBody>
      </p:sp>
      <p:sp>
        <p:nvSpPr>
          <p:cNvPr id="17467" name="TextBox 17466"/>
          <p:cNvSpPr txBox="1"/>
          <p:nvPr/>
        </p:nvSpPr>
        <p:spPr>
          <a:xfrm>
            <a:off x="2037763" y="3774503"/>
            <a:ext cx="1260729" cy="2051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50" b="0" i="0">
                <a:solidFill>
                  <a:srgbClr val="3C4C63"/>
                </a:solidFill>
                <a:latin typeface="Segoe UI"/>
              </a:rPr>
              <a:t>costly audits, guesswork</a:t>
            </a:r>
          </a:p>
        </p:txBody>
      </p:sp>
      <p:sp>
        <p:nvSpPr>
          <p:cNvPr id="17468" name="TextBox 17467"/>
          <p:cNvSpPr txBox="1"/>
          <p:nvPr/>
        </p:nvSpPr>
        <p:spPr>
          <a:xfrm>
            <a:off x="3990430" y="3774503"/>
            <a:ext cx="1820227" cy="2051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50" b="1" i="0">
                <a:solidFill>
                  <a:srgbClr val="0E9594"/>
                </a:solidFill>
                <a:latin typeface="Segoe UI"/>
              </a:rPr>
              <a:t>a ranked repair list, updated daily</a:t>
            </a:r>
          </a:p>
        </p:txBody>
      </p:sp>
      <p:sp>
        <p:nvSpPr>
          <p:cNvPr id="17469" name="TextBox 17468"/>
          <p:cNvSpPr txBox="1"/>
          <p:nvPr/>
        </p:nvSpPr>
        <p:spPr>
          <a:xfrm>
            <a:off x="546502" y="4176839"/>
            <a:ext cx="751522" cy="2051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50" b="1" i="0">
                <a:solidFill>
                  <a:srgbClr val="3C4C63"/>
                </a:solidFill>
                <a:latin typeface="Segoe UI"/>
              </a:rPr>
              <a:t>NHAI / PWD</a:t>
            </a:r>
          </a:p>
        </p:txBody>
      </p:sp>
      <p:sp>
        <p:nvSpPr>
          <p:cNvPr id="17470" name="TextBox 17469"/>
          <p:cNvSpPr txBox="1"/>
          <p:nvPr/>
        </p:nvSpPr>
        <p:spPr>
          <a:xfrm>
            <a:off x="2076625" y="4176839"/>
            <a:ext cx="1183005" cy="2051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50" b="0" i="0">
                <a:solidFill>
                  <a:srgbClr val="3C4C63"/>
                </a:solidFill>
                <a:latin typeface="Segoe UI"/>
              </a:rPr>
              <a:t>one survey pass a year</a:t>
            </a:r>
          </a:p>
        </p:txBody>
      </p:sp>
      <p:sp>
        <p:nvSpPr>
          <p:cNvPr id="17471" name="TextBox 17470"/>
          <p:cNvSpPr txBox="1"/>
          <p:nvPr/>
        </p:nvSpPr>
        <p:spPr>
          <a:xfrm>
            <a:off x="3884702" y="4176839"/>
            <a:ext cx="2031682" cy="2051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50" b="1" i="0">
                <a:solidFill>
                  <a:srgbClr val="0E9594"/>
                </a:solidFill>
                <a:latin typeface="Segoe UI"/>
              </a:rPr>
              <a:t>the whole network checked every day</a:t>
            </a:r>
          </a:p>
        </p:txBody>
      </p:sp>
      <p:sp>
        <p:nvSpPr>
          <p:cNvPr id="17472" name="TextBox 17471"/>
          <p:cNvSpPr txBox="1"/>
          <p:nvPr/>
        </p:nvSpPr>
        <p:spPr>
          <a:xfrm>
            <a:off x="563076" y="4579175"/>
            <a:ext cx="718375" cy="2051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50" b="1" i="0">
                <a:solidFill>
                  <a:srgbClr val="3C4C63"/>
                </a:solidFill>
                <a:latin typeface="Segoe UI"/>
              </a:rPr>
              <a:t>Gig workers</a:t>
            </a:r>
          </a:p>
        </p:txBody>
      </p:sp>
      <p:sp>
        <p:nvSpPr>
          <p:cNvPr id="17473" name="TextBox 17472"/>
          <p:cNvSpPr txBox="1"/>
          <p:nvPr/>
        </p:nvSpPr>
        <p:spPr>
          <a:xfrm>
            <a:off x="1986614" y="4579175"/>
            <a:ext cx="1363027" cy="2051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50" b="0" i="0">
                <a:solidFill>
                  <a:srgbClr val="3C4C63"/>
                </a:solidFill>
                <a:latin typeface="Segoe UI"/>
              </a:rPr>
              <a:t>vehicle damage, back pain</a:t>
            </a:r>
          </a:p>
        </p:txBody>
      </p:sp>
      <p:sp>
        <p:nvSpPr>
          <p:cNvPr id="17474" name="TextBox 17473"/>
          <p:cNvSpPr txBox="1"/>
          <p:nvPr/>
        </p:nvSpPr>
        <p:spPr>
          <a:xfrm>
            <a:off x="4061296" y="4579175"/>
            <a:ext cx="1678495" cy="2051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50" b="1" i="0">
                <a:solidFill>
                  <a:srgbClr val="0E9594"/>
                </a:solidFill>
                <a:latin typeface="Segoe UI"/>
              </a:rPr>
              <a:t>warnings ahead, no extra work</a:t>
            </a:r>
          </a:p>
        </p:txBody>
      </p:sp>
      <p:sp>
        <p:nvSpPr>
          <p:cNvPr id="17475" name="TextBox 17474"/>
          <p:cNvSpPr txBox="1"/>
          <p:nvPr/>
        </p:nvSpPr>
        <p:spPr>
          <a:xfrm>
            <a:off x="566790" y="4981511"/>
            <a:ext cx="710946" cy="2051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50" b="1" i="0">
                <a:solidFill>
                  <a:srgbClr val="3C4C63"/>
                </a:solidFill>
                <a:latin typeface="Segoe UI"/>
              </a:rPr>
              <a:t>Researchers</a:t>
            </a:r>
          </a:p>
        </p:txBody>
      </p:sp>
      <p:sp>
        <p:nvSpPr>
          <p:cNvPr id="17476" name="TextBox 17475"/>
          <p:cNvSpPr txBox="1"/>
          <p:nvPr/>
        </p:nvSpPr>
        <p:spPr>
          <a:xfrm>
            <a:off x="2007188" y="4981511"/>
            <a:ext cx="1321879" cy="2051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50" b="0" i="0">
                <a:solidFill>
                  <a:srgbClr val="3C4C63"/>
                </a:solidFill>
                <a:latin typeface="Segoe UI"/>
              </a:rPr>
              <a:t>no open Indian road data</a:t>
            </a:r>
          </a:p>
        </p:txBody>
      </p:sp>
      <p:sp>
        <p:nvSpPr>
          <p:cNvPr id="17477" name="TextBox 17476"/>
          <p:cNvSpPr txBox="1"/>
          <p:nvPr/>
        </p:nvSpPr>
        <p:spPr>
          <a:xfrm>
            <a:off x="3983572" y="4981511"/>
            <a:ext cx="1833943" cy="2051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50" b="1" i="0">
                <a:solidFill>
                  <a:srgbClr val="0E9594"/>
                </a:solidFill>
                <a:latin typeface="Segoe UI"/>
              </a:rPr>
              <a:t>a shared sensor and video dataset</a:t>
            </a:r>
          </a:p>
        </p:txBody>
      </p:sp>
      <p:sp>
        <p:nvSpPr>
          <p:cNvPr id="17478" name="TextBox 17477"/>
          <p:cNvSpPr txBox="1"/>
          <p:nvPr/>
        </p:nvSpPr>
        <p:spPr>
          <a:xfrm>
            <a:off x="7998999" y="1121473"/>
            <a:ext cx="2079688" cy="25336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THE COST AND THE COVERAGE</a:t>
            </a:r>
          </a:p>
        </p:txBody>
      </p:sp>
      <p:sp>
        <p:nvSpPr>
          <p:cNvPr id="17479" name="Oval 17478"/>
          <p:cNvSpPr/>
          <p:nvPr/>
        </p:nvSpPr>
        <p:spPr>
          <a:xfrm>
            <a:off x="6385255" y="5387797"/>
            <a:ext cx="58521" cy="58521"/>
          </a:xfrm>
          <a:prstGeom prst="ellipse">
            <a:avLst/>
          </a:prstGeom>
          <a:solidFill>
            <a:srgbClr val="0E9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0" name="Oval 17479"/>
          <p:cNvSpPr/>
          <p:nvPr/>
        </p:nvSpPr>
        <p:spPr>
          <a:xfrm>
            <a:off x="6385255" y="5586222"/>
            <a:ext cx="58521" cy="58521"/>
          </a:xfrm>
          <a:prstGeom prst="ellipse">
            <a:avLst/>
          </a:prstGeom>
          <a:solidFill>
            <a:srgbClr val="0E9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1" name="Oval 17480"/>
          <p:cNvSpPr/>
          <p:nvPr/>
        </p:nvSpPr>
        <p:spPr>
          <a:xfrm>
            <a:off x="6385255" y="5784646"/>
            <a:ext cx="58521" cy="58521"/>
          </a:xfrm>
          <a:prstGeom prst="ellipse">
            <a:avLst/>
          </a:prstGeom>
          <a:solidFill>
            <a:srgbClr val="0E9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2" name="TextBox 17481"/>
          <p:cNvSpPr txBox="1"/>
          <p:nvPr/>
        </p:nvSpPr>
        <p:spPr>
          <a:xfrm>
            <a:off x="701802" y="1699082"/>
            <a:ext cx="516635" cy="603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D93025"/>
                </a:solidFill>
                <a:latin typeface="Segoe UI"/>
              </a:rPr>
              <a:t>6+</a:t>
            </a:r>
          </a:p>
        </p:txBody>
      </p:sp>
      <p:sp>
        <p:nvSpPr>
          <p:cNvPr id="17483" name="TextBox 17482"/>
          <p:cNvSpPr txBox="1"/>
          <p:nvPr/>
        </p:nvSpPr>
        <p:spPr>
          <a:xfrm>
            <a:off x="503205" y="2137547"/>
            <a:ext cx="913828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00" b="1" i="0">
                <a:solidFill>
                  <a:srgbClr val="0B1B33"/>
                </a:solidFill>
                <a:latin typeface="Segoe UI"/>
              </a:rPr>
              <a:t>DEATHS A DAY</a:t>
            </a:r>
          </a:p>
        </p:txBody>
      </p:sp>
      <p:sp>
        <p:nvSpPr>
          <p:cNvPr id="17484" name="TextBox 17483"/>
          <p:cNvSpPr txBox="1"/>
          <p:nvPr/>
        </p:nvSpPr>
        <p:spPr>
          <a:xfrm>
            <a:off x="384905" y="2301595"/>
            <a:ext cx="1150429" cy="1833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60" b="0" i="0">
                <a:solidFill>
                  <a:srgbClr val="6B7A90"/>
                </a:solidFill>
                <a:latin typeface="Segoe UI"/>
              </a:rPr>
              <a:t>pothole crashes, MoRTH</a:t>
            </a:r>
          </a:p>
        </p:txBody>
      </p:sp>
      <p:sp>
        <p:nvSpPr>
          <p:cNvPr id="17485" name="TextBox 17484"/>
          <p:cNvSpPr txBox="1"/>
          <p:nvPr/>
        </p:nvSpPr>
        <p:spPr>
          <a:xfrm>
            <a:off x="1935670" y="1699082"/>
            <a:ext cx="974979" cy="603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FF7A18"/>
                </a:solidFill>
                <a:latin typeface="Segoe UI"/>
              </a:rPr>
              <a:t>+53%</a:t>
            </a:r>
          </a:p>
        </p:txBody>
      </p:sp>
      <p:sp>
        <p:nvSpPr>
          <p:cNvPr id="17486" name="TextBox 17485"/>
          <p:cNvSpPr txBox="1"/>
          <p:nvPr/>
        </p:nvSpPr>
        <p:spPr>
          <a:xfrm>
            <a:off x="1931955" y="2137547"/>
            <a:ext cx="982408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00" b="1" i="0">
                <a:solidFill>
                  <a:srgbClr val="0B1B33"/>
                </a:solidFill>
                <a:latin typeface="Segoe UI"/>
              </a:rPr>
              <a:t>RISE IN 5 YEARS</a:t>
            </a:r>
          </a:p>
        </p:txBody>
      </p:sp>
      <p:sp>
        <p:nvSpPr>
          <p:cNvPr id="17487" name="TextBox 17486"/>
          <p:cNvSpPr txBox="1"/>
          <p:nvPr/>
        </p:nvSpPr>
        <p:spPr>
          <a:xfrm>
            <a:off x="2004822" y="2301595"/>
            <a:ext cx="836676" cy="1833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60" b="0" i="0">
                <a:solidFill>
                  <a:srgbClr val="6B7A90"/>
                </a:solidFill>
                <a:latin typeface="Segoe UI"/>
              </a:rPr>
              <a:t>and still climbing</a:t>
            </a:r>
          </a:p>
        </p:txBody>
      </p:sp>
      <p:sp>
        <p:nvSpPr>
          <p:cNvPr id="17488" name="TextBox 17487"/>
          <p:cNvSpPr txBox="1"/>
          <p:nvPr/>
        </p:nvSpPr>
        <p:spPr>
          <a:xfrm>
            <a:off x="3453003" y="1699082"/>
            <a:ext cx="866394" cy="603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1565D8"/>
                </a:solidFill>
                <a:latin typeface="Segoe UI"/>
              </a:rPr>
              <a:t>Daily</a:t>
            </a:r>
          </a:p>
        </p:txBody>
      </p:sp>
      <p:sp>
        <p:nvSpPr>
          <p:cNvPr id="17489" name="TextBox 17488"/>
          <p:cNvSpPr txBox="1"/>
          <p:nvPr/>
        </p:nvSpPr>
        <p:spPr>
          <a:xfrm>
            <a:off x="3472434" y="2137547"/>
            <a:ext cx="827532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00" b="1" i="0">
                <a:solidFill>
                  <a:srgbClr val="0B1B33"/>
                </a:solidFill>
                <a:latin typeface="Segoe UI"/>
              </a:rPr>
              <a:t>ROAD CHECK</a:t>
            </a:r>
          </a:p>
        </p:txBody>
      </p:sp>
      <p:sp>
        <p:nvSpPr>
          <p:cNvPr id="17490" name="TextBox 17489"/>
          <p:cNvSpPr txBox="1"/>
          <p:nvPr/>
        </p:nvSpPr>
        <p:spPr>
          <a:xfrm>
            <a:off x="3341846" y="2301595"/>
            <a:ext cx="1088707" cy="1833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60" b="0" i="0">
                <a:solidFill>
                  <a:srgbClr val="6B7A90"/>
                </a:solidFill>
                <a:latin typeface="Segoe UI"/>
              </a:rPr>
              <a:t>instead of once in 6-12</a:t>
            </a:r>
          </a:p>
        </p:txBody>
      </p:sp>
      <p:sp>
        <p:nvSpPr>
          <p:cNvPr id="17491" name="TextBox 17490"/>
          <p:cNvSpPr txBox="1"/>
          <p:nvPr/>
        </p:nvSpPr>
        <p:spPr>
          <a:xfrm>
            <a:off x="3669601" y="2419349"/>
            <a:ext cx="433197" cy="1833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60" b="0" i="0">
                <a:solidFill>
                  <a:srgbClr val="6B7A90"/>
                </a:solidFill>
                <a:latin typeface="Segoe UI"/>
              </a:rPr>
              <a:t>months</a:t>
            </a:r>
          </a:p>
        </p:txBody>
      </p:sp>
      <p:sp>
        <p:nvSpPr>
          <p:cNvPr id="17492" name="TextBox 17491"/>
          <p:cNvSpPr txBox="1"/>
          <p:nvPr/>
        </p:nvSpPr>
        <p:spPr>
          <a:xfrm>
            <a:off x="4882324" y="1699082"/>
            <a:ext cx="933831" cy="603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178A4C"/>
                </a:solidFill>
                <a:latin typeface="Segoe UI"/>
              </a:rPr>
              <a:t>100%</a:t>
            </a:r>
          </a:p>
        </p:txBody>
      </p:sp>
      <p:sp>
        <p:nvSpPr>
          <p:cNvPr id="17493" name="TextBox 17492"/>
          <p:cNvSpPr txBox="1"/>
          <p:nvPr/>
        </p:nvSpPr>
        <p:spPr>
          <a:xfrm>
            <a:off x="4733448" y="2137547"/>
            <a:ext cx="1231582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00" b="1" i="0">
                <a:solidFill>
                  <a:srgbClr val="0B1B33"/>
                </a:solidFill>
                <a:latin typeface="Segoe UI"/>
              </a:rPr>
              <a:t>REPAIRS CHECKABLE</a:t>
            </a:r>
          </a:p>
        </p:txBody>
      </p:sp>
      <p:sp>
        <p:nvSpPr>
          <p:cNvPr id="17494" name="TextBox 17493"/>
          <p:cNvSpPr txBox="1"/>
          <p:nvPr/>
        </p:nvSpPr>
        <p:spPr>
          <a:xfrm>
            <a:off x="4746879" y="2301595"/>
            <a:ext cx="1204722" cy="1833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60" b="0" i="0">
                <a:solidFill>
                  <a:srgbClr val="6B7A90"/>
                </a:solidFill>
                <a:latin typeface="Segoe UI"/>
              </a:rPr>
              <a:t>evidence before and after</a:t>
            </a:r>
          </a:p>
        </p:txBody>
      </p:sp>
      <p:sp>
        <p:nvSpPr>
          <p:cNvPr id="17495" name="Rounded Rectangle 17494"/>
          <p:cNvSpPr/>
          <p:nvPr/>
        </p:nvSpPr>
        <p:spPr>
          <a:xfrm>
            <a:off x="3784335" y="2871215"/>
            <a:ext cx="2232416" cy="2414016"/>
          </a:xfrm>
          <a:prstGeom prst="roundRect">
            <a:avLst>
              <a:gd name="adj" fmla="val 2048"/>
            </a:avLst>
          </a:prstGeom>
          <a:noFill/>
          <a:ln w="20320">
            <a:solidFill>
              <a:srgbClr val="0E9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496" name="TextBox 17495"/>
          <p:cNvSpPr txBox="1"/>
          <p:nvPr/>
        </p:nvSpPr>
        <p:spPr>
          <a:xfrm>
            <a:off x="461772" y="5556758"/>
            <a:ext cx="1141856" cy="6273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600" b="1" i="0">
                <a:solidFill>
                  <a:srgbClr val="178A4C"/>
                </a:solidFill>
                <a:latin typeface="Segoe UI"/>
              </a:rPr>
              <a:t>5,900x</a:t>
            </a:r>
          </a:p>
        </p:txBody>
      </p:sp>
      <p:sp>
        <p:nvSpPr>
          <p:cNvPr id="17497" name="TextBox 17496"/>
          <p:cNvSpPr txBox="1"/>
          <p:nvPr/>
        </p:nvSpPr>
        <p:spPr>
          <a:xfrm>
            <a:off x="1815084" y="5561711"/>
            <a:ext cx="1703069" cy="23647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80" b="1" i="0">
                <a:solidFill>
                  <a:srgbClr val="0B1B33"/>
                </a:solidFill>
                <a:latin typeface="Segoe UI"/>
              </a:rPr>
              <a:t>cheaper for the same proof</a:t>
            </a:r>
          </a:p>
        </p:txBody>
      </p:sp>
      <p:sp>
        <p:nvSpPr>
          <p:cNvPr id="17498" name="TextBox 17497"/>
          <p:cNvSpPr txBox="1"/>
          <p:nvPr/>
        </p:nvSpPr>
        <p:spPr>
          <a:xfrm>
            <a:off x="1815084" y="5778690"/>
            <a:ext cx="4039933" cy="20027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30" b="0" i="0">
                <a:solidFill>
                  <a:srgbClr val="3C4C63"/>
                </a:solidFill>
                <a:latin typeface="Segoe UI"/>
              </a:rPr>
              <a:t>Rs 17,693 for one pothole in a manual audit against about Rs 3 with sensors first and</a:t>
            </a:r>
          </a:p>
        </p:txBody>
      </p:sp>
      <p:sp>
        <p:nvSpPr>
          <p:cNvPr id="17499" name="TextBox 17498"/>
          <p:cNvSpPr txBox="1"/>
          <p:nvPr/>
        </p:nvSpPr>
        <p:spPr>
          <a:xfrm>
            <a:off x="1815084" y="5911507"/>
            <a:ext cx="1532191" cy="20027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30" b="0" i="0">
                <a:solidFill>
                  <a:srgbClr val="3C4C63"/>
                </a:solidFill>
                <a:latin typeface="Segoe UI"/>
              </a:rPr>
              <a:t>the camera only when needed.</a:t>
            </a:r>
          </a:p>
        </p:txBody>
      </p:sp>
      <p:sp>
        <p:nvSpPr>
          <p:cNvPr id="17500" name="TextBox 17499"/>
          <p:cNvSpPr txBox="1"/>
          <p:nvPr/>
        </p:nvSpPr>
        <p:spPr>
          <a:xfrm>
            <a:off x="6313932" y="1641602"/>
            <a:ext cx="2563749" cy="2219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19" b="1" i="0">
                <a:solidFill>
                  <a:srgbClr val="0B1B33"/>
                </a:solidFill>
                <a:latin typeface="Segoe UI"/>
              </a:rPr>
              <a:t>WHAT IT COSTS TO CONFIRM ONE POTHOLE</a:t>
            </a:r>
          </a:p>
        </p:txBody>
      </p:sp>
      <p:sp>
        <p:nvSpPr>
          <p:cNvPr id="17501" name="TextBox 17500"/>
          <p:cNvSpPr txBox="1"/>
          <p:nvPr/>
        </p:nvSpPr>
        <p:spPr>
          <a:xfrm>
            <a:off x="6313932" y="1901634"/>
            <a:ext cx="1532191" cy="20027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30" b="0" i="0">
                <a:solidFill>
                  <a:srgbClr val="3C4C63"/>
                </a:solidFill>
                <a:latin typeface="Segoe UI"/>
              </a:rPr>
              <a:t>Survey vehicle or manual audit</a:t>
            </a:r>
          </a:p>
        </p:txBody>
      </p:sp>
      <p:sp>
        <p:nvSpPr>
          <p:cNvPr id="17502" name="TextBox 17501"/>
          <p:cNvSpPr txBox="1"/>
          <p:nvPr/>
        </p:nvSpPr>
        <p:spPr>
          <a:xfrm>
            <a:off x="10538460" y="2124964"/>
            <a:ext cx="613791" cy="2123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80" b="1" i="0">
                <a:solidFill>
                  <a:srgbClr val="D93025"/>
                </a:solidFill>
                <a:latin typeface="Segoe UI"/>
              </a:rPr>
              <a:t>Rs 17,693</a:t>
            </a:r>
          </a:p>
        </p:txBody>
      </p:sp>
      <p:sp>
        <p:nvSpPr>
          <p:cNvPr id="17503" name="TextBox 17502"/>
          <p:cNvSpPr txBox="1"/>
          <p:nvPr/>
        </p:nvSpPr>
        <p:spPr>
          <a:xfrm>
            <a:off x="6313932" y="2358834"/>
            <a:ext cx="1121854" cy="20027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30" b="0" i="0">
                <a:solidFill>
                  <a:srgbClr val="3C4C63"/>
                </a:solidFill>
                <a:latin typeface="Segoe UI"/>
              </a:rPr>
              <a:t>Citizen complaint app</a:t>
            </a:r>
          </a:p>
        </p:txBody>
      </p:sp>
      <p:sp>
        <p:nvSpPr>
          <p:cNvPr id="17504" name="TextBox 17503"/>
          <p:cNvSpPr txBox="1"/>
          <p:nvPr/>
        </p:nvSpPr>
        <p:spPr>
          <a:xfrm>
            <a:off x="10538460" y="2582164"/>
            <a:ext cx="1061847" cy="2123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80" b="1" i="0">
                <a:solidFill>
                  <a:srgbClr val="6B7A90"/>
                </a:solidFill>
                <a:latin typeface="Segoe UI"/>
              </a:rPr>
              <a:t>cannot be verified</a:t>
            </a:r>
          </a:p>
        </p:txBody>
      </p:sp>
      <p:sp>
        <p:nvSpPr>
          <p:cNvPr id="17505" name="TextBox 17504"/>
          <p:cNvSpPr txBox="1"/>
          <p:nvPr/>
        </p:nvSpPr>
        <p:spPr>
          <a:xfrm>
            <a:off x="6313932" y="2816034"/>
            <a:ext cx="345757" cy="20027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30" b="0" i="0">
                <a:solidFill>
                  <a:srgbClr val="3C4C63"/>
                </a:solidFill>
                <a:latin typeface="Segoe UI"/>
              </a:rPr>
              <a:t>SETU</a:t>
            </a:r>
          </a:p>
        </p:txBody>
      </p:sp>
      <p:sp>
        <p:nvSpPr>
          <p:cNvPr id="17506" name="TextBox 17505"/>
          <p:cNvSpPr txBox="1"/>
          <p:nvPr/>
        </p:nvSpPr>
        <p:spPr>
          <a:xfrm>
            <a:off x="10538460" y="3039364"/>
            <a:ext cx="326898" cy="2123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80" b="1" i="0">
                <a:solidFill>
                  <a:srgbClr val="178A4C"/>
                </a:solidFill>
                <a:latin typeface="Segoe UI"/>
              </a:rPr>
              <a:t>Rs 3</a:t>
            </a:r>
          </a:p>
        </p:txBody>
      </p:sp>
      <p:sp>
        <p:nvSpPr>
          <p:cNvPr id="17507" name="TextBox 17506"/>
          <p:cNvSpPr txBox="1"/>
          <p:nvPr/>
        </p:nvSpPr>
        <p:spPr>
          <a:xfrm>
            <a:off x="6313932" y="3309366"/>
            <a:ext cx="2272284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40" b="0" i="1">
                <a:solidFill>
                  <a:srgbClr val="3C4C63"/>
                </a:solidFill>
                <a:latin typeface="Segoe UI"/>
              </a:rPr>
              <a:t>Same kind of evidence, a fraction of the money.</a:t>
            </a:r>
          </a:p>
        </p:txBody>
      </p:sp>
      <p:sp>
        <p:nvSpPr>
          <p:cNvPr id="17508" name="TextBox 17507"/>
          <p:cNvSpPr txBox="1"/>
          <p:nvPr/>
        </p:nvSpPr>
        <p:spPr>
          <a:xfrm>
            <a:off x="6313932" y="3689858"/>
            <a:ext cx="2740342" cy="2219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19" b="1" i="0">
                <a:solidFill>
                  <a:srgbClr val="0B1B33"/>
                </a:solidFill>
                <a:latin typeface="Segoe UI"/>
              </a:rPr>
              <a:t>HOW OFTEN A ROAD GETS CHECKED IN A YEAR</a:t>
            </a:r>
          </a:p>
        </p:txBody>
      </p:sp>
      <p:sp>
        <p:nvSpPr>
          <p:cNvPr id="17509" name="TextBox 17508"/>
          <p:cNvSpPr txBox="1"/>
          <p:nvPr/>
        </p:nvSpPr>
        <p:spPr>
          <a:xfrm>
            <a:off x="6313932" y="4014660"/>
            <a:ext cx="768096" cy="20027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30" b="0" i="0">
                <a:solidFill>
                  <a:srgbClr val="3C4C63"/>
                </a:solidFill>
                <a:latin typeface="Segoe UI"/>
              </a:rPr>
              <a:t>Survey vehicle</a:t>
            </a:r>
          </a:p>
        </p:txBody>
      </p:sp>
      <p:sp>
        <p:nvSpPr>
          <p:cNvPr id="17510" name="TextBox 17509"/>
          <p:cNvSpPr txBox="1"/>
          <p:nvPr/>
        </p:nvSpPr>
        <p:spPr>
          <a:xfrm>
            <a:off x="7813548" y="4017073"/>
            <a:ext cx="1413319" cy="19545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10" b="0" i="0">
                <a:solidFill>
                  <a:srgbClr val="6B7A90"/>
                </a:solidFill>
                <a:latin typeface="Segoe UI"/>
              </a:rPr>
              <a:t>once or twice, highways only</a:t>
            </a:r>
          </a:p>
        </p:txBody>
      </p:sp>
      <p:sp>
        <p:nvSpPr>
          <p:cNvPr id="17511" name="TextBox 17510"/>
          <p:cNvSpPr txBox="1"/>
          <p:nvPr/>
        </p:nvSpPr>
        <p:spPr>
          <a:xfrm>
            <a:off x="6313932" y="4343844"/>
            <a:ext cx="363474" cy="20027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30" b="1" i="0">
                <a:solidFill>
                  <a:srgbClr val="178A4C"/>
                </a:solidFill>
                <a:latin typeface="Segoe UI"/>
              </a:rPr>
              <a:t>SETU</a:t>
            </a:r>
          </a:p>
        </p:txBody>
      </p:sp>
      <p:sp>
        <p:nvSpPr>
          <p:cNvPr id="17512" name="TextBox 17511"/>
          <p:cNvSpPr txBox="1"/>
          <p:nvPr/>
        </p:nvSpPr>
        <p:spPr>
          <a:xfrm>
            <a:off x="7612380" y="4547425"/>
            <a:ext cx="1512760" cy="19545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10" b="0" i="0">
                <a:solidFill>
                  <a:srgbClr val="178A4C"/>
                </a:solidFill>
                <a:latin typeface="Segoe UI"/>
              </a:rPr>
              <a:t>every trip, on every lane driven</a:t>
            </a:r>
          </a:p>
        </p:txBody>
      </p:sp>
      <p:sp>
        <p:nvSpPr>
          <p:cNvPr id="17513" name="TextBox 17512"/>
          <p:cNvSpPr txBox="1"/>
          <p:nvPr/>
        </p:nvSpPr>
        <p:spPr>
          <a:xfrm>
            <a:off x="6313932" y="5061458"/>
            <a:ext cx="2232850" cy="2219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19" b="1" i="0">
                <a:solidFill>
                  <a:srgbClr val="0A6D6C"/>
                </a:solidFill>
                <a:latin typeface="Segoe UI"/>
              </a:rPr>
              <a:t>SIDE BENEFITS WE DID NOT PLAN FOR</a:t>
            </a:r>
          </a:p>
        </p:txBody>
      </p:sp>
      <p:sp>
        <p:nvSpPr>
          <p:cNvPr id="17514" name="TextBox 17513"/>
          <p:cNvSpPr txBox="1"/>
          <p:nvPr/>
        </p:nvSpPr>
        <p:spPr>
          <a:xfrm>
            <a:off x="6460236" y="5321046"/>
            <a:ext cx="3148393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40" b="0" i="0">
                <a:solidFill>
                  <a:srgbClr val="3C4C63"/>
                </a:solidFill>
                <a:latin typeface="Segoe UI"/>
              </a:rPr>
              <a:t>Monsoon damage shows up in days instead of at the next survey</a:t>
            </a:r>
          </a:p>
        </p:txBody>
      </p:sp>
      <p:sp>
        <p:nvSpPr>
          <p:cNvPr id="17515" name="TextBox 17514"/>
          <p:cNvSpPr txBox="1"/>
          <p:nvPr/>
        </p:nvSpPr>
        <p:spPr>
          <a:xfrm>
            <a:off x="6460236" y="5519470"/>
            <a:ext cx="3227260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40" b="0" i="0">
                <a:solidFill>
                  <a:srgbClr val="3C4C63"/>
                </a:solidFill>
                <a:latin typeface="Segoe UI"/>
              </a:rPr>
              <a:t>Smoother roads mean less fuel burnt and fewer suspension repairs</a:t>
            </a:r>
          </a:p>
        </p:txBody>
      </p:sp>
      <p:sp>
        <p:nvSpPr>
          <p:cNvPr id="17516" name="TextBox 17515"/>
          <p:cNvSpPr txBox="1"/>
          <p:nvPr/>
        </p:nvSpPr>
        <p:spPr>
          <a:xfrm>
            <a:off x="6460236" y="5717895"/>
            <a:ext cx="2942082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40" b="0" i="0">
                <a:solidFill>
                  <a:srgbClr val="3C4C63"/>
                </a:solidFill>
                <a:latin typeface="Segoe UI"/>
              </a:rPr>
              <a:t>The same data tells a city which contractor actually delivered</a:t>
            </a:r>
          </a:p>
        </p:txBody>
      </p:sp>
      <p:pic>
        <p:nvPicPr>
          <p:cNvPr id="17517" name="Picture 17516" descr="sih_logo_20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1366" y="57097"/>
            <a:ext cx="2209120" cy="1122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91640" y="45720"/>
            <a:ext cx="7955279" cy="960120"/>
          </a:xfrm>
        </p:spPr>
        <p:txBody>
          <a:bodyPr wrap="square" anchor="ctr"/>
          <a:lstStyle/>
          <a:p>
            <a:pPr eaLnBrk="1" hangingPunct="1" algn="ctr"/>
            <a:r>
              <a:rPr lang="en-US" sz="27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2026 Idea Submission - Team SETU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 i="0" u="none">
                <a:solidFill>
                  <a:srgbClr val="0B1B33"/>
                </a:solidFill>
                <a:latin typeface="Calibri"/>
              </a:rPr>
              <a:t>Team SETU</a:t>
            </a:r>
          </a:p>
        </p:txBody>
      </p:sp>
      <p:pic>
        <p:nvPicPr>
          <p:cNvPr id="17411" name="Picture 17410" descr="sih_logo_20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1366" y="57097"/>
            <a:ext cx="2209120" cy="1122868"/>
          </a:xfrm>
          <a:prstGeom prst="rect">
            <a:avLst/>
          </a:prstGeom>
        </p:spPr>
      </p:pic>
      <p:sp>
        <p:nvSpPr>
          <p:cNvPr id="17412" name="Rounded Rectangle 17411"/>
          <p:cNvSpPr/>
          <p:nvPr/>
        </p:nvSpPr>
        <p:spPr>
          <a:xfrm>
            <a:off x="274320" y="1078992"/>
            <a:ext cx="5824728" cy="365760"/>
          </a:xfrm>
          <a:prstGeom prst="roundRect">
            <a:avLst>
              <a:gd name="adj" fmla="val 22000"/>
            </a:avLst>
          </a:prstGeom>
          <a:solidFill>
            <a:srgbClr val="12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Calibri"/>
              </a:rPr>
              <a:t>PEER-REVIEWED FOUNDATION  (each line = what it proves for SETU)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274320" y="1591056"/>
            <a:ext cx="5824728" cy="1005840"/>
          </a:xfrm>
          <a:prstGeom prst="roundRect">
            <a:avLst>
              <a:gd name="adj" fmla="val 8000"/>
            </a:avLst>
          </a:prstGeom>
          <a:solidFill>
            <a:srgbClr val="E8F1FE"/>
          </a:solidFill>
          <a:ln w="12700"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4" name="Rounded Rectangle 17413"/>
          <p:cNvSpPr/>
          <p:nvPr/>
        </p:nvSpPr>
        <p:spPr>
          <a:xfrm>
            <a:off x="274320" y="1591056"/>
            <a:ext cx="82296" cy="1005840"/>
          </a:xfrm>
          <a:prstGeom prst="roundRect">
            <a:avLst/>
          </a:prstGeom>
          <a:solidFill>
            <a:srgbClr val="156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475488" y="1664208"/>
            <a:ext cx="5495544" cy="85953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>
              <a:spcAft>
                <a:spcPts val="300"/>
              </a:spcAft>
            </a:pPr>
            <a:r>
              <a:rPr sz="1150" b="1" i="0" u="none">
                <a:solidFill>
                  <a:srgbClr val="0B1B33"/>
                </a:solidFill>
                <a:latin typeface="Calibri"/>
              </a:rPr>
              <a:t>Sattar, Li &amp; Chapman - Sensors 18:3845 (2018)</a:t>
            </a:r>
          </a:p>
          <a:p>
            <a:pPr>
              <a:spcAft>
                <a:spcPts val="300"/>
              </a:spcAft>
            </a:pPr>
            <a:r>
              <a:rPr sz="1000" b="0" i="0" u="none">
                <a:solidFill>
                  <a:srgbClr val="3C4C63"/>
                </a:solidFill>
                <a:latin typeface="Calibri"/>
              </a:rPr>
              <a:t>Review proving a smartphone IMU can detect road anomalies; sampling rate is the real limit -&gt; we sample at 100 Hz.</a:t>
            </a:r>
          </a:p>
          <a:p>
            <a:r>
              <a:rPr sz="950" b="0" i="0" u="sng">
                <a:solidFill>
                  <a:srgbClr val="125EC4"/>
                </a:solidFill>
                <a:latin typeface="Calibri"/>
                <a:hlinkClick r:id="rId5"/>
              </a:rPr>
              <a:t>mdpi.com/1424-8220/18/11/3845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274320" y="2706624"/>
            <a:ext cx="5824728" cy="1005840"/>
          </a:xfrm>
          <a:prstGeom prst="roundRect">
            <a:avLst>
              <a:gd name="adj" fmla="val 8000"/>
            </a:avLst>
          </a:prstGeom>
          <a:solidFill>
            <a:srgbClr val="E3F6F5"/>
          </a:solidFill>
          <a:ln w="12700">
            <a:solidFill>
              <a:srgbClr val="0E9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274320" y="2706624"/>
            <a:ext cx="82296" cy="1005840"/>
          </a:xfrm>
          <a:prstGeom prst="roundRect">
            <a:avLst/>
          </a:prstGeom>
          <a:solidFill>
            <a:srgbClr val="0E9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475488" y="2779776"/>
            <a:ext cx="5495544" cy="85953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>
              <a:spcAft>
                <a:spcPts val="300"/>
              </a:spcAft>
            </a:pPr>
            <a:r>
              <a:rPr sz="1150" b="1" i="0" u="none">
                <a:solidFill>
                  <a:srgbClr val="0B1B33"/>
                </a:solidFill>
                <a:latin typeface="Calibri"/>
              </a:rPr>
              <a:t>Wu et al. - Sensors 20:5564 (2020)</a:t>
            </a:r>
          </a:p>
          <a:p>
            <a:pPr>
              <a:spcAft>
                <a:spcPts val="300"/>
              </a:spcAft>
            </a:pPr>
            <a:r>
              <a:rPr sz="1000" b="0" i="0" u="none">
                <a:solidFill>
                  <a:srgbClr val="3C4C63"/>
                </a:solidFill>
                <a:latin typeface="Calibri"/>
              </a:rPr>
              <a:t>Automated ML pothole detection from phone data: precision 88.5% / recall 75% - the baseline our edge model must beat.</a:t>
            </a:r>
          </a:p>
          <a:p>
            <a:r>
              <a:rPr sz="950" b="0" i="0" u="sng">
                <a:solidFill>
                  <a:srgbClr val="125EC4"/>
                </a:solidFill>
                <a:latin typeface="Calibri"/>
                <a:hlinkClick r:id="rId6"/>
              </a:rPr>
              <a:t>mdpi.com/1424-8220/20/19/5564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274320" y="3822191"/>
            <a:ext cx="5824728" cy="1005840"/>
          </a:xfrm>
          <a:prstGeom prst="roundRect">
            <a:avLst>
              <a:gd name="adj" fmla="val 8000"/>
            </a:avLst>
          </a:prstGeom>
          <a:solidFill>
            <a:srgbClr val="FFF5E1"/>
          </a:solidFill>
          <a:ln w="12700">
            <a:solidFill>
              <a:srgbClr val="D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0" name="Rounded Rectangle 17419"/>
          <p:cNvSpPr/>
          <p:nvPr/>
        </p:nvSpPr>
        <p:spPr>
          <a:xfrm>
            <a:off x="274320" y="3822191"/>
            <a:ext cx="82296" cy="1005840"/>
          </a:xfrm>
          <a:prstGeom prst="roundRect">
            <a:avLst/>
          </a:prstGeom>
          <a:solidFill>
            <a:srgbClr val="D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475488" y="3895344"/>
            <a:ext cx="5495544" cy="85953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>
              <a:spcAft>
                <a:spcPts val="300"/>
              </a:spcAft>
            </a:pPr>
            <a:r>
              <a:rPr sz="1150" b="1" i="0" u="none">
                <a:solidFill>
                  <a:srgbClr val="0B1B33"/>
                </a:solidFill>
                <a:latin typeface="Calibri"/>
              </a:rPr>
              <a:t>Sensors 20:409 (2020) - participatory sensing</a:t>
            </a:r>
          </a:p>
          <a:p>
            <a:pPr>
              <a:spcAft>
                <a:spcPts val="300"/>
              </a:spcAft>
            </a:pPr>
            <a:r>
              <a:rPr sz="1000" b="0" i="0" u="none">
                <a:solidFill>
                  <a:srgbClr val="3C4C63"/>
                </a:solidFill>
                <a:latin typeface="Calibri"/>
              </a:rPr>
              <a:t>Measured GPS error of 27-32 m at speed -&gt; forces our DBSCAN eps=20 m + OSRM map-matching design.</a:t>
            </a:r>
          </a:p>
          <a:p>
            <a:r>
              <a:rPr sz="950" b="0" i="0" u="sng">
                <a:solidFill>
                  <a:srgbClr val="125EC4"/>
                </a:solidFill>
                <a:latin typeface="Calibri"/>
                <a:hlinkClick r:id="rId7"/>
              </a:rPr>
              <a:t>mdpi.com/1424-8220/20/2/409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274320" y="4937759"/>
            <a:ext cx="5824728" cy="100584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 w="12700">
            <a:solidFill>
              <a:srgbClr val="D930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3" name="Rounded Rectangle 17422"/>
          <p:cNvSpPr/>
          <p:nvPr/>
        </p:nvSpPr>
        <p:spPr>
          <a:xfrm>
            <a:off x="274320" y="4937759"/>
            <a:ext cx="82296" cy="1005840"/>
          </a:xfrm>
          <a:prstGeom prst="roundRect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TextBox 17423"/>
          <p:cNvSpPr txBox="1"/>
          <p:nvPr/>
        </p:nvSpPr>
        <p:spPr>
          <a:xfrm>
            <a:off x="475488" y="5010912"/>
            <a:ext cx="5495544" cy="85953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>
              <a:spcAft>
                <a:spcPts val="300"/>
              </a:spcAft>
            </a:pPr>
            <a:r>
              <a:rPr sz="1150" b="1" i="0" u="none">
                <a:solidFill>
                  <a:srgbClr val="0B1B33"/>
                </a:solidFill>
                <a:latin typeface="Calibri"/>
              </a:rPr>
              <a:t>Arya, Maeda, Ghosh et al. - RDD2022 (arXiv)</a:t>
            </a:r>
          </a:p>
          <a:p>
            <a:pPr>
              <a:spcAft>
                <a:spcPts val="300"/>
              </a:spcAft>
            </a:pPr>
            <a:r>
              <a:rPr sz="1000" b="0" i="0" u="none">
                <a:solidFill>
                  <a:srgbClr val="3C4C63"/>
                </a:solidFill>
                <a:latin typeface="Calibri"/>
              </a:rPr>
              <a:t>47,420 annotated road images from 6 countries including India - the training base for our YOLOv11s vision layer.</a:t>
            </a:r>
          </a:p>
          <a:p>
            <a:r>
              <a:rPr sz="950" b="0" i="0" u="sng">
                <a:solidFill>
                  <a:srgbClr val="125EC4"/>
                </a:solidFill>
                <a:latin typeface="Calibri"/>
                <a:hlinkClick r:id="rId8"/>
              </a:rPr>
              <a:t>arxiv.org/abs/2209.08538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6089904" y="1078992"/>
            <a:ext cx="5824728" cy="365760"/>
          </a:xfrm>
          <a:prstGeom prst="roundRect">
            <a:avLst>
              <a:gd name="adj" fmla="val 22000"/>
            </a:avLst>
          </a:prstGeom>
          <a:solidFill>
            <a:srgbClr val="12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Calibri"/>
              </a:rPr>
              <a:t>GOVERNMENT DATA &amp; INDIAN STANDARDS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6089904" y="1591056"/>
            <a:ext cx="5824728" cy="100584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 w="12700">
            <a:solidFill>
              <a:srgbClr val="D930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7" name="Rounded Rectangle 17426"/>
          <p:cNvSpPr/>
          <p:nvPr/>
        </p:nvSpPr>
        <p:spPr>
          <a:xfrm>
            <a:off x="6089904" y="1591056"/>
            <a:ext cx="82296" cy="1005840"/>
          </a:xfrm>
          <a:prstGeom prst="roundRect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TextBox 17427"/>
          <p:cNvSpPr txBox="1"/>
          <p:nvPr/>
        </p:nvSpPr>
        <p:spPr>
          <a:xfrm>
            <a:off x="6291072" y="1664208"/>
            <a:ext cx="5495544" cy="85953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>
              <a:spcAft>
                <a:spcPts val="300"/>
              </a:spcAft>
            </a:pPr>
            <a:r>
              <a:rPr sz="1150" b="1" i="0" u="none">
                <a:solidFill>
                  <a:srgbClr val="0B1B33"/>
                </a:solidFill>
                <a:latin typeface="Calibri"/>
              </a:rPr>
              <a:t>MoRTH - Road Accidents in India</a:t>
            </a:r>
          </a:p>
          <a:p>
            <a:pPr>
              <a:spcAft>
                <a:spcPts val="300"/>
              </a:spcAft>
            </a:pPr>
            <a:r>
              <a:rPr sz="1000" b="0" i="0" u="none">
                <a:solidFill>
                  <a:srgbClr val="3C4C63"/>
                </a:solidFill>
                <a:latin typeface="Calibri"/>
              </a:rPr>
              <a:t>Official data: 9,438 pothole-related deaths in 2020-24, +53% in five years, several states reporting zero.</a:t>
            </a:r>
          </a:p>
          <a:p>
            <a:r>
              <a:rPr sz="950" b="0" i="0" u="sng">
                <a:solidFill>
                  <a:srgbClr val="125EC4"/>
                </a:solidFill>
                <a:latin typeface="Calibri"/>
                <a:hlinkClick r:id="rId9"/>
              </a:rPr>
              <a:t>morth.nic.in/road-accident-in-india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6089904" y="2706624"/>
            <a:ext cx="5824728" cy="1005840"/>
          </a:xfrm>
          <a:prstGeom prst="roundRect">
            <a:avLst>
              <a:gd name="adj" fmla="val 8000"/>
            </a:avLst>
          </a:prstGeom>
          <a:solidFill>
            <a:srgbClr val="E3F6F5"/>
          </a:solidFill>
          <a:ln w="12700">
            <a:solidFill>
              <a:srgbClr val="0E9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0" name="Rounded Rectangle 17429"/>
          <p:cNvSpPr/>
          <p:nvPr/>
        </p:nvSpPr>
        <p:spPr>
          <a:xfrm>
            <a:off x="6089904" y="2706624"/>
            <a:ext cx="82296" cy="1005840"/>
          </a:xfrm>
          <a:prstGeom prst="roundRect">
            <a:avLst/>
          </a:prstGeom>
          <a:solidFill>
            <a:srgbClr val="0E9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TextBox 17430"/>
          <p:cNvSpPr txBox="1"/>
          <p:nvPr/>
        </p:nvSpPr>
        <p:spPr>
          <a:xfrm>
            <a:off x="6291072" y="2779776"/>
            <a:ext cx="5495544" cy="85953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>
              <a:spcAft>
                <a:spcPts val="300"/>
              </a:spcAft>
            </a:pPr>
            <a:r>
              <a:rPr sz="1150" b="1" i="0" u="none">
                <a:solidFill>
                  <a:srgbClr val="0B1B33"/>
                </a:solidFill>
                <a:latin typeface="Calibri"/>
              </a:rPr>
              <a:t>NHAI Network Survey Vehicles</a:t>
            </a:r>
          </a:p>
          <a:p>
            <a:pPr>
              <a:spcAft>
                <a:spcPts val="300"/>
              </a:spcAft>
            </a:pPr>
            <a:r>
              <a:rPr sz="1000" b="0" i="0" u="none">
                <a:solidFill>
                  <a:srgbClr val="3C4C63"/>
                </a:solidFill>
                <a:latin typeface="Calibri"/>
              </a:rPr>
              <a:t>The survey fleet covers ~20,933 km of highways about once a year at high cost - SETU covers every lane, daily.</a:t>
            </a:r>
          </a:p>
          <a:p>
            <a:r>
              <a:rPr sz="950" b="0" i="0" u="sng">
                <a:solidFill>
                  <a:srgbClr val="125EC4"/>
                </a:solidFill>
                <a:latin typeface="Calibri"/>
                <a:hlinkClick r:id="rId10"/>
              </a:rPr>
              <a:t>nhai.gov.in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6089904" y="3822191"/>
            <a:ext cx="5824728" cy="1005840"/>
          </a:xfrm>
          <a:prstGeom prst="roundRect">
            <a:avLst>
              <a:gd name="adj" fmla="val 8000"/>
            </a:avLst>
          </a:prstGeom>
          <a:solidFill>
            <a:srgbClr val="F0EAFE"/>
          </a:solidFill>
          <a:ln w="12700">
            <a:solidFill>
              <a:srgbClr val="6C3B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3" name="Rounded Rectangle 17432"/>
          <p:cNvSpPr/>
          <p:nvPr/>
        </p:nvSpPr>
        <p:spPr>
          <a:xfrm>
            <a:off x="6089904" y="3822191"/>
            <a:ext cx="82296" cy="1005840"/>
          </a:xfrm>
          <a:prstGeom prst="roundRect">
            <a:avLst/>
          </a:prstGeom>
          <a:solidFill>
            <a:srgbClr val="6C3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TextBox 17433"/>
          <p:cNvSpPr txBox="1"/>
          <p:nvPr/>
        </p:nvSpPr>
        <p:spPr>
          <a:xfrm>
            <a:off x="6291072" y="3895344"/>
            <a:ext cx="5495544" cy="85953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>
              <a:spcAft>
                <a:spcPts val="300"/>
              </a:spcAft>
            </a:pPr>
            <a:r>
              <a:rPr sz="1150" b="1" i="0" u="none">
                <a:solidFill>
                  <a:srgbClr val="0B1B33"/>
                </a:solidFill>
                <a:latin typeface="Calibri"/>
              </a:rPr>
              <a:t>IRC:82 - Maintenance of Bituminous Surfaces</a:t>
            </a:r>
          </a:p>
          <a:p>
            <a:pPr>
              <a:spcAft>
                <a:spcPts val="300"/>
              </a:spcAft>
            </a:pPr>
            <a:r>
              <a:rPr sz="1000" b="0" i="0" u="none">
                <a:solidFill>
                  <a:srgbClr val="3C4C63"/>
                </a:solidFill>
                <a:latin typeface="Calibri"/>
              </a:rPr>
              <a:t>The Indian Roads Congress code we map severity to (depth x width x traffic), so our output is directly actionable.</a:t>
            </a:r>
          </a:p>
          <a:p>
            <a:r>
              <a:rPr sz="950" b="0" i="0" u="sng">
                <a:solidFill>
                  <a:srgbClr val="125EC4"/>
                </a:solidFill>
                <a:latin typeface="Calibri"/>
                <a:hlinkClick r:id="rId11"/>
              </a:rPr>
              <a:t>law.resource.org - IRC 82:2015 PDF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6089904" y="4937759"/>
            <a:ext cx="5824728" cy="1005840"/>
          </a:xfrm>
          <a:prstGeom prst="roundRect">
            <a:avLst>
              <a:gd name="adj" fmla="val 8000"/>
            </a:avLst>
          </a:prstGeom>
          <a:solidFill>
            <a:srgbClr val="E8F1FE"/>
          </a:solidFill>
          <a:ln w="12700"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6" name="Rounded Rectangle 17435"/>
          <p:cNvSpPr/>
          <p:nvPr/>
        </p:nvSpPr>
        <p:spPr>
          <a:xfrm>
            <a:off x="6089904" y="4937759"/>
            <a:ext cx="82296" cy="1005840"/>
          </a:xfrm>
          <a:prstGeom prst="roundRect">
            <a:avLst/>
          </a:prstGeom>
          <a:solidFill>
            <a:srgbClr val="156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TextBox 17436"/>
          <p:cNvSpPr txBox="1"/>
          <p:nvPr/>
        </p:nvSpPr>
        <p:spPr>
          <a:xfrm>
            <a:off x="6291072" y="5010912"/>
            <a:ext cx="5495544" cy="85953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>
              <a:spcAft>
                <a:spcPts val="300"/>
              </a:spcAft>
            </a:pPr>
            <a:r>
              <a:rPr sz="1150" b="1" i="0" u="none">
                <a:solidFill>
                  <a:srgbClr val="0B1B33"/>
                </a:solidFill>
                <a:latin typeface="Calibri"/>
              </a:rPr>
              <a:t>DPDP Act 2023 + DPDP Rules (13 Nov 2025)</a:t>
            </a:r>
          </a:p>
          <a:p>
            <a:pPr>
              <a:spcAft>
                <a:spcPts val="300"/>
              </a:spcAft>
            </a:pPr>
            <a:r>
              <a:rPr sz="1000" b="0" i="0" u="none">
                <a:solidFill>
                  <a:srgbClr val="3C4C63"/>
                </a:solidFill>
                <a:latin typeface="Calibri"/>
              </a:rPr>
              <a:t>Our privacy frame: no PII, hashed device tokens, consent-first capture, purpose limits, 7-day media TTL.</a:t>
            </a:r>
          </a:p>
          <a:p>
            <a:r>
              <a:rPr sz="950" b="0" i="0" u="sng">
                <a:solidFill>
                  <a:srgbClr val="125EC4"/>
                </a:solidFill>
                <a:latin typeface="Calibri"/>
                <a:hlinkClick r:id="rId12"/>
              </a:rPr>
              <a:t>meity.gov.in - data protection framework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7487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147</cp:revision>
  <dcterms:created xsi:type="dcterms:W3CDTF">2013-12-12T18:46:50Z</dcterms:created>
  <dcterms:modified xsi:type="dcterms:W3CDTF">2025-06-26T06:39:00Z</dcterms:modified>
  <cp:category/>
</cp:coreProperties>
</file>